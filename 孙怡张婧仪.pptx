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1" r:id="rId3"/>
  </p:sldMasterIdLst>
  <p:notesMasterIdLst>
    <p:notesMasterId r:id="rId5"/>
  </p:notesMasterIdLst>
  <p:sldIdLst>
    <p:sldId id="256" r:id="rId4"/>
    <p:sldId id="257" r:id="rId6"/>
    <p:sldId id="258" r:id="rId7"/>
    <p:sldId id="281" r:id="rId8"/>
    <p:sldId id="282" r:id="rId9"/>
    <p:sldId id="283" r:id="rId10"/>
    <p:sldId id="260" r:id="rId11"/>
    <p:sldId id="261" r:id="rId12"/>
    <p:sldId id="262" r:id="rId13"/>
    <p:sldId id="263" r:id="rId14"/>
    <p:sldId id="284" r:id="rId15"/>
    <p:sldId id="285" r:id="rId16"/>
    <p:sldId id="286" r:id="rId17"/>
    <p:sldId id="264" r:id="rId18"/>
    <p:sldId id="265" r:id="rId19"/>
    <p:sldId id="266" r:id="rId20"/>
    <p:sldId id="267" r:id="rId21"/>
    <p:sldId id="288" r:id="rId22"/>
    <p:sldId id="287" r:id="rId23"/>
    <p:sldId id="289" r:id="rId24"/>
    <p:sldId id="290" r:id="rId25"/>
    <p:sldId id="268" r:id="rId26"/>
    <p:sldId id="269" r:id="rId27"/>
    <p:sldId id="270" r:id="rId28"/>
    <p:sldId id="271" r:id="rId29"/>
    <p:sldId id="272" r:id="rId30"/>
    <p:sldId id="273" r:id="rId31"/>
    <p:sldId id="274" r:id="rId32"/>
    <p:sldId id="275" r:id="rId33"/>
    <p:sldId id="276" r:id="rId34"/>
    <p:sldId id="277" r:id="rId35"/>
    <p:sldId id="279"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5.jpeg"/><Relationship Id="rId2" Type="http://schemas.openxmlformats.org/officeDocument/2006/relationships/tags" Target="../tags/tag1.xml"/><Relationship Id="rId19" Type="http://schemas.openxmlformats.org/officeDocument/2006/relationships/notesSlide" Target="../notesSlides/notesSlide2.xml"/><Relationship Id="rId18" Type="http://schemas.openxmlformats.org/officeDocument/2006/relationships/slideLayout" Target="../slideLayouts/slideLayout1.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5" Type="http://schemas.openxmlformats.org/officeDocument/2006/relationships/notesSlide" Target="../notesSlides/notesSlide4.xml"/><Relationship Id="rId14" Type="http://schemas.openxmlformats.org/officeDocument/2006/relationships/slideLayout" Target="../slideLayouts/slideLayout1.xml"/><Relationship Id="rId13" Type="http://schemas.openxmlformats.org/officeDocument/2006/relationships/image" Target="../media/image8.jpeg"/><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image" Target="../media/image9.jpeg"/><Relationship Id="rId13" Type="http://schemas.openxmlformats.org/officeDocument/2006/relationships/notesSlide" Target="../notesSlides/notesSlide6.xml"/><Relationship Id="rId12" Type="http://schemas.openxmlformats.org/officeDocument/2006/relationships/slideLayout" Target="../slideLayouts/slideLayout1.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0" Type="http://schemas.openxmlformats.org/officeDocument/2006/relationships/notesSlide" Target="../notesSlides/notesSlide7.xml"/><Relationship Id="rId2" Type="http://schemas.openxmlformats.org/officeDocument/2006/relationships/tags" Target="../tags/tag35.xml"/><Relationship Id="rId19" Type="http://schemas.openxmlformats.org/officeDocument/2006/relationships/slideLayout" Target="../slideLayouts/slideLayout1.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1.jpeg"/><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0" Type="http://schemas.openxmlformats.org/officeDocument/2006/relationships/notesSlide" Target="../notesSlides/notesSlide13.xml"/><Relationship Id="rId1" Type="http://schemas.openxmlformats.org/officeDocument/2006/relationships/image" Target="../media/image7.jpe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7.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image" Target="../media/image13.jpeg"/><Relationship Id="rId10" Type="http://schemas.openxmlformats.org/officeDocument/2006/relationships/notesSlide" Target="../notesSlides/notesSlide20.xml"/><Relationship Id="rId1" Type="http://schemas.openxmlformats.org/officeDocument/2006/relationships/image" Target="../media/image7.jpeg"/></Relationships>
</file>

<file path=ppt/slides/_rels/slide31.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5" Type="http://schemas.openxmlformats.org/officeDocument/2006/relationships/notesSlide" Target="../notesSlides/notesSlide21.xml"/><Relationship Id="rId14" Type="http://schemas.openxmlformats.org/officeDocument/2006/relationships/slideLayout" Target="../slideLayouts/slideLayout1.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image" Target="../media/image7.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40.jpg"/>
          <p:cNvPicPr>
            <a:picLocks noChangeAspect="1"/>
          </p:cNvPicPr>
          <p:nvPr/>
        </p:nvPicPr>
        <p:blipFill>
          <a:blip r:embed="rId2"/>
          <a:srcRect t="83" b="83"/>
          <a:stretch>
            <a:fillRect/>
          </a:stretch>
        </p:blipFill>
        <p:spPr>
          <a:xfrm>
            <a:off x="0" y="0"/>
            <a:ext cx="12192000" cy="6858000"/>
          </a:xfrm>
          <a:prstGeom prst="rect">
            <a:avLst/>
          </a:prstGeom>
        </p:spPr>
      </p:pic>
      <p:pic>
        <p:nvPicPr>
          <p:cNvPr id="3" name="Image 1" descr="https://kimi-img.moonshot.cn/pub/slides/slides_tmpl/image/25-10-09-16:35:24-d3jn7j0s8jdo4os5diug.jpg"/>
          <p:cNvPicPr>
            <a:picLocks noChangeAspect="1"/>
          </p:cNvPicPr>
          <p:nvPr/>
        </p:nvPicPr>
        <p:blipFill>
          <a:blip r:embed="rId3"/>
          <a:stretch>
            <a:fillRect/>
          </a:stretch>
        </p:blipFill>
        <p:spPr>
          <a:xfrm>
            <a:off x="629920" y="1707515"/>
            <a:ext cx="4963160" cy="332740"/>
          </a:xfrm>
          <a:prstGeom prst="rect">
            <a:avLst/>
          </a:prstGeom>
        </p:spPr>
      </p:pic>
      <p:sp>
        <p:nvSpPr>
          <p:cNvPr id="4" name="Shape 0"/>
          <p:cNvSpPr/>
          <p:nvPr/>
        </p:nvSpPr>
        <p:spPr>
          <a:xfrm>
            <a:off x="626745" y="6134418"/>
            <a:ext cx="4345305" cy="220980"/>
          </a:xfrm>
          <a:prstGeom prst="rect">
            <a:avLst/>
          </a:prstGeom>
          <a:solidFill>
            <a:srgbClr val="000000">
              <a:alpha val="0"/>
            </a:srgbClr>
          </a:solidFill>
        </p:spPr>
      </p:sp>
      <p:sp>
        <p:nvSpPr>
          <p:cNvPr id="5" name="Text 1"/>
          <p:cNvSpPr/>
          <p:nvPr/>
        </p:nvSpPr>
        <p:spPr>
          <a:xfrm>
            <a:off x="626745" y="6134418"/>
            <a:ext cx="4345305" cy="220980"/>
          </a:xfrm>
          <a:prstGeom prst="rect">
            <a:avLst/>
          </a:prstGeom>
          <a:noFill/>
        </p:spPr>
        <p:txBody>
          <a:bodyPr wrap="square" lIns="0" tIns="0" rIns="0" bIns="0" rtlCol="0" anchor="t"/>
          <a:lstStyle/>
          <a:p>
            <a:pPr>
              <a:lnSpc>
                <a:spcPct val="90000"/>
              </a:lnSpc>
            </a:pPr>
            <a:r>
              <a:rPr lang="en-US" altLang="zh-CN" sz="1600" dirty="0">
                <a:solidFill>
                  <a:srgbClr val="000000"/>
                </a:solidFill>
                <a:latin typeface="MiSans" pitchFamily="34" charset="0"/>
                <a:ea typeface="MiSans" pitchFamily="34" charset="-122"/>
                <a:cs typeface="MiSans" pitchFamily="34" charset="-120"/>
              </a:rPr>
              <a:t>Reporter: G</a:t>
            </a:r>
            <a:r>
              <a:rPr lang="en-US" altLang="zh-CN" sz="1600" dirty="0">
                <a:solidFill>
                  <a:srgbClr val="000000"/>
                </a:solidFill>
                <a:latin typeface="MiSans" pitchFamily="34" charset="0"/>
                <a:ea typeface="MiSans" pitchFamily="34" charset="-122"/>
                <a:cs typeface="MiSans" pitchFamily="34" charset="-120"/>
              </a:rPr>
              <a:t>ejingjing</a:t>
            </a:r>
            <a:endParaRPr lang="en-US" altLang="zh-CN" sz="1600" dirty="0">
              <a:solidFill>
                <a:srgbClr val="000000"/>
              </a:solidFill>
              <a:latin typeface="MiSans" pitchFamily="34" charset="0"/>
              <a:ea typeface="MiSans" pitchFamily="34" charset="-122"/>
              <a:cs typeface="MiSans" pitchFamily="34" charset="-120"/>
            </a:endParaRPr>
          </a:p>
        </p:txBody>
      </p:sp>
      <p:sp>
        <p:nvSpPr>
          <p:cNvPr id="6" name="Text 2"/>
          <p:cNvSpPr/>
          <p:nvPr/>
        </p:nvSpPr>
        <p:spPr>
          <a:xfrm>
            <a:off x="7240270" y="6099810"/>
            <a:ext cx="3091815" cy="220980"/>
          </a:xfrm>
          <a:prstGeom prst="rect">
            <a:avLst/>
          </a:prstGeom>
          <a:noFill/>
        </p:spPr>
        <p:txBody>
          <a:bodyPr wrap="square" lIns="0" tIns="0" rIns="0" bIns="0" rtlCol="0" anchor="t">
            <a:spAutoFit/>
          </a:bodyPr>
          <a:lstStyle/>
          <a:p>
            <a:pPr algn="r">
              <a:lnSpc>
                <a:spcPct val="90000"/>
              </a:lnSpc>
            </a:pPr>
            <a:r>
              <a:rPr lang="en-US" altLang="zh-CN" sz="1600" dirty="0">
                <a:solidFill>
                  <a:srgbClr val="000000"/>
                </a:solidFill>
                <a:latin typeface="MiSans" pitchFamily="34" charset="0"/>
                <a:ea typeface="MiSans" pitchFamily="34" charset="-122"/>
                <a:cs typeface="MiSans" pitchFamily="34" charset="-120"/>
              </a:rPr>
              <a:t>Report date: </a:t>
            </a:r>
            <a:r>
              <a:rPr lang="en-US" sz="1600" dirty="0">
                <a:solidFill>
                  <a:srgbClr val="000000"/>
                </a:solidFill>
                <a:latin typeface="MiSans" pitchFamily="34" charset="0"/>
                <a:ea typeface="MiSans" pitchFamily="34" charset="-122"/>
                <a:cs typeface="MiSans" pitchFamily="34" charset="-120"/>
              </a:rPr>
              <a:t>2025/12/</a:t>
            </a:r>
            <a:endParaRPr lang="en-US" sz="1600" dirty="0"/>
          </a:p>
        </p:txBody>
      </p:sp>
      <p:sp>
        <p:nvSpPr>
          <p:cNvPr id="7" name="Shape 3"/>
          <p:cNvSpPr/>
          <p:nvPr/>
        </p:nvSpPr>
        <p:spPr>
          <a:xfrm>
            <a:off x="11381644" y="559691"/>
            <a:ext cx="209306" cy="42231"/>
          </a:xfrm>
          <a:prstGeom prst="rect">
            <a:avLst/>
          </a:prstGeom>
          <a:solidFill>
            <a:srgbClr val="000000"/>
          </a:solidFill>
          <a:ln w="19050">
            <a:solidFill>
              <a:srgbClr val="000000"/>
            </a:solidFill>
            <a:prstDash val="solid"/>
          </a:ln>
        </p:spPr>
      </p:sp>
      <p:sp>
        <p:nvSpPr>
          <p:cNvPr id="8" name="Text 4"/>
          <p:cNvSpPr/>
          <p:nvPr/>
        </p:nvSpPr>
        <p:spPr>
          <a:xfrm>
            <a:off x="11381644" y="55969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5"/>
          <p:cNvSpPr/>
          <p:nvPr/>
        </p:nvSpPr>
        <p:spPr>
          <a:xfrm>
            <a:off x="11381644" y="656665"/>
            <a:ext cx="209306" cy="42231"/>
          </a:xfrm>
          <a:prstGeom prst="rect">
            <a:avLst/>
          </a:prstGeom>
          <a:solidFill>
            <a:srgbClr val="000000"/>
          </a:solidFill>
          <a:ln w="19050">
            <a:solidFill>
              <a:srgbClr val="000000"/>
            </a:solidFill>
            <a:prstDash val="solid"/>
          </a:ln>
        </p:spPr>
      </p:sp>
      <p:sp>
        <p:nvSpPr>
          <p:cNvPr id="10" name="Text 6"/>
          <p:cNvSpPr/>
          <p:nvPr/>
        </p:nvSpPr>
        <p:spPr>
          <a:xfrm>
            <a:off x="11381644" y="65666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7"/>
          <p:cNvSpPr/>
          <p:nvPr/>
        </p:nvSpPr>
        <p:spPr>
          <a:xfrm>
            <a:off x="11381644" y="753639"/>
            <a:ext cx="209306" cy="42231"/>
          </a:xfrm>
          <a:prstGeom prst="rect">
            <a:avLst/>
          </a:prstGeom>
          <a:solidFill>
            <a:srgbClr val="000000"/>
          </a:solidFill>
          <a:ln w="19050">
            <a:solidFill>
              <a:srgbClr val="000000"/>
            </a:solidFill>
            <a:prstDash val="solid"/>
          </a:ln>
        </p:spPr>
      </p:sp>
      <p:sp>
        <p:nvSpPr>
          <p:cNvPr id="12" name="Text 8"/>
          <p:cNvSpPr/>
          <p:nvPr/>
        </p:nvSpPr>
        <p:spPr>
          <a:xfrm>
            <a:off x="11381644" y="753639"/>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3" name="Shape 9"/>
          <p:cNvSpPr/>
          <p:nvPr/>
        </p:nvSpPr>
        <p:spPr>
          <a:xfrm flipV="1">
            <a:off x="2304972" y="6281738"/>
            <a:ext cx="5746750" cy="19050"/>
          </a:xfrm>
          <a:prstGeom prst="straightConnector1">
            <a:avLst/>
          </a:prstGeom>
          <a:noFill/>
          <a:ln w="9525">
            <a:solidFill>
              <a:srgbClr val="000000">
                <a:alpha val="21961"/>
              </a:srgbClr>
            </a:solidFill>
            <a:prstDash val="solid"/>
            <a:headEnd type="none"/>
            <a:tailEnd type="none"/>
          </a:ln>
        </p:spPr>
      </p:sp>
      <p:sp>
        <p:nvSpPr>
          <p:cNvPr id="14" name="Text 10"/>
          <p:cNvSpPr/>
          <p:nvPr/>
        </p:nvSpPr>
        <p:spPr>
          <a:xfrm>
            <a:off x="1247140" y="2656205"/>
            <a:ext cx="10134600" cy="1527810"/>
          </a:xfrm>
          <a:prstGeom prst="rect">
            <a:avLst/>
          </a:prstGeom>
          <a:noFill/>
        </p:spPr>
        <p:txBody>
          <a:bodyPr wrap="square" lIns="0" tIns="0" rIns="0" bIns="0" rtlCol="0" anchor="t"/>
          <a:lstStyle/>
          <a:p>
            <a:pPr>
              <a:lnSpc>
                <a:spcPct val="100000"/>
              </a:lnSpc>
            </a:pPr>
            <a:endParaRPr lang="zh-CN" altLang="en-US" sz="4400" b="1" dirty="0">
              <a:solidFill>
                <a:srgbClr val="000000"/>
              </a:solidFill>
              <a:latin typeface="MiSans" pitchFamily="34" charset="0"/>
              <a:ea typeface="MiSans" pitchFamily="34" charset="-122"/>
              <a:cs typeface="MiSans" pitchFamily="34" charset="-120"/>
            </a:endParaRPr>
          </a:p>
          <a:p>
            <a:pPr>
              <a:lnSpc>
                <a:spcPct val="100000"/>
              </a:lnSpc>
            </a:pPr>
            <a:r>
              <a:rPr lang="en-US" altLang="zh-CN" sz="2800" b="1" dirty="0">
                <a:ln/>
                <a:solidFill>
                  <a:schemeClr val="accent1"/>
                </a:solidFill>
                <a:effectLst>
                  <a:outerShdw blurRad="38100" dist="25400" dir="5400000" algn="ctr" rotWithShape="0">
                    <a:srgbClr val="6E747A">
                      <a:alpha val="43000"/>
                    </a:srgbClr>
                  </a:outerShdw>
                </a:effectLst>
                <a:latin typeface="MiSans" pitchFamily="34" charset="0"/>
                <a:ea typeface="MiSans" pitchFamily="34" charset="-122"/>
                <a:cs typeface="MiSans" pitchFamily="34" charset="-120"/>
              </a:rPr>
              <a:t>ADHD+ Sensory Integration Dysfunction</a:t>
            </a:r>
            <a:r>
              <a:rPr lang="en-US" altLang="zh-CN" sz="2800" b="1" dirty="0">
                <a:solidFill>
                  <a:srgbClr val="000000"/>
                </a:solidFill>
                <a:latin typeface="MiSans" pitchFamily="34" charset="0"/>
                <a:ea typeface="MiSans" pitchFamily="34" charset="-122"/>
                <a:cs typeface="MiSans" pitchFamily="34" charset="-120"/>
              </a:rPr>
              <a:t> (Xiaoxu </a:t>
            </a:r>
            <a:r>
              <a:rPr lang="en-US" altLang="en-US" sz="2800" b="1" dirty="0">
                <a:solidFill>
                  <a:srgbClr val="000000"/>
                </a:solidFill>
                <a:latin typeface="MiSans" pitchFamily="34" charset="0"/>
                <a:ea typeface="MiSans" pitchFamily="34" charset="-122"/>
                <a:cs typeface="MiSans" pitchFamily="34" charset="-120"/>
              </a:rPr>
              <a:t>ˣᵘ</a:t>
            </a:r>
            <a:r>
              <a:rPr lang="en-US" altLang="zh-CN" sz="2800" b="1" dirty="0">
                <a:solidFill>
                  <a:srgbClr val="000000"/>
                </a:solidFill>
                <a:latin typeface="MiSans" pitchFamily="34" charset="0"/>
                <a:ea typeface="MiSans" pitchFamily="34" charset="-122"/>
                <a:cs typeface="MiSans" pitchFamily="34" charset="-120"/>
              </a:rPr>
              <a:t>)</a:t>
            </a:r>
            <a:endParaRPr lang="en-US" altLang="zh-CN" sz="2800" b="1" dirty="0">
              <a:solidFill>
                <a:srgbClr val="000000"/>
              </a:solidFill>
              <a:latin typeface="MiSans" pitchFamily="34" charset="0"/>
              <a:ea typeface="MiSans" pitchFamily="34" charset="-122"/>
              <a:cs typeface="MiSans" pitchFamily="34" charset="-120"/>
            </a:endParaRPr>
          </a:p>
          <a:p>
            <a:pPr>
              <a:lnSpc>
                <a:spcPct val="100000"/>
              </a:lnSpc>
            </a:pPr>
            <a:endParaRPr lang="zh-CN" altLang="en-US" sz="4400" b="1" dirty="0">
              <a:solidFill>
                <a:srgbClr val="000000"/>
              </a:solidFill>
              <a:latin typeface="MiSans" pitchFamily="34" charset="0"/>
              <a:ea typeface="MiSans" pitchFamily="34" charset="-122"/>
              <a:cs typeface="MiSans" pitchFamily="34" charset="-120"/>
            </a:endParaRPr>
          </a:p>
          <a:p>
            <a:pPr>
              <a:lnSpc>
                <a:spcPct val="100000"/>
              </a:lnSpc>
            </a:pPr>
            <a:endParaRPr lang="en-US" sz="4400" b="1" dirty="0">
              <a:solidFill>
                <a:srgbClr val="000000"/>
              </a:solidFill>
              <a:latin typeface="MiSans" pitchFamily="34" charset="0"/>
              <a:ea typeface="MiSans" pitchFamily="34" charset="-122"/>
              <a:cs typeface="MiSans" pitchFamily="34" charset="-120"/>
            </a:endParaRPr>
          </a:p>
          <a:p>
            <a:pPr>
              <a:lnSpc>
                <a:spcPct val="100000"/>
              </a:lnSpc>
            </a:pPr>
            <a:endParaRPr lang="en-US" sz="1600" dirty="0"/>
          </a:p>
        </p:txBody>
      </p:sp>
      <p:pic>
        <p:nvPicPr>
          <p:cNvPr id="16" name="Image 3" descr="https://kimi-img.moonshot.cn/pub/slides/slides_tmpl/image/25-10-09-16:35:24-d3jn7j0s8jdo4os5div0.png"/>
          <p:cNvPicPr>
            <a:picLocks noChangeAspect="1"/>
          </p:cNvPicPr>
          <p:nvPr/>
        </p:nvPicPr>
        <p:blipFill>
          <a:blip r:embed="rId4">
            <a:alphaModFix amt="40000"/>
          </a:blip>
          <a:stretch>
            <a:fillRect/>
          </a:stretch>
        </p:blipFill>
        <p:spPr>
          <a:xfrm flipV="1">
            <a:off x="772795" y="534035"/>
            <a:ext cx="762000" cy="76200"/>
          </a:xfrm>
          <a:prstGeom prst="rect">
            <a:avLst/>
          </a:prstGeom>
        </p:spPr>
      </p:pic>
      <p:pic>
        <p:nvPicPr>
          <p:cNvPr id="17" name="Image 4" descr="https://kimi-img.moonshot.cn/pub/slides/slides_tmpl/image/25-10-09-16:35:24-d3jn7j0s8jdo4os5div0.png"/>
          <p:cNvPicPr>
            <a:picLocks noChangeAspect="1"/>
          </p:cNvPicPr>
          <p:nvPr/>
        </p:nvPicPr>
        <p:blipFill>
          <a:blip r:embed="rId4">
            <a:alphaModFix amt="40000"/>
          </a:blip>
          <a:stretch>
            <a:fillRect/>
          </a:stretch>
        </p:blipFill>
        <p:spPr>
          <a:xfrm flipV="1">
            <a:off x="772795" y="664845"/>
            <a:ext cx="762000" cy="76200"/>
          </a:xfrm>
          <a:prstGeom prst="rect">
            <a:avLst/>
          </a:prstGeom>
        </p:spPr>
      </p:pic>
      <p:sp>
        <p:nvSpPr>
          <p:cNvPr id="15" name="文本框 14"/>
          <p:cNvSpPr txBox="1"/>
          <p:nvPr/>
        </p:nvSpPr>
        <p:spPr>
          <a:xfrm>
            <a:off x="970915" y="1123950"/>
            <a:ext cx="2525395" cy="583565"/>
          </a:xfrm>
          <a:prstGeom prst="rect">
            <a:avLst/>
          </a:prstGeom>
          <a:noFill/>
        </p:spPr>
        <p:txBody>
          <a:bodyPr wrap="square" rtlCol="0">
            <a:spAutoFit/>
          </a:bodyPr>
          <a:p>
            <a:r>
              <a:rPr lang="en-US" altLang="zh-CN" sz="3200">
                <a:ln/>
                <a:solidFill>
                  <a:schemeClr val="accent1"/>
                </a:solidFill>
                <a:effectLst>
                  <a:outerShdw blurRad="38100" dist="25400" dir="5400000" algn="ctr" rotWithShape="0">
                    <a:srgbClr val="6E747A">
                      <a:alpha val="43000"/>
                    </a:srgbClr>
                  </a:outerShdw>
                </a:effectLst>
              </a:rPr>
              <a:t>Case Sharing</a:t>
            </a:r>
            <a:endParaRPr lang="en-US" altLang="zh-CN" sz="3200">
              <a:ln/>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6:35:24-d3jn7j0s8jdo4os5divg.jpg"/>
          <p:cNvPicPr>
            <a:picLocks noChangeAspect="1"/>
          </p:cNvPicPr>
          <p:nvPr>
            <p:custDataLst>
              <p:tags r:id="rId2"/>
            </p:custDataLst>
          </p:nvPr>
        </p:nvPicPr>
        <p:blipFill>
          <a:blip r:embed="rId3"/>
          <a:stretch>
            <a:fillRect/>
          </a:stretch>
        </p:blipFill>
        <p:spPr>
          <a:xfrm>
            <a:off x="3314700" y="4714240"/>
            <a:ext cx="8354060" cy="773430"/>
          </a:xfrm>
          <a:prstGeom prst="rect">
            <a:avLst/>
          </a:prstGeom>
        </p:spPr>
      </p:pic>
      <p:pic>
        <p:nvPicPr>
          <p:cNvPr id="3" name="Image 1" descr="https://kimi-img.moonshot.cn/pub/slides/slides_tmpl/image/25-10-09-16:35:24-d3jn7j0s8jdo4os5divg.jpg"/>
          <p:cNvPicPr>
            <a:picLocks noChangeAspect="1"/>
          </p:cNvPicPr>
          <p:nvPr>
            <p:custDataLst>
              <p:tags r:id="rId4"/>
            </p:custDataLst>
          </p:nvPr>
        </p:nvPicPr>
        <p:blipFill>
          <a:blip r:embed="rId3"/>
          <a:stretch>
            <a:fillRect/>
          </a:stretch>
        </p:blipFill>
        <p:spPr>
          <a:xfrm>
            <a:off x="3314700" y="2335530"/>
            <a:ext cx="8354060" cy="663575"/>
          </a:xfrm>
          <a:prstGeom prst="rect">
            <a:avLst/>
          </a:prstGeom>
        </p:spPr>
      </p:pic>
      <p:sp>
        <p:nvSpPr>
          <p:cNvPr id="4" name="Shape 0"/>
          <p:cNvSpPr/>
          <p:nvPr>
            <p:custDataLst>
              <p:tags r:id="rId5"/>
            </p:custDataLst>
          </p:nvPr>
        </p:nvSpPr>
        <p:spPr>
          <a:xfrm>
            <a:off x="3700578" y="2321367"/>
            <a:ext cx="284480" cy="60960"/>
          </a:xfrm>
          <a:prstGeom prst="rect">
            <a:avLst/>
          </a:prstGeom>
          <a:solidFill>
            <a:srgbClr val="4B62E1"/>
          </a:solidFill>
        </p:spPr>
      </p:sp>
      <p:sp>
        <p:nvSpPr>
          <p:cNvPr id="5" name="Text 1"/>
          <p:cNvSpPr/>
          <p:nvPr/>
        </p:nvSpPr>
        <p:spPr>
          <a:xfrm>
            <a:off x="3700578" y="2321367"/>
            <a:ext cx="284480" cy="6096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2"/>
          <p:cNvSpPr/>
          <p:nvPr>
            <p:custDataLst>
              <p:tags r:id="rId6"/>
            </p:custDataLst>
          </p:nvPr>
        </p:nvSpPr>
        <p:spPr>
          <a:xfrm>
            <a:off x="3700578" y="4653996"/>
            <a:ext cx="284480" cy="60960"/>
          </a:xfrm>
          <a:prstGeom prst="rect">
            <a:avLst/>
          </a:prstGeom>
          <a:solidFill>
            <a:srgbClr val="4B62E1"/>
          </a:solidFill>
        </p:spPr>
      </p:sp>
      <p:sp>
        <p:nvSpPr>
          <p:cNvPr id="7" name="Text 3"/>
          <p:cNvSpPr/>
          <p:nvPr/>
        </p:nvSpPr>
        <p:spPr>
          <a:xfrm>
            <a:off x="3700578" y="4653996"/>
            <a:ext cx="284480" cy="6096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4"/>
          <p:cNvSpPr/>
          <p:nvPr>
            <p:custDataLst>
              <p:tags r:id="rId7"/>
            </p:custDataLst>
          </p:nvPr>
        </p:nvSpPr>
        <p:spPr>
          <a:xfrm>
            <a:off x="7940318" y="2334158"/>
            <a:ext cx="284480" cy="60960"/>
          </a:xfrm>
          <a:prstGeom prst="rect">
            <a:avLst/>
          </a:prstGeom>
          <a:solidFill>
            <a:srgbClr val="4B62E1"/>
          </a:solidFill>
        </p:spPr>
      </p:sp>
      <p:sp>
        <p:nvSpPr>
          <p:cNvPr id="9" name="Text 5"/>
          <p:cNvSpPr/>
          <p:nvPr/>
        </p:nvSpPr>
        <p:spPr>
          <a:xfrm>
            <a:off x="7940318" y="2334158"/>
            <a:ext cx="284480" cy="6096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6"/>
          <p:cNvSpPr/>
          <p:nvPr>
            <p:custDataLst>
              <p:tags r:id="rId8"/>
            </p:custDataLst>
          </p:nvPr>
        </p:nvSpPr>
        <p:spPr>
          <a:xfrm>
            <a:off x="7940318" y="4666787"/>
            <a:ext cx="284480" cy="60960"/>
          </a:xfrm>
          <a:prstGeom prst="rect">
            <a:avLst/>
          </a:prstGeom>
          <a:solidFill>
            <a:srgbClr val="4B62E1"/>
          </a:solidFill>
        </p:spPr>
      </p:sp>
      <p:sp>
        <p:nvSpPr>
          <p:cNvPr id="11" name="Text 7"/>
          <p:cNvSpPr/>
          <p:nvPr/>
        </p:nvSpPr>
        <p:spPr>
          <a:xfrm>
            <a:off x="7940318" y="4666787"/>
            <a:ext cx="284480" cy="6096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8"/>
          <p:cNvSpPr/>
          <p:nvPr/>
        </p:nvSpPr>
        <p:spPr>
          <a:xfrm>
            <a:off x="1045210" y="1243965"/>
            <a:ext cx="1408430" cy="800100"/>
          </a:xfrm>
          <a:prstGeom prst="rect">
            <a:avLst/>
          </a:prstGeom>
          <a:solidFill>
            <a:srgbClr val="000000">
              <a:alpha val="0"/>
            </a:srgbClr>
          </a:solidFill>
        </p:spPr>
      </p:sp>
      <p:sp>
        <p:nvSpPr>
          <p:cNvPr id="14" name="Text 10"/>
          <p:cNvSpPr/>
          <p:nvPr/>
        </p:nvSpPr>
        <p:spPr>
          <a:xfrm>
            <a:off x="1045210" y="2010410"/>
            <a:ext cx="2663190" cy="432991"/>
          </a:xfrm>
          <a:prstGeom prst="rect">
            <a:avLst/>
          </a:prstGeom>
          <a:noFill/>
        </p:spPr>
        <p:txBody>
          <a:bodyPr wrap="square" lIns="0" tIns="0" rIns="0" bIns="0" rtlCol="0" anchor="t">
            <a:spAutoFit/>
          </a:bodyPr>
          <a:lstStyle/>
          <a:p>
            <a:pPr>
              <a:lnSpc>
                <a:spcPct val="100000"/>
              </a:lnSpc>
            </a:pPr>
            <a:r>
              <a:rPr lang="en-US" sz="2800" b="1" dirty="0">
                <a:solidFill>
                  <a:srgbClr val="0439E1"/>
                </a:solidFill>
                <a:latin typeface="MiSans" pitchFamily="34" charset="0"/>
                <a:ea typeface="MiSans" pitchFamily="34" charset="-122"/>
                <a:cs typeface="MiSans" pitchFamily="34" charset="-120"/>
              </a:rPr>
              <a:t>CONTENTS</a:t>
            </a:r>
            <a:endParaRPr lang="en-US" sz="1600" dirty="0"/>
          </a:p>
        </p:txBody>
      </p:sp>
      <p:sp>
        <p:nvSpPr>
          <p:cNvPr id="15" name="Shape 11"/>
          <p:cNvSpPr/>
          <p:nvPr/>
        </p:nvSpPr>
        <p:spPr>
          <a:xfrm>
            <a:off x="1125220" y="1988820"/>
            <a:ext cx="1664970" cy="0"/>
          </a:xfrm>
          <a:prstGeom prst="line">
            <a:avLst/>
          </a:prstGeom>
          <a:noFill/>
          <a:ln w="12700">
            <a:solidFill>
              <a:srgbClr val="000000"/>
            </a:solidFill>
            <a:prstDash val="solid"/>
            <a:headEnd type="none"/>
            <a:tailEnd type="none"/>
          </a:ln>
        </p:spPr>
      </p:sp>
      <p:sp>
        <p:nvSpPr>
          <p:cNvPr id="16" name="Shape 12"/>
          <p:cNvSpPr/>
          <p:nvPr/>
        </p:nvSpPr>
        <p:spPr>
          <a:xfrm>
            <a:off x="11459749" y="5976241"/>
            <a:ext cx="209306" cy="42231"/>
          </a:xfrm>
          <a:prstGeom prst="rect">
            <a:avLst/>
          </a:prstGeom>
          <a:solidFill>
            <a:srgbClr val="000000"/>
          </a:solidFill>
          <a:ln w="19050">
            <a:solidFill>
              <a:srgbClr val="000000"/>
            </a:solidFill>
            <a:prstDash val="solid"/>
          </a:ln>
        </p:spPr>
      </p:sp>
      <p:sp>
        <p:nvSpPr>
          <p:cNvPr id="17" name="Text 13"/>
          <p:cNvSpPr/>
          <p:nvPr/>
        </p:nvSpPr>
        <p:spPr>
          <a:xfrm>
            <a:off x="11459749" y="597624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4"/>
          <p:cNvSpPr/>
          <p:nvPr/>
        </p:nvSpPr>
        <p:spPr>
          <a:xfrm>
            <a:off x="11459749" y="6073215"/>
            <a:ext cx="209306" cy="42231"/>
          </a:xfrm>
          <a:prstGeom prst="rect">
            <a:avLst/>
          </a:prstGeom>
          <a:solidFill>
            <a:srgbClr val="000000"/>
          </a:solidFill>
          <a:ln w="19050">
            <a:solidFill>
              <a:srgbClr val="000000"/>
            </a:solidFill>
            <a:prstDash val="solid"/>
          </a:ln>
        </p:spPr>
      </p:sp>
      <p:sp>
        <p:nvSpPr>
          <p:cNvPr id="19" name="Text 15"/>
          <p:cNvSpPr/>
          <p:nvPr/>
        </p:nvSpPr>
        <p:spPr>
          <a:xfrm>
            <a:off x="11459749" y="607321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6"/>
          <p:cNvSpPr/>
          <p:nvPr/>
        </p:nvSpPr>
        <p:spPr>
          <a:xfrm>
            <a:off x="11459749" y="6170189"/>
            <a:ext cx="209306" cy="42231"/>
          </a:xfrm>
          <a:prstGeom prst="rect">
            <a:avLst/>
          </a:prstGeom>
          <a:solidFill>
            <a:srgbClr val="000000"/>
          </a:solidFill>
          <a:ln w="19050">
            <a:solidFill>
              <a:srgbClr val="000000"/>
            </a:solidFill>
            <a:prstDash val="solid"/>
          </a:ln>
        </p:spPr>
      </p:sp>
      <p:sp>
        <p:nvSpPr>
          <p:cNvPr id="21" name="Text 17"/>
          <p:cNvSpPr/>
          <p:nvPr/>
        </p:nvSpPr>
        <p:spPr>
          <a:xfrm>
            <a:off x="11459749" y="6170189"/>
            <a:ext cx="209306" cy="42231"/>
          </a:xfrm>
          <a:prstGeom prst="rect">
            <a:avLst/>
          </a:prstGeom>
          <a:noFill/>
        </p:spPr>
        <p:txBody>
          <a:bodyPr wrap="square" lIns="45720" tIns="91440" rIns="91440" bIns="45720" rtlCol="0" anchor="ctr"/>
          <a:lstStyle/>
          <a:p>
            <a:pPr>
              <a:lnSpc>
                <a:spcPct val="100000"/>
              </a:lnSpc>
            </a:pPr>
            <a:endParaRPr lang="en-US" sz="1600" dirty="0"/>
          </a:p>
        </p:txBody>
      </p:sp>
      <p:pic>
        <p:nvPicPr>
          <p:cNvPr id="22" name="Image 2" descr="https://kimi-img.moonshot.cn/pub/slides/slides_tmpl/image/25-10-09-16:35:24-d3jn7j0s8jdo4os5div0.png"/>
          <p:cNvPicPr>
            <a:picLocks noChangeAspect="1"/>
          </p:cNvPicPr>
          <p:nvPr/>
        </p:nvPicPr>
        <p:blipFill>
          <a:blip r:embed="rId9">
            <a:alphaModFix amt="40000"/>
          </a:blip>
          <a:stretch>
            <a:fillRect/>
          </a:stretch>
        </p:blipFill>
        <p:spPr>
          <a:xfrm flipV="1">
            <a:off x="851535" y="630555"/>
            <a:ext cx="762000" cy="76200"/>
          </a:xfrm>
          <a:prstGeom prst="rect">
            <a:avLst/>
          </a:prstGeom>
        </p:spPr>
      </p:pic>
      <p:pic>
        <p:nvPicPr>
          <p:cNvPr id="23" name="Image 3" descr="https://kimi-img.moonshot.cn/pub/slides/slides_tmpl/image/25-10-09-16:35:24-d3jn7j0s8jdo4os5div0.png"/>
          <p:cNvPicPr>
            <a:picLocks noChangeAspect="1"/>
          </p:cNvPicPr>
          <p:nvPr/>
        </p:nvPicPr>
        <p:blipFill>
          <a:blip r:embed="rId9">
            <a:alphaModFix amt="40000"/>
          </a:blip>
          <a:stretch>
            <a:fillRect/>
          </a:stretch>
        </p:blipFill>
        <p:spPr>
          <a:xfrm flipV="1">
            <a:off x="851535" y="761365"/>
            <a:ext cx="762000" cy="76200"/>
          </a:xfrm>
          <a:prstGeom prst="rect">
            <a:avLst/>
          </a:prstGeom>
        </p:spPr>
      </p:pic>
      <p:sp>
        <p:nvSpPr>
          <p:cNvPr id="24" name="Text 18"/>
          <p:cNvSpPr/>
          <p:nvPr>
            <p:custDataLst>
              <p:tags r:id="rId10"/>
            </p:custDataLst>
          </p:nvPr>
        </p:nvSpPr>
        <p:spPr>
          <a:xfrm>
            <a:off x="3467100" y="1473835"/>
            <a:ext cx="1109980" cy="736600"/>
          </a:xfrm>
          <a:prstGeom prst="rect">
            <a:avLst/>
          </a:prstGeom>
          <a:noFill/>
        </p:spPr>
        <p:txBody>
          <a:bodyPr wrap="square" lIns="0" tIns="0" rIns="0" bIns="0" rtlCol="0" anchor="t">
            <a:spAutoFit/>
          </a:bodyPr>
          <a:lstStyle/>
          <a:p>
            <a:pPr>
              <a:lnSpc>
                <a:spcPct val="100000"/>
              </a:lnSpc>
            </a:pPr>
            <a:r>
              <a:rPr lang="en-US" sz="4800" dirty="0">
                <a:solidFill>
                  <a:srgbClr val="0439E1"/>
                </a:solidFill>
                <a:latin typeface="MiSans" pitchFamily="34" charset="0"/>
                <a:ea typeface="MiSans" pitchFamily="34" charset="-122"/>
                <a:cs typeface="MiSans" pitchFamily="34" charset="-120"/>
              </a:rPr>
              <a:t>01.</a:t>
            </a:r>
            <a:endParaRPr lang="en-US" sz="1600" dirty="0"/>
          </a:p>
        </p:txBody>
      </p:sp>
      <p:sp>
        <p:nvSpPr>
          <p:cNvPr id="25" name="Text 19"/>
          <p:cNvSpPr/>
          <p:nvPr>
            <p:custDataLst>
              <p:tags r:id="rId11"/>
            </p:custDataLst>
          </p:nvPr>
        </p:nvSpPr>
        <p:spPr>
          <a:xfrm>
            <a:off x="3467100" y="2493645"/>
            <a:ext cx="3813810" cy="800100"/>
          </a:xfrm>
          <a:prstGeom prst="rect">
            <a:avLst/>
          </a:prstGeom>
          <a:noFill/>
        </p:spPr>
        <p:txBody>
          <a:bodyPr wrap="square" lIns="0" tIns="0" rIns="0" bIns="0" rtlCol="0" anchor="t">
            <a:spAutoFit/>
          </a:bodyPr>
          <a:lstStyle/>
          <a:p>
            <a:pPr>
              <a:lnSpc>
                <a:spcPct val="100000"/>
              </a:lnSpc>
            </a:pPr>
            <a:r>
              <a:rPr lang="en-US" sz="2000" dirty="0">
                <a:solidFill>
                  <a:srgbClr val="595959"/>
                </a:solidFill>
                <a:latin typeface="MiSans" pitchFamily="34" charset="0"/>
                <a:ea typeface="MiSans" pitchFamily="34" charset="-122"/>
                <a:cs typeface="MiSans" pitchFamily="34" charset="-120"/>
              </a:rPr>
              <a:t>困境透视：双症交织</a:t>
            </a:r>
            <a:endParaRPr lang="en-US" sz="2000" dirty="0">
              <a:solidFill>
                <a:srgbClr val="595959"/>
              </a:solidFill>
              <a:latin typeface="MiSans" pitchFamily="34" charset="0"/>
              <a:ea typeface="MiSans" pitchFamily="34" charset="-122"/>
              <a:cs typeface="MiSans" pitchFamily="34" charset="-120"/>
            </a:endParaRPr>
          </a:p>
          <a:p>
            <a:pPr>
              <a:lnSpc>
                <a:spcPct val="100000"/>
              </a:lnSpc>
            </a:pPr>
            <a:r>
              <a:rPr lang="en-US" altLang="zh-CN" sz="1600" dirty="0"/>
              <a:t>Perspective on the Predicament: Two Symptoms Intertwined</a:t>
            </a:r>
            <a:endParaRPr lang="en-US" altLang="zh-CN" sz="1600" dirty="0"/>
          </a:p>
        </p:txBody>
      </p:sp>
      <p:sp>
        <p:nvSpPr>
          <p:cNvPr id="26" name="Text 20"/>
          <p:cNvSpPr/>
          <p:nvPr>
            <p:custDataLst>
              <p:tags r:id="rId12"/>
            </p:custDataLst>
          </p:nvPr>
        </p:nvSpPr>
        <p:spPr>
          <a:xfrm>
            <a:off x="7706360" y="1486535"/>
            <a:ext cx="1109980" cy="736600"/>
          </a:xfrm>
          <a:prstGeom prst="rect">
            <a:avLst/>
          </a:prstGeom>
          <a:noFill/>
        </p:spPr>
        <p:txBody>
          <a:bodyPr wrap="square" lIns="0" tIns="0" rIns="0" bIns="0" rtlCol="0" anchor="t">
            <a:spAutoFit/>
          </a:bodyPr>
          <a:lstStyle/>
          <a:p>
            <a:pPr>
              <a:lnSpc>
                <a:spcPct val="100000"/>
              </a:lnSpc>
            </a:pPr>
            <a:r>
              <a:rPr lang="en-US" sz="4800" dirty="0">
                <a:solidFill>
                  <a:srgbClr val="0439E1"/>
                </a:solidFill>
                <a:latin typeface="MiSans" pitchFamily="34" charset="0"/>
                <a:ea typeface="MiSans" pitchFamily="34" charset="-122"/>
                <a:cs typeface="MiSans" pitchFamily="34" charset="-120"/>
              </a:rPr>
              <a:t>02.</a:t>
            </a:r>
            <a:endParaRPr lang="en-US" sz="1600" dirty="0"/>
          </a:p>
        </p:txBody>
      </p:sp>
      <p:sp>
        <p:nvSpPr>
          <p:cNvPr id="27" name="Text 21"/>
          <p:cNvSpPr/>
          <p:nvPr>
            <p:custDataLst>
              <p:tags r:id="rId13"/>
            </p:custDataLst>
          </p:nvPr>
        </p:nvSpPr>
        <p:spPr>
          <a:xfrm>
            <a:off x="7706360" y="2506345"/>
            <a:ext cx="3813810" cy="553720"/>
          </a:xfrm>
          <a:prstGeom prst="rect">
            <a:avLst/>
          </a:prstGeom>
          <a:noFill/>
        </p:spPr>
        <p:txBody>
          <a:bodyPr wrap="square" lIns="0" tIns="0" rIns="0" bIns="0" rtlCol="0" anchor="t">
            <a:spAutoFit/>
          </a:bodyPr>
          <a:lstStyle/>
          <a:p>
            <a:pPr>
              <a:lnSpc>
                <a:spcPct val="100000"/>
              </a:lnSpc>
            </a:pPr>
            <a:r>
              <a:rPr lang="en-US" sz="2000" dirty="0">
                <a:solidFill>
                  <a:srgbClr val="595959"/>
                </a:solidFill>
                <a:latin typeface="MiSans" pitchFamily="34" charset="0"/>
                <a:ea typeface="MiSans" pitchFamily="34" charset="-122"/>
                <a:cs typeface="MiSans" pitchFamily="34" charset="-120"/>
              </a:rPr>
              <a:t>实践检视：支持缺口</a:t>
            </a:r>
            <a:endParaRPr lang="en-US" sz="2000" dirty="0">
              <a:solidFill>
                <a:srgbClr val="595959"/>
              </a:solidFill>
              <a:latin typeface="MiSans" pitchFamily="34" charset="0"/>
              <a:ea typeface="MiSans" pitchFamily="34" charset="-122"/>
              <a:cs typeface="MiSans" pitchFamily="34" charset="-120"/>
            </a:endParaRPr>
          </a:p>
          <a:p>
            <a:pPr>
              <a:lnSpc>
                <a:spcPct val="100000"/>
              </a:lnSpc>
            </a:pPr>
            <a:r>
              <a:rPr lang="en-US" altLang="zh-CN" sz="1600" dirty="0"/>
              <a:t>Practical review: Support Gap</a:t>
            </a:r>
            <a:endParaRPr lang="en-US" altLang="zh-CN" sz="1600" dirty="0"/>
          </a:p>
        </p:txBody>
      </p:sp>
      <p:sp>
        <p:nvSpPr>
          <p:cNvPr id="28" name="Text 22"/>
          <p:cNvSpPr/>
          <p:nvPr>
            <p:custDataLst>
              <p:tags r:id="rId14"/>
            </p:custDataLst>
          </p:nvPr>
        </p:nvSpPr>
        <p:spPr>
          <a:xfrm>
            <a:off x="3467100" y="3806190"/>
            <a:ext cx="1109980" cy="736600"/>
          </a:xfrm>
          <a:prstGeom prst="rect">
            <a:avLst/>
          </a:prstGeom>
          <a:noFill/>
        </p:spPr>
        <p:txBody>
          <a:bodyPr wrap="square" lIns="0" tIns="0" rIns="0" bIns="0" rtlCol="0" anchor="t">
            <a:spAutoFit/>
          </a:bodyPr>
          <a:lstStyle/>
          <a:p>
            <a:pPr>
              <a:lnSpc>
                <a:spcPct val="100000"/>
              </a:lnSpc>
            </a:pPr>
            <a:r>
              <a:rPr lang="en-US" sz="4800" dirty="0">
                <a:solidFill>
                  <a:srgbClr val="0439E1"/>
                </a:solidFill>
                <a:latin typeface="MiSans" pitchFamily="34" charset="0"/>
                <a:ea typeface="MiSans" pitchFamily="34" charset="-122"/>
                <a:cs typeface="MiSans" pitchFamily="34" charset="-120"/>
              </a:rPr>
              <a:t>03.</a:t>
            </a:r>
            <a:endParaRPr lang="en-US" sz="1600" dirty="0"/>
          </a:p>
        </p:txBody>
      </p:sp>
      <p:sp>
        <p:nvSpPr>
          <p:cNvPr id="29" name="Text 23"/>
          <p:cNvSpPr/>
          <p:nvPr>
            <p:custDataLst>
              <p:tags r:id="rId15"/>
            </p:custDataLst>
          </p:nvPr>
        </p:nvSpPr>
        <p:spPr>
          <a:xfrm>
            <a:off x="3387090" y="4862830"/>
            <a:ext cx="3814445" cy="1200150"/>
          </a:xfrm>
          <a:prstGeom prst="rect">
            <a:avLst/>
          </a:prstGeom>
          <a:noFill/>
        </p:spPr>
        <p:txBody>
          <a:bodyPr wrap="square" lIns="0" tIns="0" rIns="0" bIns="0" rtlCol="0" anchor="t">
            <a:spAutoFit/>
          </a:bodyPr>
          <a:lstStyle/>
          <a:p>
            <a:pPr>
              <a:lnSpc>
                <a:spcPct val="150000"/>
              </a:lnSpc>
            </a:pPr>
            <a:r>
              <a:rPr lang="en-US" sz="2000" dirty="0">
                <a:solidFill>
                  <a:srgbClr val="595959"/>
                </a:solidFill>
                <a:latin typeface="MiSans" pitchFamily="34" charset="0"/>
                <a:ea typeface="MiSans" pitchFamily="34" charset="-122"/>
                <a:cs typeface="MiSans" pitchFamily="34" charset="-120"/>
              </a:rPr>
              <a:t>立法与工具：底线与杠杆</a:t>
            </a:r>
            <a:endParaRPr lang="en-US" sz="2000" dirty="0">
              <a:solidFill>
                <a:srgbClr val="595959"/>
              </a:solidFill>
              <a:latin typeface="MiSans" pitchFamily="34" charset="0"/>
              <a:ea typeface="MiSans" pitchFamily="34" charset="-122"/>
              <a:cs typeface="MiSans" pitchFamily="34" charset="-120"/>
            </a:endParaRPr>
          </a:p>
          <a:p>
            <a:pPr>
              <a:lnSpc>
                <a:spcPct val="150000"/>
              </a:lnSpc>
            </a:pPr>
            <a:r>
              <a:rPr lang="en-US" altLang="zh-CN" sz="1600" dirty="0"/>
              <a:t>Legislation and Tools: Bottom Line and Leverage</a:t>
            </a:r>
            <a:endParaRPr lang="en-US" altLang="zh-CN" sz="1600" dirty="0"/>
          </a:p>
        </p:txBody>
      </p:sp>
      <p:sp>
        <p:nvSpPr>
          <p:cNvPr id="30" name="Text 24"/>
          <p:cNvSpPr/>
          <p:nvPr>
            <p:custDataLst>
              <p:tags r:id="rId16"/>
            </p:custDataLst>
          </p:nvPr>
        </p:nvSpPr>
        <p:spPr>
          <a:xfrm>
            <a:off x="7706360" y="3818890"/>
            <a:ext cx="1109980" cy="736600"/>
          </a:xfrm>
          <a:prstGeom prst="rect">
            <a:avLst/>
          </a:prstGeom>
          <a:noFill/>
        </p:spPr>
        <p:txBody>
          <a:bodyPr wrap="square" lIns="0" tIns="0" rIns="0" bIns="0" rtlCol="0" anchor="t">
            <a:spAutoFit/>
          </a:bodyPr>
          <a:lstStyle/>
          <a:p>
            <a:pPr>
              <a:lnSpc>
                <a:spcPct val="100000"/>
              </a:lnSpc>
            </a:pPr>
            <a:r>
              <a:rPr lang="en-US" sz="4800" dirty="0">
                <a:solidFill>
                  <a:srgbClr val="0439E1"/>
                </a:solidFill>
                <a:latin typeface="MiSans" pitchFamily="34" charset="0"/>
                <a:ea typeface="MiSans" pitchFamily="34" charset="-122"/>
                <a:cs typeface="MiSans" pitchFamily="34" charset="-120"/>
              </a:rPr>
              <a:t>04.</a:t>
            </a:r>
            <a:endParaRPr lang="en-US" sz="1600" dirty="0"/>
          </a:p>
        </p:txBody>
      </p:sp>
      <p:sp>
        <p:nvSpPr>
          <p:cNvPr id="31" name="Text 25"/>
          <p:cNvSpPr/>
          <p:nvPr>
            <p:custDataLst>
              <p:tags r:id="rId17"/>
            </p:custDataLst>
          </p:nvPr>
        </p:nvSpPr>
        <p:spPr>
          <a:xfrm>
            <a:off x="7706360" y="4818380"/>
            <a:ext cx="3814445" cy="1200150"/>
          </a:xfrm>
          <a:prstGeom prst="rect">
            <a:avLst/>
          </a:prstGeom>
          <a:noFill/>
        </p:spPr>
        <p:txBody>
          <a:bodyPr wrap="square" lIns="0" tIns="0" rIns="0" bIns="0" rtlCol="0" anchor="t">
            <a:spAutoFit/>
          </a:bodyPr>
          <a:lstStyle/>
          <a:p>
            <a:pPr>
              <a:lnSpc>
                <a:spcPct val="150000"/>
              </a:lnSpc>
            </a:pPr>
            <a:r>
              <a:rPr lang="en-US" sz="2000" dirty="0">
                <a:solidFill>
                  <a:srgbClr val="595959"/>
                </a:solidFill>
                <a:latin typeface="MiSans" pitchFamily="34" charset="0"/>
                <a:ea typeface="MiSans" pitchFamily="34" charset="-122"/>
                <a:cs typeface="MiSans" pitchFamily="34" charset="-120"/>
              </a:rPr>
              <a:t>系统突围：三维度协同</a:t>
            </a:r>
            <a:endParaRPr lang="en-US" sz="2000" dirty="0">
              <a:solidFill>
                <a:srgbClr val="595959"/>
              </a:solidFill>
              <a:latin typeface="MiSans" pitchFamily="34" charset="0"/>
              <a:ea typeface="MiSans" pitchFamily="34" charset="-122"/>
              <a:cs typeface="MiSans" pitchFamily="34" charset="-120"/>
            </a:endParaRPr>
          </a:p>
          <a:p>
            <a:pPr>
              <a:lnSpc>
                <a:spcPct val="150000"/>
              </a:lnSpc>
            </a:pPr>
            <a:r>
              <a:rPr lang="en-US" altLang="zh-CN" sz="1600" dirty="0"/>
              <a:t>System Breakthrough: Three-dimensional Collaboration</a:t>
            </a:r>
            <a:endParaRPr lang="en-US" altLang="zh-CN"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6:35:26-d3jn7jgs8jdo4os5dj50.jpg"/>
          <p:cNvPicPr>
            <a:picLocks noChangeAspect="1"/>
          </p:cNvPicPr>
          <p:nvPr/>
        </p:nvPicPr>
        <p:blipFill>
          <a:blip r:embed="rId2">
            <a:alphaModFix amt="56000"/>
          </a:blip>
          <a:stretch>
            <a:fillRect/>
          </a:stretch>
        </p:blipFill>
        <p:spPr>
          <a:xfrm>
            <a:off x="0" y="0"/>
            <a:ext cx="12191365" cy="6858000"/>
          </a:xfrm>
          <a:prstGeom prst="rect">
            <a:avLst/>
          </a:prstGeom>
        </p:spPr>
      </p:pic>
      <p:pic>
        <p:nvPicPr>
          <p:cNvPr id="3" name="Image 1" descr="https://kimi-img.moonshot.cn/pub/slides/slides_tmpl/image/25-10-09-16:35:24-d3jn7j0s8jdo4os5divg.jpg"/>
          <p:cNvPicPr>
            <a:picLocks noChangeAspect="1"/>
          </p:cNvPicPr>
          <p:nvPr/>
        </p:nvPicPr>
        <p:blipFill>
          <a:blip r:embed="rId3"/>
          <a:stretch>
            <a:fillRect/>
          </a:stretch>
        </p:blipFill>
        <p:spPr>
          <a:xfrm>
            <a:off x="2897505" y="3536315"/>
            <a:ext cx="6823710" cy="736600"/>
          </a:xfrm>
          <a:prstGeom prst="rect">
            <a:avLst/>
          </a:prstGeom>
        </p:spPr>
      </p:pic>
      <p:sp>
        <p:nvSpPr>
          <p:cNvPr id="5" name="Text 0"/>
          <p:cNvSpPr/>
          <p:nvPr/>
        </p:nvSpPr>
        <p:spPr>
          <a:xfrm>
            <a:off x="5499889" y="2317433"/>
            <a:ext cx="1618942" cy="1307703"/>
          </a:xfrm>
          <a:prstGeom prst="rect">
            <a:avLst/>
          </a:prstGeom>
          <a:noFill/>
        </p:spPr>
        <p:txBody>
          <a:bodyPr wrap="square" lIns="0" tIns="0" rIns="0" bIns="0" rtlCol="0" anchor="t">
            <a:spAutoFit/>
          </a:bodyPr>
          <a:lstStyle/>
          <a:p>
            <a:pPr algn="ctr">
              <a:lnSpc>
                <a:spcPct val="100000"/>
              </a:lnSpc>
            </a:pPr>
            <a:r>
              <a:rPr lang="en-US" sz="8500" dirty="0">
                <a:solidFill>
                  <a:srgbClr val="0439E1"/>
                </a:solidFill>
                <a:latin typeface="MiSans" pitchFamily="34" charset="0"/>
                <a:ea typeface="MiSans" pitchFamily="34" charset="-122"/>
                <a:cs typeface="MiSans" pitchFamily="34" charset="-120"/>
              </a:rPr>
              <a:t>01</a:t>
            </a:r>
            <a:endParaRPr lang="en-US" sz="1600" dirty="0"/>
          </a:p>
        </p:txBody>
      </p:sp>
      <p:sp>
        <p:nvSpPr>
          <p:cNvPr id="6" name="Text 1"/>
          <p:cNvSpPr/>
          <p:nvPr/>
        </p:nvSpPr>
        <p:spPr>
          <a:xfrm>
            <a:off x="3006090" y="3536315"/>
            <a:ext cx="6607175" cy="920750"/>
          </a:xfrm>
          <a:prstGeom prst="rect">
            <a:avLst/>
          </a:prstGeom>
          <a:noFill/>
        </p:spPr>
        <p:txBody>
          <a:bodyPr wrap="square" lIns="0" tIns="0" rIns="0" bIns="0" rtlCol="0" anchor="t"/>
          <a:lstStyle/>
          <a:p>
            <a:pPr algn="ctr">
              <a:lnSpc>
                <a:spcPct val="100000"/>
              </a:lnSpc>
            </a:pPr>
            <a:r>
              <a:rPr lang="en-US" sz="3400" dirty="0">
                <a:solidFill>
                  <a:srgbClr val="0D0D0D"/>
                </a:solidFill>
                <a:latin typeface="MiSans" pitchFamily="34" charset="0"/>
                <a:ea typeface="MiSans" pitchFamily="34" charset="-122"/>
                <a:cs typeface="MiSans" pitchFamily="34" charset="-120"/>
              </a:rPr>
              <a:t>困境透视：双症交织</a:t>
            </a:r>
            <a:endParaRPr lang="en-US" sz="3400" dirty="0">
              <a:solidFill>
                <a:srgbClr val="0D0D0D"/>
              </a:solidFill>
              <a:latin typeface="MiSans" pitchFamily="34" charset="0"/>
              <a:ea typeface="MiSans" pitchFamily="34" charset="-122"/>
              <a:cs typeface="MiSans" pitchFamily="34" charset="-120"/>
            </a:endParaRPr>
          </a:p>
          <a:p>
            <a:pPr algn="ctr">
              <a:lnSpc>
                <a:spcPct val="100000"/>
              </a:lnSpc>
            </a:pPr>
            <a:r>
              <a:rPr lang="en-US" altLang="zh-CN" sz="2000" dirty="0"/>
              <a:t>Perspective on the Predicament: Two Symptoms Intertwined</a:t>
            </a:r>
            <a:endParaRPr lang="en-US" altLang="zh-CN" sz="2000" dirty="0"/>
          </a:p>
        </p:txBody>
      </p:sp>
      <p:sp>
        <p:nvSpPr>
          <p:cNvPr id="7" name="Shape 2"/>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8" name="Shape 3"/>
          <p:cNvSpPr/>
          <p:nvPr/>
        </p:nvSpPr>
        <p:spPr>
          <a:xfrm>
            <a:off x="11459749" y="6039741"/>
            <a:ext cx="209306" cy="42231"/>
          </a:xfrm>
          <a:prstGeom prst="rect">
            <a:avLst/>
          </a:prstGeom>
          <a:solidFill>
            <a:srgbClr val="000000"/>
          </a:solidFill>
          <a:ln w="19050">
            <a:solidFill>
              <a:srgbClr val="000000"/>
            </a:solidFill>
            <a:prstDash val="solid"/>
          </a:ln>
        </p:spPr>
      </p:sp>
      <p:sp>
        <p:nvSpPr>
          <p:cNvPr id="9" name="Text 4"/>
          <p:cNvSpPr/>
          <p:nvPr/>
        </p:nvSpPr>
        <p:spPr>
          <a:xfrm>
            <a:off x="11459749" y="603974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5"/>
          <p:cNvSpPr/>
          <p:nvPr/>
        </p:nvSpPr>
        <p:spPr>
          <a:xfrm>
            <a:off x="11459749" y="6136715"/>
            <a:ext cx="209306" cy="42231"/>
          </a:xfrm>
          <a:prstGeom prst="rect">
            <a:avLst/>
          </a:prstGeom>
          <a:solidFill>
            <a:srgbClr val="000000"/>
          </a:solidFill>
          <a:ln w="19050">
            <a:solidFill>
              <a:srgbClr val="000000"/>
            </a:solidFill>
            <a:prstDash val="solid"/>
          </a:ln>
        </p:spPr>
      </p:sp>
      <p:sp>
        <p:nvSpPr>
          <p:cNvPr id="11" name="Text 6"/>
          <p:cNvSpPr/>
          <p:nvPr/>
        </p:nvSpPr>
        <p:spPr>
          <a:xfrm>
            <a:off x="11459749" y="613671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7"/>
          <p:cNvSpPr/>
          <p:nvPr/>
        </p:nvSpPr>
        <p:spPr>
          <a:xfrm>
            <a:off x="11459749" y="6233689"/>
            <a:ext cx="209306" cy="42231"/>
          </a:xfrm>
          <a:prstGeom prst="rect">
            <a:avLst/>
          </a:prstGeom>
          <a:solidFill>
            <a:srgbClr val="000000"/>
          </a:solidFill>
          <a:ln w="19050">
            <a:solidFill>
              <a:srgbClr val="000000"/>
            </a:solidFill>
            <a:prstDash val="solid"/>
          </a:ln>
        </p:spPr>
      </p:sp>
      <p:sp>
        <p:nvSpPr>
          <p:cNvPr id="13" name="Text 8"/>
          <p:cNvSpPr/>
          <p:nvPr/>
        </p:nvSpPr>
        <p:spPr>
          <a:xfrm>
            <a:off x="11459749" y="6233689"/>
            <a:ext cx="209306" cy="42231"/>
          </a:xfrm>
          <a:prstGeom prst="rect">
            <a:avLst/>
          </a:prstGeom>
          <a:noFill/>
        </p:spPr>
        <p:txBody>
          <a:bodyPr wrap="square" lIns="45720" tIns="91440" rIns="91440" bIns="45720" rtlCol="0" anchor="ctr"/>
          <a:lstStyle/>
          <a:p>
            <a:pPr>
              <a:lnSpc>
                <a:spcPct val="100000"/>
              </a:lnSpc>
            </a:pPr>
            <a:endParaRPr lang="en-US" sz="1600" dirty="0"/>
          </a:p>
        </p:txBody>
      </p:sp>
      <p:pic>
        <p:nvPicPr>
          <p:cNvPr id="14" name="Image 3" descr="https://kimi-img.moonshot.cn/pub/slides/slides_tmpl/image/25-10-09-16:35:24-d3jn7j0s8jdo4os5div0.png"/>
          <p:cNvPicPr>
            <a:picLocks noChangeAspect="1"/>
          </p:cNvPicPr>
          <p:nvPr/>
        </p:nvPicPr>
        <p:blipFill>
          <a:blip r:embed="rId4">
            <a:alphaModFix amt="40000"/>
          </a:blip>
          <a:stretch>
            <a:fillRect/>
          </a:stretch>
        </p:blipFill>
        <p:spPr>
          <a:xfrm flipV="1">
            <a:off x="851535" y="630555"/>
            <a:ext cx="762000" cy="76200"/>
          </a:xfrm>
          <a:prstGeom prst="rect">
            <a:avLst/>
          </a:prstGeom>
        </p:spPr>
      </p:pic>
      <p:pic>
        <p:nvPicPr>
          <p:cNvPr id="15" name="Image 4" descr="https://kimi-img.moonshot.cn/pub/slides/slides_tmpl/image/25-10-09-16:35:24-d3jn7j0s8jdo4os5div0.png"/>
          <p:cNvPicPr>
            <a:picLocks noChangeAspect="1"/>
          </p:cNvPicPr>
          <p:nvPr/>
        </p:nvPicPr>
        <p:blipFill>
          <a:blip r:embed="rId4">
            <a:alphaModFix amt="40000"/>
          </a:blip>
          <a:stretch>
            <a:fillRect/>
          </a:stretch>
        </p:blipFill>
        <p:spPr>
          <a:xfrm flipV="1">
            <a:off x="851535" y="761365"/>
            <a:ext cx="762000" cy="76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79195" y="995680"/>
            <a:ext cx="9920605" cy="470916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a:latin typeface="Arial" panose="020B0604020202020204" pitchFamily="34" charset="0"/>
                <a:ea typeface="微软雅黑" panose="020B0503020204020204" charset="-122"/>
              </a:rPr>
              <a:t>（一）</a:t>
            </a:r>
            <a:r>
              <a:rPr lang="en-US" altLang="zh-CN" sz="2400">
                <a:latin typeface="Arial" panose="020B0604020202020204" pitchFamily="34" charset="0"/>
                <a:ea typeface="微软雅黑" panose="020B0503020204020204" charset="-122"/>
              </a:rPr>
              <a:t>Personal Profile</a:t>
            </a:r>
            <a:endParaRPr lang="en-US" altLang="zh-CN" sz="2400">
              <a:latin typeface="Arial" panose="020B0604020202020204" pitchFamily="34" charset="0"/>
              <a:ea typeface="微软雅黑" panose="020B0503020204020204" charset="-122"/>
            </a:endParaRPr>
          </a:p>
          <a:p>
            <a:pPr algn="l"/>
            <a:endParaRPr lang="en-US" altLang="zh-CN" sz="2400">
              <a:latin typeface="Arial" panose="020B0604020202020204" pitchFamily="34" charset="0"/>
              <a:ea typeface="微软雅黑" panose="020B0503020204020204" charset="-122"/>
            </a:endParaRPr>
          </a:p>
          <a:p>
            <a:pPr algn="l"/>
            <a:r>
              <a:rPr lang="en-US" altLang="zh-CN">
                <a:latin typeface="Arial" panose="020B0604020202020204" pitchFamily="34" charset="0"/>
                <a:ea typeface="微软雅黑" panose="020B0503020204020204" charset="-122"/>
              </a:rPr>
              <a:t>Xiao xu , male, born on May 26, 2011, </a:t>
            </a:r>
            <a:r>
              <a:rPr lang="en-US" altLang="zh-CN">
                <a:solidFill>
                  <a:srgbClr val="FF0000"/>
                </a:solidFill>
                <a:latin typeface="Arial" panose="020B0604020202020204" pitchFamily="34" charset="0"/>
                <a:ea typeface="微软雅黑" panose="020B0503020204020204" charset="-122"/>
              </a:rPr>
              <a:t>7 years and 5 months old</a:t>
            </a:r>
            <a:r>
              <a:rPr lang="en-US" altLang="zh-CN">
                <a:latin typeface="Arial" panose="020B0604020202020204" pitchFamily="34" charset="0"/>
                <a:ea typeface="微软雅黑" panose="020B0503020204020204" charset="-122"/>
              </a:rPr>
              <a:t> at the time of assessment (September 1, 2019), currently in the second grade at Banqiao Primary School in nanjing city. The medical diagnosis results show that it is </a:t>
            </a:r>
            <a:r>
              <a:rPr lang="en-US" altLang="zh-CN">
                <a:solidFill>
                  <a:srgbClr val="FF0000"/>
                </a:solidFill>
                <a:latin typeface="Arial" panose="020B0604020202020204" pitchFamily="34" charset="0"/>
                <a:ea typeface="微软雅黑" panose="020B0503020204020204" charset="-122"/>
              </a:rPr>
              <a:t>Attention Deficit hyperactivity disorder (ADHD) </a:t>
            </a:r>
            <a:r>
              <a:rPr lang="en-US" altLang="zh-CN">
                <a:latin typeface="Arial" panose="020B0604020202020204" pitchFamily="34" charset="0"/>
                <a:ea typeface="微软雅黑" panose="020B0503020204020204" charset="-122"/>
              </a:rPr>
              <a:t>(confirmed by Nanjing Children's Hospital), accompanied by </a:t>
            </a:r>
            <a:r>
              <a:rPr lang="en-US" altLang="zh-CN">
                <a:solidFill>
                  <a:srgbClr val="FF0000"/>
                </a:solidFill>
                <a:latin typeface="Arial" panose="020B0604020202020204" pitchFamily="34" charset="0"/>
                <a:ea typeface="微软雅黑" panose="020B0503020204020204" charset="-122"/>
              </a:rPr>
              <a:t>sensory integration dysfunction</a:t>
            </a:r>
            <a:r>
              <a:rPr lang="en-US" altLang="zh-CN">
                <a:latin typeface="Arial" panose="020B0604020202020204" pitchFamily="34" charset="0"/>
                <a:ea typeface="微软雅黑" panose="020B0503020204020204" charset="-122"/>
              </a:rPr>
              <a:t> (evaluated by the "Children's Sensory Integration Ability Development Assessment Form" : severe vestibular balance dysfunction, standard score </a:t>
            </a:r>
            <a:r>
              <a:rPr lang="en-US" altLang="zh-CN">
                <a:solidFill>
                  <a:srgbClr val="FF0000"/>
                </a:solidFill>
                <a:latin typeface="Arial" panose="020B0604020202020204" pitchFamily="34" charset="0"/>
                <a:ea typeface="微软雅黑" panose="020B0503020204020204" charset="-122"/>
              </a:rPr>
              <a:t>12</a:t>
            </a:r>
            <a:r>
              <a:rPr lang="en-US" altLang="zh-CN">
                <a:latin typeface="Arial" panose="020B0604020202020204" pitchFamily="34" charset="0"/>
                <a:ea typeface="微软雅黑" panose="020B0503020204020204" charset="-122"/>
              </a:rPr>
              <a:t>; severe proprioception dysfunction, standard score </a:t>
            </a:r>
            <a:r>
              <a:rPr lang="en-US" altLang="zh-CN">
                <a:solidFill>
                  <a:srgbClr val="FF0000"/>
                </a:solidFill>
                <a:latin typeface="Arial" panose="020B0604020202020204" pitchFamily="34" charset="0"/>
                <a:ea typeface="微软雅黑" panose="020B0503020204020204" charset="-122"/>
              </a:rPr>
              <a:t>16</a:t>
            </a:r>
            <a:r>
              <a:rPr lang="en-US" altLang="zh-CN">
                <a:latin typeface="Arial" panose="020B0604020202020204" pitchFamily="34" charset="0"/>
                <a:ea typeface="微软雅黑" panose="020B0503020204020204" charset="-122"/>
              </a:rPr>
              <a:t>; moderate tactile excessive defense dysfunction, standard score</a:t>
            </a:r>
            <a:r>
              <a:rPr lang="en-US" altLang="zh-CN">
                <a:solidFill>
                  <a:srgbClr val="FF0000"/>
                </a:solidFill>
                <a:latin typeface="Arial" panose="020B0604020202020204" pitchFamily="34" charset="0"/>
                <a:ea typeface="微软雅黑" panose="020B0503020204020204" charset="-122"/>
              </a:rPr>
              <a:t> 20</a:t>
            </a:r>
            <a:r>
              <a:rPr lang="en-US" altLang="zh-CN">
                <a:latin typeface="Arial" panose="020B0604020202020204" pitchFamily="34" charset="0"/>
                <a:ea typeface="微软雅黑" panose="020B0503020204020204" charset="-122"/>
              </a:rPr>
              <a:t>). Insufficient development of learning ability, standard score 11. In terms of developmental milestones, he/she could </a:t>
            </a:r>
            <a:r>
              <a:rPr lang="en-US" altLang="zh-CN">
                <a:solidFill>
                  <a:srgbClr val="FF0000"/>
                </a:solidFill>
                <a:latin typeface="Arial" panose="020B0604020202020204" pitchFamily="34" charset="0"/>
                <a:ea typeface="微软雅黑" panose="020B0503020204020204" charset="-122"/>
              </a:rPr>
              <a:t>pronounce at 18 months</a:t>
            </a:r>
            <a:r>
              <a:rPr lang="en-US" altLang="zh-CN">
                <a:latin typeface="Arial" panose="020B0604020202020204" pitchFamily="34" charset="0"/>
                <a:ea typeface="微软雅黑" panose="020B0503020204020204" charset="-122"/>
              </a:rPr>
              <a:t>, </a:t>
            </a:r>
            <a:r>
              <a:rPr lang="en-US" altLang="zh-CN">
                <a:solidFill>
                  <a:srgbClr val="FF0000"/>
                </a:solidFill>
                <a:latin typeface="Arial" panose="020B0604020202020204" pitchFamily="34" charset="0"/>
                <a:ea typeface="微软雅黑" panose="020B0503020204020204" charset="-122"/>
              </a:rPr>
              <a:t>speak simple words at 2 years old</a:t>
            </a:r>
            <a:r>
              <a:rPr lang="en-US" altLang="zh-CN">
                <a:latin typeface="Arial" panose="020B0604020202020204" pitchFamily="34" charset="0"/>
                <a:ea typeface="微软雅黑" panose="020B0503020204020204" charset="-122"/>
              </a:rPr>
              <a:t>, and express himself/herself in</a:t>
            </a:r>
            <a:r>
              <a:rPr lang="en-US" altLang="zh-CN">
                <a:solidFill>
                  <a:srgbClr val="FF0000"/>
                </a:solidFill>
                <a:latin typeface="Arial" panose="020B0604020202020204" pitchFamily="34" charset="0"/>
                <a:ea typeface="微软雅黑" panose="020B0503020204020204" charset="-122"/>
              </a:rPr>
              <a:t> sentences at 3 years old</a:t>
            </a:r>
            <a:r>
              <a:rPr lang="en-US" altLang="zh-CN">
                <a:latin typeface="Arial" panose="020B0604020202020204" pitchFamily="34" charset="0"/>
                <a:ea typeface="微软雅黑" panose="020B0503020204020204" charset="-122"/>
              </a:rPr>
              <a:t>. At 3 years old, he underwent surgery for a hernia and started </a:t>
            </a:r>
            <a:r>
              <a:rPr lang="en-US" altLang="zh-CN">
                <a:solidFill>
                  <a:srgbClr val="FF0000"/>
                </a:solidFill>
                <a:latin typeface="Arial" panose="020B0604020202020204" pitchFamily="34" charset="0"/>
                <a:ea typeface="微软雅黑" panose="020B0503020204020204" charset="-122"/>
              </a:rPr>
              <a:t>rehabilitation training</a:t>
            </a:r>
            <a:r>
              <a:rPr lang="en-US" altLang="zh-CN">
                <a:latin typeface="Arial" panose="020B0604020202020204" pitchFamily="34" charset="0"/>
                <a:ea typeface="微软雅黑" panose="020B0503020204020204" charset="-122"/>
              </a:rPr>
              <a:t> at Nanjing Brain Hospital at the same time.</a:t>
            </a:r>
            <a:endParaRPr lang="en-US" altLang="zh-CN">
              <a:latin typeface="Arial" panose="020B0604020202020204" pitchFamily="34" charset="0"/>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36370" y="995680"/>
            <a:ext cx="9583420" cy="470916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a:latin typeface="Arial" panose="020B0604020202020204" pitchFamily="34" charset="0"/>
                <a:ea typeface="微软雅黑" panose="020B0503020204020204" charset="-122"/>
              </a:rPr>
              <a:t>（二）</a:t>
            </a:r>
            <a:r>
              <a:rPr lang="en-US" altLang="zh-CN" sz="2400">
                <a:latin typeface="Arial" panose="020B0604020202020204" pitchFamily="34" charset="0"/>
                <a:ea typeface="微软雅黑" panose="020B0503020204020204" charset="-122"/>
              </a:rPr>
              <a:t>Family background</a:t>
            </a:r>
            <a:endParaRPr lang="en-US" altLang="zh-CN" sz="2400">
              <a:latin typeface="Arial" panose="020B0604020202020204" pitchFamily="34" charset="0"/>
              <a:ea typeface="微软雅黑" panose="020B0503020204020204" charset="-122"/>
            </a:endParaRPr>
          </a:p>
          <a:p>
            <a:pPr algn="l"/>
            <a:endParaRPr lang="zh-CN" altLang="en-US" sz="2400">
              <a:latin typeface="Arial" panose="020B0604020202020204" pitchFamily="34" charset="0"/>
              <a:ea typeface="微软雅黑" panose="020B0503020204020204" charset="-122"/>
            </a:endParaRPr>
          </a:p>
          <a:p>
            <a:pPr algn="l"/>
            <a:r>
              <a:rPr lang="en-US" altLang="zh-CN">
                <a:latin typeface="Arial" panose="020B0604020202020204" pitchFamily="34" charset="0"/>
                <a:ea typeface="微软雅黑" panose="020B0503020204020204" charset="-122"/>
              </a:rPr>
              <a:t>Xiaoxu's family is a</a:t>
            </a:r>
            <a:r>
              <a:rPr lang="en-US" altLang="zh-CN">
                <a:solidFill>
                  <a:srgbClr val="FF0000"/>
                </a:solidFill>
                <a:latin typeface="Arial" panose="020B0604020202020204" pitchFamily="34" charset="0"/>
                <a:ea typeface="微软雅黑" panose="020B0503020204020204" charset="-122"/>
              </a:rPr>
              <a:t> remarried </a:t>
            </a:r>
            <a:r>
              <a:rPr lang="en-US" altLang="zh-CN">
                <a:latin typeface="Arial" panose="020B0604020202020204" pitchFamily="34" charset="0"/>
                <a:ea typeface="微软雅黑" panose="020B0503020204020204" charset="-122"/>
              </a:rPr>
              <a:t>one. Both of her </a:t>
            </a:r>
            <a:r>
              <a:rPr lang="en-US" altLang="zh-CN">
                <a:solidFill>
                  <a:srgbClr val="FF0000"/>
                </a:solidFill>
                <a:latin typeface="Arial" panose="020B0604020202020204" pitchFamily="34" charset="0"/>
                <a:ea typeface="微软雅黑" panose="020B0503020204020204" charset="-122"/>
              </a:rPr>
              <a:t>parents</a:t>
            </a:r>
            <a:r>
              <a:rPr lang="en-US" altLang="zh-CN">
                <a:latin typeface="Arial" panose="020B0604020202020204" pitchFamily="34" charset="0"/>
                <a:ea typeface="微软雅黑" panose="020B0503020204020204" charset="-122"/>
              </a:rPr>
              <a:t> have a high school education, are physically and mentally </a:t>
            </a:r>
            <a:r>
              <a:rPr lang="en-US" altLang="zh-CN">
                <a:solidFill>
                  <a:srgbClr val="FF0000"/>
                </a:solidFill>
                <a:latin typeface="Arial" panose="020B0604020202020204" pitchFamily="34" charset="0"/>
                <a:ea typeface="微软雅黑" panose="020B0503020204020204" charset="-122"/>
              </a:rPr>
              <a:t>healthy</a:t>
            </a:r>
            <a:r>
              <a:rPr lang="en-US" altLang="zh-CN">
                <a:latin typeface="Arial" panose="020B0604020202020204" pitchFamily="34" charset="0"/>
                <a:ea typeface="微软雅黑" panose="020B0503020204020204" charset="-122"/>
              </a:rPr>
              <a:t>, and have a harmonious relationship. The father was 38 years old when giving birth and the mother was</a:t>
            </a:r>
            <a:r>
              <a:rPr lang="en-US" altLang="zh-CN">
                <a:solidFill>
                  <a:srgbClr val="FF0000"/>
                </a:solidFill>
                <a:latin typeface="Arial" panose="020B0604020202020204" pitchFamily="34" charset="0"/>
                <a:ea typeface="微软雅黑" panose="020B0503020204020204" charset="-122"/>
              </a:rPr>
              <a:t> 45 (advanced maternal age)</a:t>
            </a:r>
            <a:r>
              <a:rPr lang="en-US" altLang="zh-CN">
                <a:latin typeface="Arial" panose="020B0604020202020204" pitchFamily="34" charset="0"/>
                <a:ea typeface="微软雅黑" panose="020B0503020204020204" charset="-122"/>
              </a:rPr>
              <a:t>. During pregnancy, the mother suffered from gestational diabetes and was in a poor emotional state, but she was well-nourished. There is a 28-year-old elder brother in the family. Xiaoxu is the second child. The family upbringing pattern shows the characteristics of "</a:t>
            </a:r>
            <a:r>
              <a:rPr lang="en-US" altLang="zh-CN">
                <a:solidFill>
                  <a:srgbClr val="FF0000"/>
                </a:solidFill>
                <a:latin typeface="Arial" panose="020B0604020202020204" pitchFamily="34" charset="0"/>
                <a:ea typeface="微软雅黑" panose="020B0503020204020204" charset="-122"/>
              </a:rPr>
              <a:t>excessive protection + partial strictness</a:t>
            </a:r>
            <a:r>
              <a:rPr lang="en-US" altLang="zh-CN">
                <a:latin typeface="Arial" panose="020B0604020202020204" pitchFamily="34" charset="0"/>
                <a:ea typeface="微软雅黑" panose="020B0503020204020204" charset="-122"/>
              </a:rPr>
              <a:t>" : The mother takes good care of Xiaoxu's daily life, accompanies him throughout the first grade, provides full tutoring for his homework, and frequently takes him to participate in outdoor activities (such as parks, supermarkets, and shopping malls) on weekends. The father is relatively strict. When Xiaoxu makes mistakes, he will impose minor punishments (such as reducing entertainment time).</a:t>
            </a:r>
            <a:endParaRPr lang="en-US" altLang="zh-CN">
              <a:latin typeface="Arial" panose="020B0604020202020204" pitchFamily="34" charset="0"/>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15010" y="233045"/>
            <a:ext cx="10912475" cy="4958715"/>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charset="-122"/>
              </a:rPr>
              <a:t>（三）</a:t>
            </a:r>
            <a:r>
              <a:rPr lang="en-US" altLang="zh-CN" sz="1800">
                <a:latin typeface="Arial" panose="020B0604020202020204" pitchFamily="34" charset="0"/>
                <a:ea typeface="微软雅黑" panose="020B0503020204020204" charset="-122"/>
              </a:rPr>
              <a:t>Core </a:t>
            </a:r>
            <a:r>
              <a:rPr lang="en-US" altLang="zh-CN" sz="1800">
                <a:solidFill>
                  <a:srgbClr val="FF0000"/>
                </a:solidFill>
                <a:latin typeface="Arial" panose="020B0604020202020204" pitchFamily="34" charset="0"/>
                <a:ea typeface="微软雅黑" panose="020B0503020204020204" charset="-122"/>
              </a:rPr>
              <a:t>Competence</a:t>
            </a:r>
            <a:r>
              <a:rPr lang="en-US" altLang="zh-CN" sz="1800">
                <a:latin typeface="Arial" panose="020B0604020202020204" pitchFamily="34" charset="0"/>
                <a:ea typeface="微软雅黑" panose="020B0503020204020204" charset="-122"/>
              </a:rPr>
              <a:t> baseline</a:t>
            </a:r>
            <a:endParaRPr lang="en-US" altLang="zh-CN" sz="1800">
              <a:latin typeface="Arial" panose="020B0604020202020204" pitchFamily="34" charset="0"/>
              <a:ea typeface="微软雅黑" panose="020B0503020204020204" charset="-122"/>
            </a:endParaRPr>
          </a:p>
          <a:p>
            <a:pPr algn="l"/>
            <a:endParaRPr lang="zh-CN" altLang="en-US" sz="1800">
              <a:latin typeface="Arial" panose="020B0604020202020204" pitchFamily="34" charset="0"/>
              <a:ea typeface="微软雅黑" panose="020B0503020204020204" charset="-122"/>
            </a:endParaRPr>
          </a:p>
          <a:p>
            <a:pPr algn="l"/>
            <a:r>
              <a:rPr lang="en-US" altLang="zh-CN" sz="1600">
                <a:latin typeface="Arial" panose="020B0604020202020204" pitchFamily="34" charset="0"/>
                <a:ea typeface="微软雅黑" panose="020B0503020204020204" charset="-122"/>
              </a:rPr>
              <a:t>Through the "Children's Intelligence Screening Test", "Children's Character Drawing Test", "Swedish Standard Reasoning Test", "Autism Children's Development Assessment Form", "Infantile-Junior High School Students' Social Adaptability Scale" and academic assessment, Xiaoxu's core abilities show the feature of "</a:t>
            </a:r>
            <a:r>
              <a:rPr lang="en-US" altLang="zh-CN" sz="1600">
                <a:solidFill>
                  <a:srgbClr val="FF0000"/>
                </a:solidFill>
                <a:latin typeface="Arial" panose="020B0604020202020204" pitchFamily="34" charset="0"/>
                <a:ea typeface="微软雅黑" panose="020B0503020204020204" charset="-122"/>
              </a:rPr>
              <a:t>multi-domain discontinuity</a:t>
            </a:r>
            <a:r>
              <a:rPr lang="en-US" altLang="zh-CN" sz="1600">
                <a:latin typeface="Arial" panose="020B0604020202020204" pitchFamily="34" charset="0"/>
                <a:ea typeface="微软雅黑" panose="020B0503020204020204" charset="-122"/>
              </a:rPr>
              <a:t>"</a:t>
            </a:r>
            <a:endParaRPr lang="en-US" altLang="zh-CN" sz="1600">
              <a:latin typeface="Arial" panose="020B0604020202020204" pitchFamily="34" charset="0"/>
              <a:ea typeface="微软雅黑" panose="020B0503020204020204" charset="-122"/>
            </a:endParaRPr>
          </a:p>
          <a:p>
            <a:pPr algn="l"/>
            <a:endParaRPr lang="en-US" altLang="zh-CN" sz="1600">
              <a:latin typeface="Arial" panose="020B0604020202020204" pitchFamily="34" charset="0"/>
              <a:ea typeface="微软雅黑" panose="020B0503020204020204" charset="-122"/>
            </a:endParaRPr>
          </a:p>
          <a:p>
            <a:pPr algn="l"/>
            <a:r>
              <a:rPr lang="en-US" altLang="zh-CN" sz="1600">
                <a:solidFill>
                  <a:srgbClr val="FF0000"/>
                </a:solidFill>
                <a:latin typeface="Arial" panose="020B0604020202020204" pitchFamily="34" charset="0"/>
                <a:ea typeface="微软雅黑" panose="020B0503020204020204" charset="-122"/>
              </a:rPr>
              <a:t>Intelligence level:</a:t>
            </a:r>
            <a:r>
              <a:rPr lang="en-US" altLang="zh-CN" sz="1600">
                <a:latin typeface="Arial" panose="020B0604020202020204" pitchFamily="34" charset="0"/>
                <a:ea typeface="微软雅黑" panose="020B0503020204020204" charset="-122"/>
              </a:rPr>
              <a:t> The total score of the "Children's Intelligence Screening Test" is 27.5 points (normal), the score of the "Swiss Standard Reasoning Test" is 20 points (medium), but the </a:t>
            </a:r>
            <a:r>
              <a:rPr lang="en-US" altLang="zh-CN" sz="1600">
                <a:solidFill>
                  <a:srgbClr val="FF0000"/>
                </a:solidFill>
                <a:latin typeface="Arial" panose="020B0604020202020204" pitchFamily="34" charset="0"/>
                <a:ea typeface="微软雅黑" panose="020B0503020204020204" charset="-122"/>
              </a:rPr>
              <a:t>IQ </a:t>
            </a:r>
            <a:r>
              <a:rPr lang="en-US" altLang="zh-CN" sz="1600">
                <a:latin typeface="Arial" panose="020B0604020202020204" pitchFamily="34" charset="0"/>
                <a:ea typeface="微软雅黑" panose="020B0503020204020204" charset="-122"/>
              </a:rPr>
              <a:t>of the "Children's Character Drawing Test" is only </a:t>
            </a:r>
            <a:r>
              <a:rPr lang="en-US" altLang="zh-CN" sz="1600">
                <a:solidFill>
                  <a:srgbClr val="FF0000"/>
                </a:solidFill>
                <a:latin typeface="Arial" panose="020B0604020202020204" pitchFamily="34" charset="0"/>
                <a:ea typeface="微软雅黑" panose="020B0503020204020204" charset="-122"/>
              </a:rPr>
              <a:t>67 points (low intelligence)</a:t>
            </a:r>
            <a:r>
              <a:rPr lang="en-US" altLang="zh-CN" sz="1600">
                <a:latin typeface="Arial" panose="020B0604020202020204" pitchFamily="34" charset="0"/>
                <a:ea typeface="微软雅黑" panose="020B0503020204020204" charset="-122"/>
              </a:rPr>
              <a:t>, indicating an "assessment contradiction".</a:t>
            </a:r>
            <a:endParaRPr lang="en-US" altLang="zh-CN" sz="1600">
              <a:latin typeface="Arial" panose="020B0604020202020204" pitchFamily="34" charset="0"/>
              <a:ea typeface="微软雅黑" panose="020B0503020204020204" charset="-122"/>
            </a:endParaRPr>
          </a:p>
          <a:p>
            <a:pPr algn="l"/>
            <a:endParaRPr lang="en-US" altLang="zh-CN" sz="1600">
              <a:latin typeface="Arial" panose="020B0604020202020204" pitchFamily="34" charset="0"/>
              <a:ea typeface="微软雅黑" panose="020B0503020204020204" charset="-122"/>
            </a:endParaRPr>
          </a:p>
          <a:p>
            <a:pPr algn="l"/>
            <a:r>
              <a:rPr lang="en-US" altLang="zh-CN" sz="1600">
                <a:solidFill>
                  <a:srgbClr val="FF0000"/>
                </a:solidFill>
                <a:latin typeface="Arial" panose="020B0604020202020204" pitchFamily="34" charset="0"/>
                <a:ea typeface="微软雅黑" panose="020B0503020204020204" charset="-122"/>
              </a:rPr>
              <a:t>Social adaptation:</a:t>
            </a:r>
            <a:r>
              <a:rPr lang="en-US" altLang="zh-CN" sz="1600">
                <a:latin typeface="Arial" panose="020B0604020202020204" pitchFamily="34" charset="0"/>
                <a:ea typeface="微软雅黑" panose="020B0503020204020204" charset="-122"/>
              </a:rPr>
              <a:t> The rough score of the "Infantile-Junior High School Students' Social Adaptation Ability Scale" is 69 points (the standard score is 8 points), indicating a mild limitation in social adaptation function. The ability level is equivalent to that of a </a:t>
            </a:r>
            <a:r>
              <a:rPr lang="en-US" altLang="zh-CN" sz="1600">
                <a:solidFill>
                  <a:srgbClr val="FF0000"/>
                </a:solidFill>
                <a:latin typeface="Arial" panose="020B0604020202020204" pitchFamily="34" charset="0"/>
                <a:ea typeface="微软雅黑" panose="020B0503020204020204" charset="-122"/>
              </a:rPr>
              <a:t>5-6-year-old 5-month-old child and is far lower than that of the same age group</a:t>
            </a:r>
            <a:r>
              <a:rPr lang="en-US" altLang="zh-CN" sz="1600">
                <a:latin typeface="Arial" panose="020B0604020202020204" pitchFamily="34" charset="0"/>
                <a:ea typeface="微软雅黑" panose="020B0503020204020204" charset="-122"/>
              </a:rPr>
              <a:t>.</a:t>
            </a:r>
            <a:endParaRPr lang="en-US" altLang="zh-CN" sz="1600">
              <a:latin typeface="Arial" panose="020B0604020202020204" pitchFamily="34" charset="0"/>
              <a:ea typeface="微软雅黑" panose="020B0503020204020204" charset="-122"/>
            </a:endParaRPr>
          </a:p>
          <a:p>
            <a:pPr algn="l"/>
            <a:endParaRPr lang="en-US" altLang="zh-CN" sz="1600">
              <a:latin typeface="Arial" panose="020B0604020202020204" pitchFamily="34" charset="0"/>
              <a:ea typeface="微软雅黑" panose="020B0503020204020204" charset="-122"/>
            </a:endParaRPr>
          </a:p>
          <a:p>
            <a:pPr algn="l"/>
            <a:r>
              <a:rPr lang="en-US" altLang="zh-CN" sz="1600">
                <a:solidFill>
                  <a:srgbClr val="FF0000"/>
                </a:solidFill>
                <a:latin typeface="Arial" panose="020B0604020202020204" pitchFamily="34" charset="0"/>
                <a:ea typeface="微软雅黑" panose="020B0503020204020204" charset="-122"/>
              </a:rPr>
              <a:t>Academic performance: </a:t>
            </a:r>
            <a:r>
              <a:rPr lang="en-US" altLang="zh-CN" sz="1600">
                <a:latin typeface="Arial" panose="020B0604020202020204" pitchFamily="34" charset="0"/>
                <a:ea typeface="微软雅黑" panose="020B0503020204020204" charset="-122"/>
              </a:rPr>
              <a:t>Chinese character recognition (all 43 characters shown in pictures have been mastered) is acceptable, but 11 new characters were </a:t>
            </a:r>
            <a:r>
              <a:rPr lang="en-US" altLang="zh-CN" sz="1600">
                <a:solidFill>
                  <a:srgbClr val="FF0000"/>
                </a:solidFill>
                <a:latin typeface="Arial" panose="020B0604020202020204" pitchFamily="34" charset="0"/>
                <a:ea typeface="微软雅黑" panose="020B0503020204020204" charset="-122"/>
              </a:rPr>
              <a:t>mispronounced</a:t>
            </a:r>
            <a:r>
              <a:rPr lang="en-US" altLang="zh-CN" sz="1600">
                <a:latin typeface="Arial" panose="020B0604020202020204" pitchFamily="34" charset="0"/>
                <a:ea typeface="微软雅黑" panose="020B0503020204020204" charset="-122"/>
              </a:rPr>
              <a:t>, 12 radicals were not recognized, and 6 whole recognition </a:t>
            </a:r>
            <a:r>
              <a:rPr lang="en-US" altLang="zh-CN" sz="1600">
                <a:solidFill>
                  <a:srgbClr val="FF0000"/>
                </a:solidFill>
                <a:latin typeface="Arial" panose="020B0604020202020204" pitchFamily="34" charset="0"/>
                <a:ea typeface="微软雅黑" panose="020B0503020204020204" charset="-122"/>
              </a:rPr>
              <a:t>syllables</a:t>
            </a:r>
            <a:r>
              <a:rPr lang="en-US" altLang="zh-CN" sz="1600">
                <a:latin typeface="Arial" panose="020B0604020202020204" pitchFamily="34" charset="0"/>
                <a:ea typeface="微软雅黑" panose="020B0503020204020204" charset="-122"/>
              </a:rPr>
              <a:t> were not mastered. There is an issue of reversed stroke order in writing. Proficient in oral arithmetic of addition and subtraction within 20 in </a:t>
            </a:r>
            <a:r>
              <a:rPr lang="en-US" altLang="zh-CN" sz="1600">
                <a:solidFill>
                  <a:srgbClr val="FF0000"/>
                </a:solidFill>
                <a:latin typeface="Arial" panose="020B0604020202020204" pitchFamily="34" charset="0"/>
                <a:ea typeface="微软雅黑" panose="020B0503020204020204" charset="-122"/>
              </a:rPr>
              <a:t>mathematics</a:t>
            </a:r>
            <a:r>
              <a:rPr lang="en-US" altLang="zh-CN" sz="1600">
                <a:latin typeface="Arial" panose="020B0604020202020204" pitchFamily="34" charset="0"/>
                <a:ea typeface="微软雅黑" panose="020B0503020204020204" charset="-122"/>
              </a:rPr>
              <a:t>, but incorrect expression of the order of numbers and misunderstanding of application problem concepts such as "total".</a:t>
            </a:r>
            <a:endParaRPr lang="en-US" altLang="zh-CN" sz="1600">
              <a:latin typeface="Arial" panose="020B0604020202020204" pitchFamily="34" charset="0"/>
              <a:ea typeface="微软雅黑" panose="020B0503020204020204" charset="-122"/>
            </a:endParaRPr>
          </a:p>
          <a:p>
            <a:pPr algn="l"/>
            <a:endParaRPr lang="en-US" altLang="zh-CN" sz="1600">
              <a:solidFill>
                <a:srgbClr val="FF0000"/>
              </a:solidFill>
              <a:latin typeface="Arial" panose="020B0604020202020204" pitchFamily="34" charset="0"/>
              <a:ea typeface="微软雅黑" panose="020B0503020204020204" charset="-122"/>
            </a:endParaRPr>
          </a:p>
          <a:p>
            <a:pPr algn="l"/>
            <a:r>
              <a:rPr lang="en-US" altLang="zh-CN" sz="1600">
                <a:solidFill>
                  <a:srgbClr val="FF0000"/>
                </a:solidFill>
                <a:latin typeface="Arial" panose="020B0604020202020204" pitchFamily="34" charset="0"/>
                <a:ea typeface="微软雅黑" panose="020B0503020204020204" charset="-122"/>
              </a:rPr>
              <a:t>Social and self-care: </a:t>
            </a:r>
            <a:r>
              <a:rPr lang="en-US" altLang="zh-CN" sz="1600">
                <a:latin typeface="Arial" panose="020B0604020202020204" pitchFamily="34" charset="0"/>
                <a:ea typeface="微软雅黑" panose="020B0503020204020204" charset="-122"/>
              </a:rPr>
              <a:t>Social interaction skills are equivalent to those of a</a:t>
            </a:r>
            <a:r>
              <a:rPr lang="en-US" altLang="zh-CN" sz="1600">
                <a:solidFill>
                  <a:srgbClr val="FF0000"/>
                </a:solidFill>
                <a:latin typeface="Arial" panose="020B0604020202020204" pitchFamily="34" charset="0"/>
                <a:ea typeface="微软雅黑" panose="020B0503020204020204" charset="-122"/>
              </a:rPr>
              <a:t> 3-year-old child,</a:t>
            </a:r>
            <a:r>
              <a:rPr lang="en-US" altLang="zh-CN" sz="1600">
                <a:latin typeface="Arial" panose="020B0604020202020204" pitchFamily="34" charset="0"/>
                <a:ea typeface="微软雅黑" panose="020B0503020204020204" charset="-122"/>
              </a:rPr>
              <a:t> unable to maintain conversations, lacking active sharing and praising behaviors. Self-care ability: Can only eat independently, use the toilet, and wear simple clothes. </a:t>
            </a:r>
            <a:r>
              <a:rPr lang="en-US" altLang="zh-CN" sz="1600">
                <a:solidFill>
                  <a:srgbClr val="FF0000"/>
                </a:solidFill>
                <a:latin typeface="Arial" panose="020B0604020202020204" pitchFamily="34" charset="0"/>
                <a:ea typeface="微软雅黑" panose="020B0503020204020204" charset="-122"/>
              </a:rPr>
              <a:t>Needs assistance</a:t>
            </a:r>
            <a:r>
              <a:rPr lang="en-US" altLang="zh-CN" sz="1600">
                <a:latin typeface="Arial" panose="020B0604020202020204" pitchFamily="34" charset="0"/>
                <a:ea typeface="微软雅黑" panose="020B0503020204020204" charset="-122"/>
              </a:rPr>
              <a:t> from the mother for washing the face, taking a bath, and washing dishes.</a:t>
            </a:r>
            <a:endParaRPr lang="en-US" altLang="zh-CN" sz="1600">
              <a:latin typeface="Arial" panose="020B0604020202020204" pitchFamily="34" charset="0"/>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Text 0"/>
          <p:cNvSpPr/>
          <p:nvPr/>
        </p:nvSpPr>
        <p:spPr>
          <a:xfrm>
            <a:off x="158750" y="330200"/>
            <a:ext cx="11874500" cy="457200"/>
          </a:xfrm>
          <a:prstGeom prst="rect">
            <a:avLst/>
          </a:prstGeom>
          <a:noFill/>
        </p:spPr>
        <p:txBody>
          <a:bodyPr wrap="square" lIns="0" tIns="0" rIns="0" bIns="0" rtlCol="0" anchor="ctr"/>
          <a:lstStyle/>
          <a:p>
            <a:pPr algn="ctr">
              <a:lnSpc>
                <a:spcPct val="100000"/>
              </a:lnSpc>
            </a:pPr>
            <a:r>
              <a:rPr lang="en-US" altLang="zh-CN" sz="2400" dirty="0">
                <a:ln/>
                <a:solidFill>
                  <a:schemeClr val="accent1"/>
                </a:solidFill>
                <a:effectLst>
                  <a:outerShdw blurRad="38100" dist="25400" dir="5400000" algn="ctr" rotWithShape="0">
                    <a:srgbClr val="6E747A">
                      <a:alpha val="43000"/>
                    </a:srgbClr>
                  </a:outerShdw>
                </a:effectLst>
              </a:rPr>
              <a:t>Panorama of </a:t>
            </a:r>
            <a:r>
              <a:rPr lang="en-US" altLang="zh-CN" sz="2400" dirty="0">
                <a:ln/>
                <a:solidFill>
                  <a:srgbClr val="FF0000"/>
                </a:solidFill>
                <a:effectLst>
                  <a:outerShdw blurRad="38100" dist="25400" dir="5400000" algn="ctr" rotWithShape="0">
                    <a:srgbClr val="6E747A">
                      <a:alpha val="43000"/>
                    </a:srgbClr>
                  </a:outerShdw>
                </a:effectLst>
              </a:rPr>
              <a:t>Abilities</a:t>
            </a:r>
            <a:r>
              <a:rPr lang="en-US" altLang="zh-CN" sz="2400" dirty="0">
                <a:ln/>
                <a:solidFill>
                  <a:schemeClr val="accent1"/>
                </a:solidFill>
                <a:effectLst>
                  <a:outerShdw blurRad="38100" dist="25400" dir="5400000" algn="ctr" rotWithShape="0">
                    <a:srgbClr val="6E747A">
                      <a:alpha val="43000"/>
                    </a:srgbClr>
                  </a:outerShdw>
                </a:effectLst>
              </a:rPr>
              <a:t>: Lagging behind in </a:t>
            </a:r>
            <a:r>
              <a:rPr lang="en-US" altLang="zh-CN" sz="2400" dirty="0">
                <a:ln/>
                <a:solidFill>
                  <a:srgbClr val="FF0000"/>
                </a:solidFill>
                <a:effectLst>
                  <a:outerShdw blurRad="38100" dist="25400" dir="5400000" algn="ctr" rotWithShape="0">
                    <a:srgbClr val="6E747A">
                      <a:alpha val="43000"/>
                    </a:srgbClr>
                  </a:outerShdw>
                </a:effectLst>
              </a:rPr>
              <a:t>academic</a:t>
            </a:r>
            <a:r>
              <a:rPr lang="en-US" altLang="zh-CN" sz="2400" dirty="0">
                <a:ln/>
                <a:solidFill>
                  <a:schemeClr val="accent1"/>
                </a:solidFill>
                <a:effectLst>
                  <a:outerShdw blurRad="38100" dist="25400" dir="5400000" algn="ctr" rotWithShape="0">
                    <a:srgbClr val="6E747A">
                      <a:alpha val="43000"/>
                    </a:srgbClr>
                  </a:outerShdw>
                </a:effectLst>
              </a:rPr>
              <a:t> and </a:t>
            </a:r>
            <a:r>
              <a:rPr lang="en-US" altLang="zh-CN" sz="2400" dirty="0">
                <a:ln/>
                <a:solidFill>
                  <a:srgbClr val="FF0000"/>
                </a:solidFill>
                <a:effectLst>
                  <a:outerShdw blurRad="38100" dist="25400" dir="5400000" algn="ctr" rotWithShape="0">
                    <a:srgbClr val="6E747A">
                      <a:alpha val="43000"/>
                    </a:srgbClr>
                  </a:outerShdw>
                </a:effectLst>
              </a:rPr>
              <a:t>social domains</a:t>
            </a:r>
            <a:endParaRPr lang="en-US" altLang="zh-CN" sz="2400" dirty="0">
              <a:ln/>
              <a:solidFill>
                <a:srgbClr val="FF0000"/>
              </a:solidFill>
              <a:effectLst>
                <a:outerShdw blurRad="38100" dist="25400" dir="5400000" algn="ctr" rotWithShape="0">
                  <a:srgbClr val="6E747A">
                    <a:alpha val="43000"/>
                  </a:srgbClr>
                </a:outerShdw>
              </a:effectLst>
            </a:endParaRPr>
          </a:p>
        </p:txBody>
      </p:sp>
      <p:sp>
        <p:nvSpPr>
          <p:cNvPr id="4" name="Text 1"/>
          <p:cNvSpPr/>
          <p:nvPr/>
        </p:nvSpPr>
        <p:spPr>
          <a:xfrm>
            <a:off x="1174750" y="914400"/>
            <a:ext cx="9842500" cy="508000"/>
          </a:xfrm>
          <a:prstGeom prst="rect">
            <a:avLst/>
          </a:prstGeom>
          <a:noFill/>
        </p:spPr>
        <p:txBody>
          <a:bodyPr wrap="square" lIns="0" tIns="0" rIns="0" bIns="0" rtlCol="0" anchor="ctr"/>
          <a:lstStyle/>
          <a:p>
            <a:pPr algn="ctr">
              <a:lnSpc>
                <a:spcPct val="120000"/>
              </a:lnSpc>
            </a:pPr>
            <a:endParaRPr lang="en-US" sz="1600" dirty="0"/>
          </a:p>
        </p:txBody>
      </p:sp>
      <p:sp>
        <p:nvSpPr>
          <p:cNvPr id="5" name="Shape 2"/>
          <p:cNvSpPr/>
          <p:nvPr>
            <p:custDataLst>
              <p:tags r:id="rId2"/>
            </p:custDataLst>
          </p:nvPr>
        </p:nvSpPr>
        <p:spPr>
          <a:xfrm>
            <a:off x="254000" y="1727200"/>
            <a:ext cx="3759200" cy="2336800"/>
          </a:xfrm>
          <a:custGeom>
            <a:avLst/>
            <a:gdLst/>
            <a:ahLst/>
            <a:cxnLst/>
            <a:rect l="l" t="t" r="r" b="b"/>
            <a:pathLst>
              <a:path w="3759200" h="2336800">
                <a:moveTo>
                  <a:pt x="101604" y="0"/>
                </a:moveTo>
                <a:lnTo>
                  <a:pt x="3657596" y="0"/>
                </a:lnTo>
                <a:cubicBezTo>
                  <a:pt x="3713710" y="0"/>
                  <a:pt x="3759200" y="45490"/>
                  <a:pt x="3759200" y="101604"/>
                </a:cubicBezTo>
                <a:lnTo>
                  <a:pt x="3759200" y="2235196"/>
                </a:lnTo>
                <a:cubicBezTo>
                  <a:pt x="3759200" y="2291310"/>
                  <a:pt x="3713710" y="2336800"/>
                  <a:pt x="3657596" y="2336800"/>
                </a:cubicBezTo>
                <a:lnTo>
                  <a:pt x="101604" y="2336800"/>
                </a:lnTo>
                <a:cubicBezTo>
                  <a:pt x="45490" y="2336800"/>
                  <a:pt x="0" y="2291310"/>
                  <a:pt x="0" y="2235196"/>
                </a:cubicBezTo>
                <a:lnTo>
                  <a:pt x="0" y="101604"/>
                </a:lnTo>
                <a:cubicBezTo>
                  <a:pt x="0" y="45527"/>
                  <a:pt x="45527" y="0"/>
                  <a:pt x="101604" y="0"/>
                </a:cubicBezTo>
                <a:close/>
              </a:path>
            </a:pathLst>
          </a:custGeom>
          <a:solidFill>
            <a:srgbClr val="007BFF">
              <a:alpha val="10196"/>
            </a:srgbClr>
          </a:solidFill>
        </p:spPr>
      </p:sp>
      <p:sp>
        <p:nvSpPr>
          <p:cNvPr id="7" name="Text 4"/>
          <p:cNvSpPr/>
          <p:nvPr>
            <p:custDataLst>
              <p:tags r:id="rId3"/>
            </p:custDataLst>
          </p:nvPr>
        </p:nvSpPr>
        <p:spPr>
          <a:xfrm>
            <a:off x="457200" y="2012950"/>
            <a:ext cx="3441700" cy="1755775"/>
          </a:xfrm>
          <a:prstGeom prst="rect">
            <a:avLst/>
          </a:prstGeom>
          <a:noFill/>
        </p:spPr>
        <p:txBody>
          <a:bodyPr wrap="square" lIns="0" tIns="0" rIns="0" bIns="0" rtlCol="0" anchor="ctr"/>
          <a:lstStyle/>
          <a:p>
            <a:pPr>
              <a:lnSpc>
                <a:spcPct val="120000"/>
              </a:lnSpc>
            </a:pPr>
            <a:r>
              <a:rPr lang="en-US" altLang="zh-CN" sz="1600" dirty="0"/>
              <a:t>Psychology and Cognition: The multi-domain lag in academic and social intelligence screening is normal, but the IQ of the illustrator is only 67 points, and the social interaction ability is only equivalent to that of a</a:t>
            </a:r>
            <a:r>
              <a:rPr lang="en-US" altLang="zh-CN" sz="1600" dirty="0">
                <a:solidFill>
                  <a:srgbClr val="FF0000"/>
                </a:solidFill>
              </a:rPr>
              <a:t> 3-year-old child</a:t>
            </a:r>
            <a:r>
              <a:rPr lang="en-US" altLang="zh-CN" sz="1600" dirty="0"/>
              <a:t>.</a:t>
            </a:r>
            <a:endParaRPr lang="en-US" altLang="zh-CN" sz="1600" dirty="0"/>
          </a:p>
        </p:txBody>
      </p:sp>
      <p:sp>
        <p:nvSpPr>
          <p:cNvPr id="8" name="Shape 5"/>
          <p:cNvSpPr/>
          <p:nvPr>
            <p:custDataLst>
              <p:tags r:id="rId4"/>
            </p:custDataLst>
          </p:nvPr>
        </p:nvSpPr>
        <p:spPr>
          <a:xfrm>
            <a:off x="4216400" y="1727200"/>
            <a:ext cx="3759200" cy="2336800"/>
          </a:xfrm>
          <a:custGeom>
            <a:avLst/>
            <a:gdLst/>
            <a:ahLst/>
            <a:cxnLst/>
            <a:rect l="l" t="t" r="r" b="b"/>
            <a:pathLst>
              <a:path w="3759200" h="2336800">
                <a:moveTo>
                  <a:pt x="101604" y="0"/>
                </a:moveTo>
                <a:lnTo>
                  <a:pt x="3657596" y="0"/>
                </a:lnTo>
                <a:cubicBezTo>
                  <a:pt x="3713710" y="0"/>
                  <a:pt x="3759200" y="45490"/>
                  <a:pt x="3759200" y="101604"/>
                </a:cubicBezTo>
                <a:lnTo>
                  <a:pt x="3759200" y="2235196"/>
                </a:lnTo>
                <a:cubicBezTo>
                  <a:pt x="3759200" y="2291310"/>
                  <a:pt x="3713710" y="2336800"/>
                  <a:pt x="3657596" y="2336800"/>
                </a:cubicBezTo>
                <a:lnTo>
                  <a:pt x="101604" y="2336800"/>
                </a:lnTo>
                <a:cubicBezTo>
                  <a:pt x="45490" y="2336800"/>
                  <a:pt x="0" y="2291310"/>
                  <a:pt x="0" y="2235196"/>
                </a:cubicBezTo>
                <a:lnTo>
                  <a:pt x="0" y="101604"/>
                </a:lnTo>
                <a:cubicBezTo>
                  <a:pt x="0" y="45527"/>
                  <a:pt x="45527" y="0"/>
                  <a:pt x="101604" y="0"/>
                </a:cubicBezTo>
                <a:close/>
              </a:path>
            </a:pathLst>
          </a:custGeom>
          <a:solidFill>
            <a:srgbClr val="007BFF">
              <a:alpha val="10196"/>
            </a:srgbClr>
          </a:solidFill>
        </p:spPr>
      </p:sp>
      <p:sp>
        <p:nvSpPr>
          <p:cNvPr id="10" name="Text 7"/>
          <p:cNvSpPr/>
          <p:nvPr>
            <p:custDataLst>
              <p:tags r:id="rId5"/>
            </p:custDataLst>
          </p:nvPr>
        </p:nvSpPr>
        <p:spPr>
          <a:xfrm>
            <a:off x="4419600" y="2066925"/>
            <a:ext cx="3441700" cy="1313815"/>
          </a:xfrm>
          <a:prstGeom prst="rect">
            <a:avLst/>
          </a:prstGeom>
          <a:noFill/>
        </p:spPr>
        <p:txBody>
          <a:bodyPr wrap="square" lIns="0" tIns="0" rIns="0" bIns="0" rtlCol="0" anchor="ctr"/>
          <a:lstStyle/>
          <a:p>
            <a:pPr>
              <a:lnSpc>
                <a:spcPct val="120000"/>
              </a:lnSpc>
            </a:pPr>
            <a:r>
              <a:rPr lang="en-US" altLang="zh-CN" sz="1600" dirty="0"/>
              <a:t>Academic performance: Literacy is acceptable, but there are significant </a:t>
            </a:r>
            <a:r>
              <a:rPr lang="en-US" altLang="zh-CN" sz="1600" dirty="0">
                <a:solidFill>
                  <a:srgbClr val="FF0000"/>
                </a:solidFill>
              </a:rPr>
              <a:t>difficulties in understanding pinyin</a:t>
            </a:r>
            <a:r>
              <a:rPr lang="en-US" altLang="zh-CN" sz="1600" dirty="0"/>
              <a:t>, </a:t>
            </a:r>
            <a:r>
              <a:rPr lang="en-US" altLang="zh-CN" sz="1600" dirty="0">
                <a:solidFill>
                  <a:srgbClr val="FF0000"/>
                </a:solidFill>
              </a:rPr>
              <a:t>radicals, and application problems</a:t>
            </a:r>
            <a:r>
              <a:rPr lang="en-US" altLang="zh-CN" sz="1600" dirty="0"/>
              <a:t>. Writing is done in reverse stroke order.</a:t>
            </a:r>
            <a:endParaRPr lang="en-US" altLang="zh-CN" sz="1600" dirty="0"/>
          </a:p>
        </p:txBody>
      </p:sp>
      <p:sp>
        <p:nvSpPr>
          <p:cNvPr id="11" name="Shape 8"/>
          <p:cNvSpPr/>
          <p:nvPr>
            <p:custDataLst>
              <p:tags r:id="rId6"/>
            </p:custDataLst>
          </p:nvPr>
        </p:nvSpPr>
        <p:spPr>
          <a:xfrm>
            <a:off x="8178800" y="1727200"/>
            <a:ext cx="3759200" cy="2336800"/>
          </a:xfrm>
          <a:custGeom>
            <a:avLst/>
            <a:gdLst/>
            <a:ahLst/>
            <a:cxnLst/>
            <a:rect l="l" t="t" r="r" b="b"/>
            <a:pathLst>
              <a:path w="3759200" h="2336800">
                <a:moveTo>
                  <a:pt x="101604" y="0"/>
                </a:moveTo>
                <a:lnTo>
                  <a:pt x="3657596" y="0"/>
                </a:lnTo>
                <a:cubicBezTo>
                  <a:pt x="3713710" y="0"/>
                  <a:pt x="3759200" y="45490"/>
                  <a:pt x="3759200" y="101604"/>
                </a:cubicBezTo>
                <a:lnTo>
                  <a:pt x="3759200" y="2235196"/>
                </a:lnTo>
                <a:cubicBezTo>
                  <a:pt x="3759200" y="2291310"/>
                  <a:pt x="3713710" y="2336800"/>
                  <a:pt x="3657596" y="2336800"/>
                </a:cubicBezTo>
                <a:lnTo>
                  <a:pt x="101604" y="2336800"/>
                </a:lnTo>
                <a:cubicBezTo>
                  <a:pt x="45490" y="2336800"/>
                  <a:pt x="0" y="2291310"/>
                  <a:pt x="0" y="2235196"/>
                </a:cubicBezTo>
                <a:lnTo>
                  <a:pt x="0" y="101604"/>
                </a:lnTo>
                <a:cubicBezTo>
                  <a:pt x="0" y="45527"/>
                  <a:pt x="45527" y="0"/>
                  <a:pt x="101604" y="0"/>
                </a:cubicBezTo>
                <a:close/>
              </a:path>
            </a:pathLst>
          </a:custGeom>
          <a:solidFill>
            <a:srgbClr val="007BFF">
              <a:alpha val="10196"/>
            </a:srgbClr>
          </a:solidFill>
        </p:spPr>
      </p:sp>
      <p:sp>
        <p:nvSpPr>
          <p:cNvPr id="13" name="Text 10"/>
          <p:cNvSpPr/>
          <p:nvPr>
            <p:custDataLst>
              <p:tags r:id="rId7"/>
            </p:custDataLst>
          </p:nvPr>
        </p:nvSpPr>
        <p:spPr>
          <a:xfrm>
            <a:off x="8382000" y="2335530"/>
            <a:ext cx="3441700" cy="991870"/>
          </a:xfrm>
          <a:prstGeom prst="rect">
            <a:avLst/>
          </a:prstGeom>
          <a:noFill/>
        </p:spPr>
        <p:txBody>
          <a:bodyPr wrap="square" lIns="0" tIns="0" rIns="0" bIns="0" rtlCol="0" anchor="ctr"/>
          <a:lstStyle/>
          <a:p>
            <a:pPr>
              <a:lnSpc>
                <a:spcPct val="120000"/>
              </a:lnSpc>
            </a:pPr>
            <a:r>
              <a:rPr lang="en-US" altLang="zh-CN" sz="1600" dirty="0"/>
              <a:t>Movements and self-care: Insufficient ability to stand on one foot, </a:t>
            </a:r>
            <a:r>
              <a:rPr lang="en-US" altLang="zh-CN" sz="1600" dirty="0">
                <a:solidFill>
                  <a:srgbClr val="FF0000"/>
                </a:solidFill>
              </a:rPr>
              <a:t>jump, and do paper-cutting</a:t>
            </a:r>
            <a:r>
              <a:rPr lang="en-US" altLang="zh-CN" sz="1600" dirty="0"/>
              <a:t>, etc. Relies on mother for cleaning tasks such as washing the face and taking a bath.</a:t>
            </a:r>
            <a:endParaRPr lang="en-US" altLang="zh-CN" sz="1600" dirty="0"/>
          </a:p>
        </p:txBody>
      </p:sp>
      <p:sp>
        <p:nvSpPr>
          <p:cNvPr id="14" name="Shape 11"/>
          <p:cNvSpPr/>
          <p:nvPr>
            <p:custDataLst>
              <p:tags r:id="rId8"/>
            </p:custDataLst>
          </p:nvPr>
        </p:nvSpPr>
        <p:spPr>
          <a:xfrm>
            <a:off x="254000" y="4267200"/>
            <a:ext cx="3759200" cy="2336800"/>
          </a:xfrm>
          <a:custGeom>
            <a:avLst/>
            <a:gdLst/>
            <a:ahLst/>
            <a:cxnLst/>
            <a:rect l="l" t="t" r="r" b="b"/>
            <a:pathLst>
              <a:path w="3759200" h="2336800">
                <a:moveTo>
                  <a:pt x="101604" y="0"/>
                </a:moveTo>
                <a:lnTo>
                  <a:pt x="3657596" y="0"/>
                </a:lnTo>
                <a:cubicBezTo>
                  <a:pt x="3713710" y="0"/>
                  <a:pt x="3759200" y="45490"/>
                  <a:pt x="3759200" y="101604"/>
                </a:cubicBezTo>
                <a:lnTo>
                  <a:pt x="3759200" y="2235196"/>
                </a:lnTo>
                <a:cubicBezTo>
                  <a:pt x="3759200" y="2291310"/>
                  <a:pt x="3713710" y="2336800"/>
                  <a:pt x="3657596" y="2336800"/>
                </a:cubicBezTo>
                <a:lnTo>
                  <a:pt x="101604" y="2336800"/>
                </a:lnTo>
                <a:cubicBezTo>
                  <a:pt x="45490" y="2336800"/>
                  <a:pt x="0" y="2291310"/>
                  <a:pt x="0" y="2235196"/>
                </a:cubicBezTo>
                <a:lnTo>
                  <a:pt x="0" y="101604"/>
                </a:lnTo>
                <a:cubicBezTo>
                  <a:pt x="0" y="45527"/>
                  <a:pt x="45527" y="0"/>
                  <a:pt x="101604" y="0"/>
                </a:cubicBezTo>
                <a:close/>
              </a:path>
            </a:pathLst>
          </a:custGeom>
          <a:solidFill>
            <a:srgbClr val="007BFF">
              <a:alpha val="10196"/>
            </a:srgbClr>
          </a:solidFill>
        </p:spPr>
      </p:sp>
      <p:sp>
        <p:nvSpPr>
          <p:cNvPr id="16" name="Text 13"/>
          <p:cNvSpPr/>
          <p:nvPr>
            <p:custDataLst>
              <p:tags r:id="rId9"/>
            </p:custDataLst>
          </p:nvPr>
        </p:nvSpPr>
        <p:spPr>
          <a:xfrm>
            <a:off x="457200" y="4850765"/>
            <a:ext cx="3441700" cy="1016635"/>
          </a:xfrm>
          <a:prstGeom prst="rect">
            <a:avLst/>
          </a:prstGeom>
          <a:noFill/>
        </p:spPr>
        <p:txBody>
          <a:bodyPr wrap="square" lIns="0" tIns="0" rIns="0" bIns="0" rtlCol="0" anchor="ctr"/>
          <a:lstStyle/>
          <a:p>
            <a:pPr>
              <a:lnSpc>
                <a:spcPct val="120000"/>
              </a:lnSpc>
            </a:pPr>
            <a:r>
              <a:rPr lang="en-US" altLang="zh-CN" sz="1600" dirty="0"/>
              <a:t>Social adaptation: Mild limitation of social adaptation function, at the level of </a:t>
            </a:r>
            <a:r>
              <a:rPr lang="en-US" altLang="zh-CN" sz="1600" dirty="0">
                <a:solidFill>
                  <a:srgbClr val="FF0000"/>
                </a:solidFill>
              </a:rPr>
              <a:t>5 to 6 years and 5 months old</a:t>
            </a:r>
            <a:r>
              <a:rPr lang="en-US" altLang="zh-CN" sz="1600" dirty="0"/>
              <a:t>, with severe insufficiency in self-management and independent living abilities.</a:t>
            </a:r>
            <a:endParaRPr lang="en-US" altLang="zh-CN" sz="1600" dirty="0"/>
          </a:p>
        </p:txBody>
      </p:sp>
      <p:sp>
        <p:nvSpPr>
          <p:cNvPr id="17" name="Shape 14"/>
          <p:cNvSpPr/>
          <p:nvPr>
            <p:custDataLst>
              <p:tags r:id="rId10"/>
            </p:custDataLst>
          </p:nvPr>
        </p:nvSpPr>
        <p:spPr>
          <a:xfrm>
            <a:off x="4216400" y="4267200"/>
            <a:ext cx="3759200" cy="2336800"/>
          </a:xfrm>
          <a:custGeom>
            <a:avLst/>
            <a:gdLst/>
            <a:ahLst/>
            <a:cxnLst/>
            <a:rect l="l" t="t" r="r" b="b"/>
            <a:pathLst>
              <a:path w="3759200" h="2336800">
                <a:moveTo>
                  <a:pt x="101604" y="0"/>
                </a:moveTo>
                <a:lnTo>
                  <a:pt x="3657596" y="0"/>
                </a:lnTo>
                <a:cubicBezTo>
                  <a:pt x="3713710" y="0"/>
                  <a:pt x="3759200" y="45490"/>
                  <a:pt x="3759200" y="101604"/>
                </a:cubicBezTo>
                <a:lnTo>
                  <a:pt x="3759200" y="2235196"/>
                </a:lnTo>
                <a:cubicBezTo>
                  <a:pt x="3759200" y="2291310"/>
                  <a:pt x="3713710" y="2336800"/>
                  <a:pt x="3657596" y="2336800"/>
                </a:cubicBezTo>
                <a:lnTo>
                  <a:pt x="101604" y="2336800"/>
                </a:lnTo>
                <a:cubicBezTo>
                  <a:pt x="45490" y="2336800"/>
                  <a:pt x="0" y="2291310"/>
                  <a:pt x="0" y="2235196"/>
                </a:cubicBezTo>
                <a:lnTo>
                  <a:pt x="0" y="101604"/>
                </a:lnTo>
                <a:cubicBezTo>
                  <a:pt x="0" y="45527"/>
                  <a:pt x="45527" y="0"/>
                  <a:pt x="101604" y="0"/>
                </a:cubicBezTo>
                <a:close/>
              </a:path>
            </a:pathLst>
          </a:custGeom>
          <a:solidFill>
            <a:srgbClr val="007BFF">
              <a:alpha val="10196"/>
            </a:srgbClr>
          </a:solidFill>
        </p:spPr>
      </p:sp>
      <p:sp>
        <p:nvSpPr>
          <p:cNvPr id="19" name="Text 16"/>
          <p:cNvSpPr/>
          <p:nvPr>
            <p:custDataLst>
              <p:tags r:id="rId11"/>
            </p:custDataLst>
          </p:nvPr>
        </p:nvSpPr>
        <p:spPr>
          <a:xfrm>
            <a:off x="4419600" y="5181600"/>
            <a:ext cx="3441700" cy="508000"/>
          </a:xfrm>
          <a:prstGeom prst="rect">
            <a:avLst/>
          </a:prstGeom>
          <a:noFill/>
        </p:spPr>
        <p:txBody>
          <a:bodyPr wrap="square" lIns="0" tIns="0" rIns="0" bIns="0" rtlCol="0" anchor="ctr"/>
          <a:lstStyle/>
          <a:p>
            <a:pPr>
              <a:lnSpc>
                <a:spcPct val="120000"/>
              </a:lnSpc>
            </a:pPr>
            <a:r>
              <a:rPr lang="en-US" altLang="zh-CN" sz="1600" dirty="0"/>
              <a:t>Emotions and behaviors: Poor emotional regulation ability, with behaviors such as </a:t>
            </a:r>
            <a:r>
              <a:rPr lang="en-US" altLang="zh-CN" sz="1600" dirty="0">
                <a:solidFill>
                  <a:srgbClr val="FF0000"/>
                </a:solidFill>
              </a:rPr>
              <a:t>pushing others and holding people from behind, poor classroom discipline, and difficulty sitting still.</a:t>
            </a:r>
            <a:endParaRPr lang="en-US" altLang="zh-CN" sz="1600" dirty="0">
              <a:solidFill>
                <a:srgbClr val="FF0000"/>
              </a:solidFill>
            </a:endParaRPr>
          </a:p>
        </p:txBody>
      </p:sp>
      <p:pic>
        <p:nvPicPr>
          <p:cNvPr id="20" name="Image 1" descr="https://kimi-web-img.moonshot.cn/img/xpic.x-mol.com/0b785d9a71ecf71b5bf892d8d0bf91d5fd79c170.jpg"/>
          <p:cNvPicPr>
            <a:picLocks noChangeAspect="1"/>
          </p:cNvPicPr>
          <p:nvPr>
            <p:custDataLst>
              <p:tags r:id="rId12"/>
            </p:custDataLst>
          </p:nvPr>
        </p:nvPicPr>
        <p:blipFill>
          <a:blip r:embed="rId13"/>
          <a:srcRect l="4796" r="4796"/>
          <a:stretch>
            <a:fillRect/>
          </a:stretch>
        </p:blipFill>
        <p:spPr>
          <a:xfrm>
            <a:off x="8178800" y="4267200"/>
            <a:ext cx="3759200" cy="2336800"/>
          </a:xfrm>
          <a:prstGeom prst="roundRect">
            <a:avLst>
              <a:gd name="adj" fmla="val 4348"/>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Text 0"/>
          <p:cNvSpPr/>
          <p:nvPr/>
        </p:nvSpPr>
        <p:spPr>
          <a:xfrm>
            <a:off x="669925" y="927100"/>
            <a:ext cx="10427970" cy="457200"/>
          </a:xfrm>
          <a:prstGeom prst="rect">
            <a:avLst/>
          </a:prstGeom>
          <a:noFill/>
        </p:spPr>
        <p:txBody>
          <a:bodyPr wrap="square" lIns="0" tIns="0" rIns="0" bIns="0" rtlCol="0" anchor="ctr"/>
          <a:lstStyle/>
          <a:p>
            <a:pPr>
              <a:lnSpc>
                <a:spcPct val="100000"/>
              </a:lnSpc>
            </a:pPr>
            <a:r>
              <a:rPr lang="en-US" altLang="zh-CN" sz="1600" dirty="0"/>
              <a:t>Executive Function Perspective: How Does ADHD </a:t>
            </a:r>
            <a:r>
              <a:rPr lang="en-US" altLang="zh-CN" sz="1600" dirty="0">
                <a:solidFill>
                  <a:srgbClr val="FF0000"/>
                </a:solidFill>
              </a:rPr>
              <a:t>Drag Down the Learning Chain</a:t>
            </a:r>
            <a:endParaRPr lang="en-US" altLang="zh-CN" sz="1600" dirty="0">
              <a:solidFill>
                <a:srgbClr val="FF0000"/>
              </a:solidFill>
            </a:endParaRPr>
          </a:p>
        </p:txBody>
      </p:sp>
      <p:sp>
        <p:nvSpPr>
          <p:cNvPr id="4" name="Text 1"/>
          <p:cNvSpPr/>
          <p:nvPr/>
        </p:nvSpPr>
        <p:spPr>
          <a:xfrm>
            <a:off x="1427480" y="1854200"/>
            <a:ext cx="9097645" cy="609600"/>
          </a:xfrm>
          <a:prstGeom prst="rect">
            <a:avLst/>
          </a:prstGeom>
          <a:noFill/>
        </p:spPr>
        <p:txBody>
          <a:bodyPr wrap="square" lIns="0" tIns="0" rIns="0" bIns="0" rtlCol="0" anchor="ctr"/>
          <a:lstStyle/>
          <a:p>
            <a:pPr>
              <a:lnSpc>
                <a:spcPct val="130000"/>
              </a:lnSpc>
            </a:pPr>
            <a:r>
              <a:rPr lang="en-US" altLang="zh-CN" sz="1600" dirty="0"/>
              <a:t>The executive function theory holds that the essence of ADHD is a </a:t>
            </a:r>
            <a:r>
              <a:rPr lang="en-US" altLang="zh-CN" sz="1600" dirty="0">
                <a:solidFill>
                  <a:srgbClr val="FF0000"/>
                </a:solidFill>
              </a:rPr>
              <a:t>regulatory defect</a:t>
            </a:r>
            <a:r>
              <a:rPr lang="en-US" altLang="zh-CN" sz="1600" dirty="0"/>
              <a:t> in the prefrontal cortex of the brain, which leads to a </a:t>
            </a:r>
            <a:r>
              <a:rPr lang="en-US" altLang="zh-CN" sz="1600" dirty="0">
                <a:solidFill>
                  <a:srgbClr val="FF0000"/>
                </a:solidFill>
              </a:rPr>
              <a:t>systemic collapse</a:t>
            </a:r>
            <a:r>
              <a:rPr lang="en-US" altLang="zh-CN" sz="1600" dirty="0"/>
              <a:t> in the four core links of Xiaoxu, forming a vicious cycle.</a:t>
            </a:r>
            <a:endParaRPr lang="en-US" altLang="zh-CN" sz="1600" dirty="0"/>
          </a:p>
        </p:txBody>
      </p:sp>
      <p:sp>
        <p:nvSpPr>
          <p:cNvPr id="5" name="Shape 2"/>
          <p:cNvSpPr/>
          <p:nvPr/>
        </p:nvSpPr>
        <p:spPr>
          <a:xfrm>
            <a:off x="1092200" y="2921000"/>
            <a:ext cx="1016000" cy="1016000"/>
          </a:xfrm>
          <a:custGeom>
            <a:avLst/>
            <a:gdLst/>
            <a:ahLst/>
            <a:cxnLst/>
            <a:rect l="l" t="t" r="r" b="b"/>
            <a:pathLst>
              <a:path w="1016000" h="1016000">
                <a:moveTo>
                  <a:pt x="508000" y="0"/>
                </a:moveTo>
                <a:lnTo>
                  <a:pt x="508000" y="0"/>
                </a:lnTo>
                <a:cubicBezTo>
                  <a:pt x="788373" y="0"/>
                  <a:pt x="1016000" y="227627"/>
                  <a:pt x="1016000" y="508000"/>
                </a:cubicBezTo>
                <a:lnTo>
                  <a:pt x="1016000" y="508000"/>
                </a:lnTo>
                <a:cubicBezTo>
                  <a:pt x="1016000" y="788373"/>
                  <a:pt x="788373" y="1016000"/>
                  <a:pt x="508000" y="1016000"/>
                </a:cubicBezTo>
                <a:lnTo>
                  <a:pt x="508000" y="1016000"/>
                </a:lnTo>
                <a:cubicBezTo>
                  <a:pt x="227627" y="1016000"/>
                  <a:pt x="0" y="788373"/>
                  <a:pt x="0" y="508000"/>
                </a:cubicBezTo>
                <a:lnTo>
                  <a:pt x="0" y="508000"/>
                </a:lnTo>
                <a:cubicBezTo>
                  <a:pt x="0" y="227627"/>
                  <a:pt x="227627" y="0"/>
                  <a:pt x="508000" y="0"/>
                </a:cubicBezTo>
                <a:close/>
              </a:path>
            </a:pathLst>
          </a:custGeom>
          <a:solidFill>
            <a:srgbClr val="007BFF">
              <a:alpha val="20000"/>
            </a:srgbClr>
          </a:solidFill>
        </p:spPr>
      </p:sp>
      <p:sp>
        <p:nvSpPr>
          <p:cNvPr id="6" name="Shape 3"/>
          <p:cNvSpPr/>
          <p:nvPr/>
        </p:nvSpPr>
        <p:spPr>
          <a:xfrm>
            <a:off x="1389063" y="3238500"/>
            <a:ext cx="428625" cy="381000"/>
          </a:xfrm>
          <a:custGeom>
            <a:avLst/>
            <a:gdLst/>
            <a:ahLst/>
            <a:cxnLst/>
            <a:rect l="l" t="t" r="r" b="b"/>
            <a:pathLst>
              <a:path w="428625" h="381000">
                <a:moveTo>
                  <a:pt x="30510" y="-18529"/>
                </a:moveTo>
                <a:cubicBezTo>
                  <a:pt x="23515" y="-25524"/>
                  <a:pt x="12204" y="-25524"/>
                  <a:pt x="5283" y="-18529"/>
                </a:cubicBezTo>
                <a:cubicBezTo>
                  <a:pt x="-1637" y="-11534"/>
                  <a:pt x="-1712" y="-223"/>
                  <a:pt x="5209" y="6772"/>
                </a:cubicBezTo>
                <a:lnTo>
                  <a:pt x="398115" y="399678"/>
                </a:lnTo>
                <a:cubicBezTo>
                  <a:pt x="405110" y="406673"/>
                  <a:pt x="416421" y="406673"/>
                  <a:pt x="423342" y="399678"/>
                </a:cubicBezTo>
                <a:cubicBezTo>
                  <a:pt x="430262" y="392683"/>
                  <a:pt x="430337" y="381372"/>
                  <a:pt x="423342" y="374452"/>
                </a:cubicBezTo>
                <a:lnTo>
                  <a:pt x="351606" y="302716"/>
                </a:lnTo>
                <a:cubicBezTo>
                  <a:pt x="353616" y="300930"/>
                  <a:pt x="355625" y="299145"/>
                  <a:pt x="357560" y="297359"/>
                </a:cubicBezTo>
                <a:cubicBezTo>
                  <a:pt x="392385" y="264988"/>
                  <a:pt x="415677" y="226368"/>
                  <a:pt x="426765" y="199802"/>
                </a:cubicBezTo>
                <a:cubicBezTo>
                  <a:pt x="429220" y="193923"/>
                  <a:pt x="429220" y="187375"/>
                  <a:pt x="426765" y="181496"/>
                </a:cubicBezTo>
                <a:cubicBezTo>
                  <a:pt x="415677" y="154930"/>
                  <a:pt x="392385" y="116235"/>
                  <a:pt x="357560" y="83939"/>
                </a:cubicBezTo>
                <a:cubicBezTo>
                  <a:pt x="322511" y="51420"/>
                  <a:pt x="274365" y="23961"/>
                  <a:pt x="214238" y="23961"/>
                </a:cubicBezTo>
                <a:cubicBezTo>
                  <a:pt x="171971" y="23961"/>
                  <a:pt x="135657" y="37505"/>
                  <a:pt x="105594" y="56852"/>
                </a:cubicBezTo>
                <a:lnTo>
                  <a:pt x="30510" y="-18529"/>
                </a:lnTo>
                <a:close/>
                <a:moveTo>
                  <a:pt x="152177" y="103212"/>
                </a:moveTo>
                <a:cubicBezTo>
                  <a:pt x="169664" y="90711"/>
                  <a:pt x="191170" y="83344"/>
                  <a:pt x="214313" y="83344"/>
                </a:cubicBezTo>
                <a:cubicBezTo>
                  <a:pt x="273472" y="83344"/>
                  <a:pt x="321469" y="131341"/>
                  <a:pt x="321469" y="190500"/>
                </a:cubicBezTo>
                <a:cubicBezTo>
                  <a:pt x="321469" y="213643"/>
                  <a:pt x="314102" y="235074"/>
                  <a:pt x="301600" y="252636"/>
                </a:cubicBezTo>
                <a:lnTo>
                  <a:pt x="275779" y="226814"/>
                </a:lnTo>
                <a:cubicBezTo>
                  <a:pt x="285229" y="210889"/>
                  <a:pt x="288429" y="191319"/>
                  <a:pt x="283294" y="171971"/>
                </a:cubicBezTo>
                <a:cubicBezTo>
                  <a:pt x="273100" y="133871"/>
                  <a:pt x="233883" y="111249"/>
                  <a:pt x="195783" y="121444"/>
                </a:cubicBezTo>
                <a:cubicBezTo>
                  <a:pt x="189384" y="123155"/>
                  <a:pt x="183356" y="125685"/>
                  <a:pt x="177924" y="128885"/>
                </a:cubicBezTo>
                <a:lnTo>
                  <a:pt x="152102" y="103063"/>
                </a:lnTo>
                <a:close/>
                <a:moveTo>
                  <a:pt x="242069" y="294010"/>
                </a:moveTo>
                <a:cubicBezTo>
                  <a:pt x="233214" y="296391"/>
                  <a:pt x="223912" y="297656"/>
                  <a:pt x="214313" y="297656"/>
                </a:cubicBezTo>
                <a:cubicBezTo>
                  <a:pt x="155153" y="297656"/>
                  <a:pt x="107156" y="249659"/>
                  <a:pt x="107156" y="190500"/>
                </a:cubicBezTo>
                <a:cubicBezTo>
                  <a:pt x="107156" y="180901"/>
                  <a:pt x="108421" y="171599"/>
                  <a:pt x="110803" y="162744"/>
                </a:cubicBezTo>
                <a:lnTo>
                  <a:pt x="51643" y="103584"/>
                </a:lnTo>
                <a:cubicBezTo>
                  <a:pt x="27384" y="130969"/>
                  <a:pt x="10716" y="159990"/>
                  <a:pt x="1860" y="181347"/>
                </a:cubicBezTo>
                <a:cubicBezTo>
                  <a:pt x="-595" y="187226"/>
                  <a:pt x="-595" y="193774"/>
                  <a:pt x="1860" y="199653"/>
                </a:cubicBezTo>
                <a:cubicBezTo>
                  <a:pt x="12948" y="226219"/>
                  <a:pt x="36240" y="264914"/>
                  <a:pt x="71065" y="297210"/>
                </a:cubicBezTo>
                <a:cubicBezTo>
                  <a:pt x="106114" y="329729"/>
                  <a:pt x="154260" y="357188"/>
                  <a:pt x="214387" y="357188"/>
                </a:cubicBezTo>
                <a:cubicBezTo>
                  <a:pt x="242143" y="357188"/>
                  <a:pt x="267370" y="351309"/>
                  <a:pt x="289917" y="341858"/>
                </a:cubicBezTo>
                <a:lnTo>
                  <a:pt x="242143" y="294084"/>
                </a:lnTo>
                <a:close/>
              </a:path>
            </a:pathLst>
          </a:custGeom>
          <a:solidFill>
            <a:srgbClr val="007BFF"/>
          </a:solidFill>
        </p:spPr>
      </p:sp>
      <p:sp>
        <p:nvSpPr>
          <p:cNvPr id="7" name="Text 4"/>
          <p:cNvSpPr/>
          <p:nvPr/>
        </p:nvSpPr>
        <p:spPr>
          <a:xfrm>
            <a:off x="838200" y="4038600"/>
            <a:ext cx="1524000" cy="304800"/>
          </a:xfrm>
          <a:prstGeom prst="rect">
            <a:avLst/>
          </a:prstGeom>
          <a:noFill/>
        </p:spPr>
        <p:txBody>
          <a:bodyPr wrap="square" lIns="0" tIns="0" rIns="0" bIns="0" rtlCol="0" anchor="ctr"/>
          <a:lstStyle/>
          <a:p>
            <a:pPr algn="ct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注意力控制缺陷</a:t>
            </a:r>
            <a:endParaRPr lang="en-US" sz="1600" dirty="0"/>
          </a:p>
        </p:txBody>
      </p:sp>
      <p:sp>
        <p:nvSpPr>
          <p:cNvPr id="8" name="Text 5"/>
          <p:cNvSpPr/>
          <p:nvPr/>
        </p:nvSpPr>
        <p:spPr>
          <a:xfrm>
            <a:off x="755650" y="4343400"/>
            <a:ext cx="1689100" cy="254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无法集中，阅读漏字</a:t>
            </a:r>
            <a:endParaRPr lang="en-US" sz="1600" dirty="0"/>
          </a:p>
        </p:txBody>
      </p:sp>
      <p:sp>
        <p:nvSpPr>
          <p:cNvPr id="9" name="Text 6"/>
          <p:cNvSpPr/>
          <p:nvPr/>
        </p:nvSpPr>
        <p:spPr>
          <a:xfrm>
            <a:off x="2946400" y="3556000"/>
            <a:ext cx="457200" cy="406400"/>
          </a:xfrm>
          <a:prstGeom prst="rect">
            <a:avLst/>
          </a:prstGeom>
          <a:noFill/>
        </p:spPr>
        <p:txBody>
          <a:bodyPr wrap="square" lIns="0" tIns="0" rIns="0" bIns="0" rtlCol="0" anchor="ctr"/>
          <a:lstStyle/>
          <a:p>
            <a:pPr>
              <a:lnSpc>
                <a:spcPct val="110000"/>
              </a:lnSpc>
            </a:pPr>
            <a:r>
              <a:rPr lang="en-US" sz="24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10" name="Shape 7"/>
          <p:cNvSpPr/>
          <p:nvPr/>
        </p:nvSpPr>
        <p:spPr>
          <a:xfrm>
            <a:off x="4089400" y="2921000"/>
            <a:ext cx="1016000" cy="1016000"/>
          </a:xfrm>
          <a:custGeom>
            <a:avLst/>
            <a:gdLst/>
            <a:ahLst/>
            <a:cxnLst/>
            <a:rect l="l" t="t" r="r" b="b"/>
            <a:pathLst>
              <a:path w="1016000" h="1016000">
                <a:moveTo>
                  <a:pt x="508000" y="0"/>
                </a:moveTo>
                <a:lnTo>
                  <a:pt x="508000" y="0"/>
                </a:lnTo>
                <a:cubicBezTo>
                  <a:pt x="788373" y="0"/>
                  <a:pt x="1016000" y="227627"/>
                  <a:pt x="1016000" y="508000"/>
                </a:cubicBezTo>
                <a:lnTo>
                  <a:pt x="1016000" y="508000"/>
                </a:lnTo>
                <a:cubicBezTo>
                  <a:pt x="1016000" y="788373"/>
                  <a:pt x="788373" y="1016000"/>
                  <a:pt x="508000" y="1016000"/>
                </a:cubicBezTo>
                <a:lnTo>
                  <a:pt x="508000" y="1016000"/>
                </a:lnTo>
                <a:cubicBezTo>
                  <a:pt x="227627" y="1016000"/>
                  <a:pt x="0" y="788373"/>
                  <a:pt x="0" y="508000"/>
                </a:cubicBezTo>
                <a:lnTo>
                  <a:pt x="0" y="508000"/>
                </a:lnTo>
                <a:cubicBezTo>
                  <a:pt x="0" y="227627"/>
                  <a:pt x="227627" y="0"/>
                  <a:pt x="508000" y="0"/>
                </a:cubicBezTo>
                <a:close/>
              </a:path>
            </a:pathLst>
          </a:custGeom>
          <a:solidFill>
            <a:srgbClr val="007BFF">
              <a:alpha val="20000"/>
            </a:srgbClr>
          </a:solidFill>
        </p:spPr>
      </p:sp>
      <p:sp>
        <p:nvSpPr>
          <p:cNvPr id="11" name="Shape 8"/>
          <p:cNvSpPr/>
          <p:nvPr/>
        </p:nvSpPr>
        <p:spPr>
          <a:xfrm>
            <a:off x="4410075" y="3238500"/>
            <a:ext cx="381000" cy="381000"/>
          </a:xfrm>
          <a:custGeom>
            <a:avLst/>
            <a:gdLst/>
            <a:ahLst/>
            <a:cxnLst/>
            <a:rect l="l" t="t" r="r" b="b"/>
            <a:pathLst>
              <a:path w="381000" h="381000">
                <a:moveTo>
                  <a:pt x="214313" y="23812"/>
                </a:moveTo>
                <a:cubicBezTo>
                  <a:pt x="214313" y="10641"/>
                  <a:pt x="203671" y="0"/>
                  <a:pt x="190500" y="0"/>
                </a:cubicBezTo>
                <a:cubicBezTo>
                  <a:pt x="177329" y="0"/>
                  <a:pt x="166688" y="10641"/>
                  <a:pt x="166688" y="23812"/>
                </a:cubicBezTo>
                <a:lnTo>
                  <a:pt x="166688" y="178594"/>
                </a:lnTo>
                <a:cubicBezTo>
                  <a:pt x="166688" y="185142"/>
                  <a:pt x="161330" y="190500"/>
                  <a:pt x="154781" y="190500"/>
                </a:cubicBezTo>
                <a:cubicBezTo>
                  <a:pt x="148233" y="190500"/>
                  <a:pt x="142875" y="185142"/>
                  <a:pt x="142875" y="178594"/>
                </a:cubicBezTo>
                <a:lnTo>
                  <a:pt x="142875" y="47625"/>
                </a:lnTo>
                <a:cubicBezTo>
                  <a:pt x="142875" y="34454"/>
                  <a:pt x="132234" y="23812"/>
                  <a:pt x="119063" y="23812"/>
                </a:cubicBezTo>
                <a:cubicBezTo>
                  <a:pt x="105891" y="23812"/>
                  <a:pt x="95250" y="34454"/>
                  <a:pt x="95250" y="47625"/>
                </a:cubicBezTo>
                <a:lnTo>
                  <a:pt x="95250" y="250031"/>
                </a:lnTo>
                <a:cubicBezTo>
                  <a:pt x="95250" y="251147"/>
                  <a:pt x="95250" y="252338"/>
                  <a:pt x="95324" y="253454"/>
                </a:cubicBezTo>
                <a:lnTo>
                  <a:pt x="50304" y="210592"/>
                </a:lnTo>
                <a:cubicBezTo>
                  <a:pt x="38398" y="199281"/>
                  <a:pt x="19571" y="199727"/>
                  <a:pt x="8186" y="211634"/>
                </a:cubicBezTo>
                <a:cubicBezTo>
                  <a:pt x="-3200" y="223540"/>
                  <a:pt x="-2679" y="242367"/>
                  <a:pt x="9227" y="253752"/>
                </a:cubicBezTo>
                <a:lnTo>
                  <a:pt x="92869" y="333375"/>
                </a:lnTo>
                <a:cubicBezTo>
                  <a:pt x="124941" y="363959"/>
                  <a:pt x="167580" y="381000"/>
                  <a:pt x="211931" y="381000"/>
                </a:cubicBezTo>
                <a:lnTo>
                  <a:pt x="226219" y="381000"/>
                </a:lnTo>
                <a:cubicBezTo>
                  <a:pt x="298549" y="381000"/>
                  <a:pt x="357188" y="322362"/>
                  <a:pt x="357188" y="250031"/>
                </a:cubicBezTo>
                <a:lnTo>
                  <a:pt x="357188" y="95250"/>
                </a:lnTo>
                <a:cubicBezTo>
                  <a:pt x="357188" y="82079"/>
                  <a:pt x="346546" y="71438"/>
                  <a:pt x="333375" y="71438"/>
                </a:cubicBezTo>
                <a:cubicBezTo>
                  <a:pt x="320204" y="71438"/>
                  <a:pt x="309563" y="82079"/>
                  <a:pt x="309563" y="95250"/>
                </a:cubicBezTo>
                <a:lnTo>
                  <a:pt x="309563" y="178594"/>
                </a:lnTo>
                <a:cubicBezTo>
                  <a:pt x="309563" y="185142"/>
                  <a:pt x="304205" y="190500"/>
                  <a:pt x="297656" y="190500"/>
                </a:cubicBezTo>
                <a:cubicBezTo>
                  <a:pt x="291108" y="190500"/>
                  <a:pt x="285750" y="185142"/>
                  <a:pt x="285750" y="178594"/>
                </a:cubicBezTo>
                <a:lnTo>
                  <a:pt x="285750" y="47625"/>
                </a:lnTo>
                <a:cubicBezTo>
                  <a:pt x="285750" y="34454"/>
                  <a:pt x="275109" y="23812"/>
                  <a:pt x="261938" y="23812"/>
                </a:cubicBezTo>
                <a:cubicBezTo>
                  <a:pt x="248766" y="23812"/>
                  <a:pt x="238125" y="34454"/>
                  <a:pt x="238125" y="47625"/>
                </a:cubicBezTo>
                <a:lnTo>
                  <a:pt x="238125" y="178594"/>
                </a:lnTo>
                <a:cubicBezTo>
                  <a:pt x="238125" y="185142"/>
                  <a:pt x="232767" y="190500"/>
                  <a:pt x="226219" y="190500"/>
                </a:cubicBezTo>
                <a:cubicBezTo>
                  <a:pt x="219670" y="190500"/>
                  <a:pt x="214313" y="185142"/>
                  <a:pt x="214313" y="178594"/>
                </a:cubicBezTo>
                <a:lnTo>
                  <a:pt x="214313" y="23812"/>
                </a:lnTo>
                <a:close/>
              </a:path>
            </a:pathLst>
          </a:custGeom>
          <a:solidFill>
            <a:srgbClr val="007BFF"/>
          </a:solidFill>
        </p:spPr>
      </p:sp>
      <p:sp>
        <p:nvSpPr>
          <p:cNvPr id="12" name="Text 9"/>
          <p:cNvSpPr/>
          <p:nvPr/>
        </p:nvSpPr>
        <p:spPr>
          <a:xfrm>
            <a:off x="3937000" y="4038600"/>
            <a:ext cx="1320800" cy="304800"/>
          </a:xfrm>
          <a:prstGeom prst="rect">
            <a:avLst/>
          </a:prstGeom>
          <a:noFill/>
        </p:spPr>
        <p:txBody>
          <a:bodyPr wrap="square" lIns="0" tIns="0" rIns="0" bIns="0" rtlCol="0" anchor="ctr"/>
          <a:lstStyle/>
          <a:p>
            <a:pPr algn="ct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抑制冲动不足</a:t>
            </a:r>
            <a:endParaRPr lang="en-US" sz="1600" dirty="0"/>
          </a:p>
        </p:txBody>
      </p:sp>
      <p:sp>
        <p:nvSpPr>
          <p:cNvPr id="13" name="Text 10"/>
          <p:cNvSpPr/>
          <p:nvPr/>
        </p:nvSpPr>
        <p:spPr>
          <a:xfrm>
            <a:off x="3752850" y="4343400"/>
            <a:ext cx="1689100" cy="254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随意离座，社交推人</a:t>
            </a:r>
            <a:endParaRPr lang="en-US" sz="1600" dirty="0"/>
          </a:p>
        </p:txBody>
      </p:sp>
      <p:sp>
        <p:nvSpPr>
          <p:cNvPr id="14" name="Text 11"/>
          <p:cNvSpPr/>
          <p:nvPr/>
        </p:nvSpPr>
        <p:spPr>
          <a:xfrm>
            <a:off x="5943600" y="3556000"/>
            <a:ext cx="457200" cy="406400"/>
          </a:xfrm>
          <a:prstGeom prst="rect">
            <a:avLst/>
          </a:prstGeom>
          <a:noFill/>
        </p:spPr>
        <p:txBody>
          <a:bodyPr wrap="square" lIns="0" tIns="0" rIns="0" bIns="0" rtlCol="0" anchor="ctr"/>
          <a:lstStyle/>
          <a:p>
            <a:pPr>
              <a:lnSpc>
                <a:spcPct val="110000"/>
              </a:lnSpc>
            </a:pPr>
            <a:r>
              <a:rPr lang="en-US" sz="24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15" name="Shape 12"/>
          <p:cNvSpPr/>
          <p:nvPr/>
        </p:nvSpPr>
        <p:spPr>
          <a:xfrm>
            <a:off x="7086600" y="2921000"/>
            <a:ext cx="1016000" cy="1016000"/>
          </a:xfrm>
          <a:custGeom>
            <a:avLst/>
            <a:gdLst/>
            <a:ahLst/>
            <a:cxnLst/>
            <a:rect l="l" t="t" r="r" b="b"/>
            <a:pathLst>
              <a:path w="1016000" h="1016000">
                <a:moveTo>
                  <a:pt x="508000" y="0"/>
                </a:moveTo>
                <a:lnTo>
                  <a:pt x="508000" y="0"/>
                </a:lnTo>
                <a:cubicBezTo>
                  <a:pt x="788373" y="0"/>
                  <a:pt x="1016000" y="227627"/>
                  <a:pt x="1016000" y="508000"/>
                </a:cubicBezTo>
                <a:lnTo>
                  <a:pt x="1016000" y="508000"/>
                </a:lnTo>
                <a:cubicBezTo>
                  <a:pt x="1016000" y="788373"/>
                  <a:pt x="788373" y="1016000"/>
                  <a:pt x="508000" y="1016000"/>
                </a:cubicBezTo>
                <a:lnTo>
                  <a:pt x="508000" y="1016000"/>
                </a:lnTo>
                <a:cubicBezTo>
                  <a:pt x="227627" y="1016000"/>
                  <a:pt x="0" y="788373"/>
                  <a:pt x="0" y="508000"/>
                </a:cubicBezTo>
                <a:lnTo>
                  <a:pt x="0" y="508000"/>
                </a:lnTo>
                <a:cubicBezTo>
                  <a:pt x="0" y="227627"/>
                  <a:pt x="227627" y="0"/>
                  <a:pt x="508000" y="0"/>
                </a:cubicBezTo>
                <a:close/>
              </a:path>
            </a:pathLst>
          </a:custGeom>
          <a:solidFill>
            <a:srgbClr val="007BFF">
              <a:alpha val="20000"/>
            </a:srgbClr>
          </a:solidFill>
        </p:spPr>
      </p:sp>
      <p:sp>
        <p:nvSpPr>
          <p:cNvPr id="16" name="Shape 13"/>
          <p:cNvSpPr/>
          <p:nvPr/>
        </p:nvSpPr>
        <p:spPr>
          <a:xfrm>
            <a:off x="7407275" y="3238500"/>
            <a:ext cx="381000" cy="381000"/>
          </a:xfrm>
          <a:custGeom>
            <a:avLst/>
            <a:gdLst/>
            <a:ahLst/>
            <a:cxnLst/>
            <a:rect l="l" t="t" r="r" b="b"/>
            <a:pathLst>
              <a:path w="381000" h="381000">
                <a:moveTo>
                  <a:pt x="47625" y="47625"/>
                </a:moveTo>
                <a:cubicBezTo>
                  <a:pt x="21357" y="47625"/>
                  <a:pt x="0" y="68982"/>
                  <a:pt x="0" y="95250"/>
                </a:cubicBezTo>
                <a:lnTo>
                  <a:pt x="0" y="100757"/>
                </a:lnTo>
                <a:cubicBezTo>
                  <a:pt x="0" y="105817"/>
                  <a:pt x="3274" y="110133"/>
                  <a:pt x="7516" y="112886"/>
                </a:cubicBezTo>
                <a:cubicBezTo>
                  <a:pt x="17338" y="119286"/>
                  <a:pt x="23812" y="130299"/>
                  <a:pt x="23812" y="142875"/>
                </a:cubicBezTo>
                <a:cubicBezTo>
                  <a:pt x="23812" y="155451"/>
                  <a:pt x="17338" y="166464"/>
                  <a:pt x="7516" y="172864"/>
                </a:cubicBezTo>
                <a:cubicBezTo>
                  <a:pt x="3274" y="175617"/>
                  <a:pt x="0" y="179933"/>
                  <a:pt x="0" y="184993"/>
                </a:cubicBezTo>
                <a:lnTo>
                  <a:pt x="0" y="226219"/>
                </a:lnTo>
                <a:lnTo>
                  <a:pt x="381000" y="226219"/>
                </a:lnTo>
                <a:lnTo>
                  <a:pt x="381000" y="184993"/>
                </a:lnTo>
                <a:cubicBezTo>
                  <a:pt x="381000" y="179933"/>
                  <a:pt x="377726" y="175617"/>
                  <a:pt x="373484" y="172864"/>
                </a:cubicBezTo>
                <a:cubicBezTo>
                  <a:pt x="363662" y="166464"/>
                  <a:pt x="357188" y="155451"/>
                  <a:pt x="357188" y="142875"/>
                </a:cubicBezTo>
                <a:cubicBezTo>
                  <a:pt x="357188" y="130299"/>
                  <a:pt x="363662" y="119286"/>
                  <a:pt x="373484" y="112886"/>
                </a:cubicBezTo>
                <a:cubicBezTo>
                  <a:pt x="377726" y="110133"/>
                  <a:pt x="381000" y="105817"/>
                  <a:pt x="381000" y="100757"/>
                </a:cubicBezTo>
                <a:lnTo>
                  <a:pt x="381000" y="95250"/>
                </a:lnTo>
                <a:cubicBezTo>
                  <a:pt x="381000" y="68982"/>
                  <a:pt x="359643" y="47625"/>
                  <a:pt x="333375" y="47625"/>
                </a:cubicBezTo>
                <a:lnTo>
                  <a:pt x="47625" y="47625"/>
                </a:lnTo>
                <a:close/>
                <a:moveTo>
                  <a:pt x="381000" y="309563"/>
                </a:moveTo>
                <a:lnTo>
                  <a:pt x="381000" y="261938"/>
                </a:lnTo>
                <a:lnTo>
                  <a:pt x="0" y="261938"/>
                </a:lnTo>
                <a:lnTo>
                  <a:pt x="0" y="309563"/>
                </a:lnTo>
                <a:cubicBezTo>
                  <a:pt x="0" y="322734"/>
                  <a:pt x="10641" y="333375"/>
                  <a:pt x="23812" y="333375"/>
                </a:cubicBezTo>
                <a:lnTo>
                  <a:pt x="71438" y="333375"/>
                </a:lnTo>
                <a:lnTo>
                  <a:pt x="71438" y="315516"/>
                </a:lnTo>
                <a:cubicBezTo>
                  <a:pt x="71438" y="305619"/>
                  <a:pt x="79400" y="297656"/>
                  <a:pt x="89297" y="297656"/>
                </a:cubicBezTo>
                <a:cubicBezTo>
                  <a:pt x="99194" y="297656"/>
                  <a:pt x="107156" y="305619"/>
                  <a:pt x="107156" y="315516"/>
                </a:cubicBezTo>
                <a:lnTo>
                  <a:pt x="107156" y="333375"/>
                </a:lnTo>
                <a:lnTo>
                  <a:pt x="172641" y="333375"/>
                </a:lnTo>
                <a:lnTo>
                  <a:pt x="172641" y="315516"/>
                </a:lnTo>
                <a:cubicBezTo>
                  <a:pt x="172641" y="305619"/>
                  <a:pt x="180603" y="297656"/>
                  <a:pt x="190500" y="297656"/>
                </a:cubicBezTo>
                <a:cubicBezTo>
                  <a:pt x="200397" y="297656"/>
                  <a:pt x="208359" y="305619"/>
                  <a:pt x="208359" y="315516"/>
                </a:cubicBezTo>
                <a:lnTo>
                  <a:pt x="208359" y="333375"/>
                </a:lnTo>
                <a:lnTo>
                  <a:pt x="273844" y="333375"/>
                </a:lnTo>
                <a:lnTo>
                  <a:pt x="273844" y="315516"/>
                </a:lnTo>
                <a:cubicBezTo>
                  <a:pt x="273844" y="305619"/>
                  <a:pt x="281806" y="297656"/>
                  <a:pt x="291703" y="297656"/>
                </a:cubicBezTo>
                <a:cubicBezTo>
                  <a:pt x="301600" y="297656"/>
                  <a:pt x="309563" y="305619"/>
                  <a:pt x="309563" y="315516"/>
                </a:cubicBezTo>
                <a:lnTo>
                  <a:pt x="309563" y="333375"/>
                </a:lnTo>
                <a:lnTo>
                  <a:pt x="357188" y="333375"/>
                </a:lnTo>
                <a:cubicBezTo>
                  <a:pt x="370359" y="333375"/>
                  <a:pt x="381000" y="322734"/>
                  <a:pt x="381000" y="309563"/>
                </a:cubicBezTo>
                <a:close/>
                <a:moveTo>
                  <a:pt x="119063" y="119063"/>
                </a:moveTo>
                <a:lnTo>
                  <a:pt x="119063" y="166688"/>
                </a:lnTo>
                <a:cubicBezTo>
                  <a:pt x="119063" y="179859"/>
                  <a:pt x="108421" y="190500"/>
                  <a:pt x="95250" y="190500"/>
                </a:cubicBezTo>
                <a:cubicBezTo>
                  <a:pt x="82079" y="190500"/>
                  <a:pt x="71438" y="179859"/>
                  <a:pt x="71438" y="166688"/>
                </a:cubicBezTo>
                <a:lnTo>
                  <a:pt x="71438" y="119063"/>
                </a:lnTo>
                <a:cubicBezTo>
                  <a:pt x="71438" y="105891"/>
                  <a:pt x="82079" y="95250"/>
                  <a:pt x="95250" y="95250"/>
                </a:cubicBezTo>
                <a:cubicBezTo>
                  <a:pt x="108421" y="95250"/>
                  <a:pt x="119063" y="105891"/>
                  <a:pt x="119063" y="119063"/>
                </a:cubicBezTo>
                <a:close/>
                <a:moveTo>
                  <a:pt x="214313" y="119063"/>
                </a:moveTo>
                <a:lnTo>
                  <a:pt x="214313" y="166688"/>
                </a:lnTo>
                <a:cubicBezTo>
                  <a:pt x="214313" y="179859"/>
                  <a:pt x="203671" y="190500"/>
                  <a:pt x="190500" y="190500"/>
                </a:cubicBezTo>
                <a:cubicBezTo>
                  <a:pt x="177329" y="190500"/>
                  <a:pt x="166688" y="179859"/>
                  <a:pt x="166688" y="166688"/>
                </a:cubicBezTo>
                <a:lnTo>
                  <a:pt x="166688" y="119063"/>
                </a:lnTo>
                <a:cubicBezTo>
                  <a:pt x="166688" y="105891"/>
                  <a:pt x="177329" y="95250"/>
                  <a:pt x="190500" y="95250"/>
                </a:cubicBezTo>
                <a:cubicBezTo>
                  <a:pt x="203671" y="95250"/>
                  <a:pt x="214313" y="105891"/>
                  <a:pt x="214313" y="119063"/>
                </a:cubicBezTo>
                <a:close/>
                <a:moveTo>
                  <a:pt x="309563" y="119063"/>
                </a:moveTo>
                <a:lnTo>
                  <a:pt x="309563" y="166688"/>
                </a:lnTo>
                <a:cubicBezTo>
                  <a:pt x="309563" y="179859"/>
                  <a:pt x="298921" y="190500"/>
                  <a:pt x="285750" y="190500"/>
                </a:cubicBezTo>
                <a:cubicBezTo>
                  <a:pt x="272579" y="190500"/>
                  <a:pt x="261938" y="179859"/>
                  <a:pt x="261938" y="166688"/>
                </a:cubicBezTo>
                <a:lnTo>
                  <a:pt x="261938" y="119063"/>
                </a:lnTo>
                <a:cubicBezTo>
                  <a:pt x="261938" y="105891"/>
                  <a:pt x="272579" y="95250"/>
                  <a:pt x="285750" y="95250"/>
                </a:cubicBezTo>
                <a:cubicBezTo>
                  <a:pt x="298921" y="95250"/>
                  <a:pt x="309563" y="105891"/>
                  <a:pt x="309563" y="119063"/>
                </a:cubicBezTo>
                <a:close/>
              </a:path>
            </a:pathLst>
          </a:custGeom>
          <a:solidFill>
            <a:srgbClr val="007BFF"/>
          </a:solidFill>
        </p:spPr>
      </p:sp>
      <p:sp>
        <p:nvSpPr>
          <p:cNvPr id="17" name="Text 14"/>
          <p:cNvSpPr/>
          <p:nvPr/>
        </p:nvSpPr>
        <p:spPr>
          <a:xfrm>
            <a:off x="6934200" y="4038600"/>
            <a:ext cx="1320800" cy="304800"/>
          </a:xfrm>
          <a:prstGeom prst="rect">
            <a:avLst/>
          </a:prstGeom>
          <a:noFill/>
        </p:spPr>
        <p:txBody>
          <a:bodyPr wrap="square" lIns="0" tIns="0" rIns="0" bIns="0" rtlCol="0" anchor="ctr"/>
          <a:lstStyle/>
          <a:p>
            <a:pPr algn="ct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工作记忆薄弱</a:t>
            </a:r>
            <a:endParaRPr lang="en-US" sz="1600" dirty="0"/>
          </a:p>
        </p:txBody>
      </p:sp>
      <p:sp>
        <p:nvSpPr>
          <p:cNvPr id="18" name="Text 15"/>
          <p:cNvSpPr/>
          <p:nvPr/>
        </p:nvSpPr>
        <p:spPr>
          <a:xfrm>
            <a:off x="7016750" y="4343400"/>
            <a:ext cx="1155700" cy="254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长句复述困难</a:t>
            </a:r>
            <a:endParaRPr lang="en-US" sz="1600" dirty="0"/>
          </a:p>
        </p:txBody>
      </p:sp>
      <p:sp>
        <p:nvSpPr>
          <p:cNvPr id="19" name="Text 16"/>
          <p:cNvSpPr/>
          <p:nvPr/>
        </p:nvSpPr>
        <p:spPr>
          <a:xfrm>
            <a:off x="8940800" y="3556000"/>
            <a:ext cx="457200" cy="406400"/>
          </a:xfrm>
          <a:prstGeom prst="rect">
            <a:avLst/>
          </a:prstGeom>
          <a:noFill/>
        </p:spPr>
        <p:txBody>
          <a:bodyPr wrap="square" lIns="0" tIns="0" rIns="0" bIns="0" rtlCol="0" anchor="ctr"/>
          <a:lstStyle/>
          <a:p>
            <a:pPr>
              <a:lnSpc>
                <a:spcPct val="110000"/>
              </a:lnSpc>
            </a:pPr>
            <a:r>
              <a:rPr lang="en-US" sz="24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20" name="Shape 17"/>
          <p:cNvSpPr/>
          <p:nvPr/>
        </p:nvSpPr>
        <p:spPr>
          <a:xfrm>
            <a:off x="10083800" y="2921000"/>
            <a:ext cx="1016000" cy="1016000"/>
          </a:xfrm>
          <a:custGeom>
            <a:avLst/>
            <a:gdLst/>
            <a:ahLst/>
            <a:cxnLst/>
            <a:rect l="l" t="t" r="r" b="b"/>
            <a:pathLst>
              <a:path w="1016000" h="1016000">
                <a:moveTo>
                  <a:pt x="508000" y="0"/>
                </a:moveTo>
                <a:lnTo>
                  <a:pt x="508000" y="0"/>
                </a:lnTo>
                <a:cubicBezTo>
                  <a:pt x="788373" y="0"/>
                  <a:pt x="1016000" y="227627"/>
                  <a:pt x="1016000" y="508000"/>
                </a:cubicBezTo>
                <a:lnTo>
                  <a:pt x="1016000" y="508000"/>
                </a:lnTo>
                <a:cubicBezTo>
                  <a:pt x="1016000" y="788373"/>
                  <a:pt x="788373" y="1016000"/>
                  <a:pt x="508000" y="1016000"/>
                </a:cubicBezTo>
                <a:lnTo>
                  <a:pt x="508000" y="1016000"/>
                </a:lnTo>
                <a:cubicBezTo>
                  <a:pt x="227627" y="1016000"/>
                  <a:pt x="0" y="788373"/>
                  <a:pt x="0" y="508000"/>
                </a:cubicBezTo>
                <a:lnTo>
                  <a:pt x="0" y="508000"/>
                </a:lnTo>
                <a:cubicBezTo>
                  <a:pt x="0" y="227627"/>
                  <a:pt x="227627" y="0"/>
                  <a:pt x="508000" y="0"/>
                </a:cubicBezTo>
                <a:close/>
              </a:path>
            </a:pathLst>
          </a:custGeom>
          <a:solidFill>
            <a:srgbClr val="007BFF">
              <a:alpha val="20000"/>
            </a:srgbClr>
          </a:solidFill>
        </p:spPr>
      </p:sp>
      <p:sp>
        <p:nvSpPr>
          <p:cNvPr id="21" name="Shape 18"/>
          <p:cNvSpPr/>
          <p:nvPr/>
        </p:nvSpPr>
        <p:spPr>
          <a:xfrm>
            <a:off x="10404475" y="3238500"/>
            <a:ext cx="381000" cy="381000"/>
          </a:xfrm>
          <a:custGeom>
            <a:avLst/>
            <a:gdLst/>
            <a:ahLst/>
            <a:cxnLst/>
            <a:rect l="l" t="t" r="r" b="b"/>
            <a:pathLst>
              <a:path w="381000" h="381000">
                <a:moveTo>
                  <a:pt x="99566" y="27012"/>
                </a:moveTo>
                <a:cubicBezTo>
                  <a:pt x="107677" y="32668"/>
                  <a:pt x="109612" y="43830"/>
                  <a:pt x="103956" y="51867"/>
                </a:cubicBezTo>
                <a:lnTo>
                  <a:pt x="62285" y="111398"/>
                </a:lnTo>
                <a:cubicBezTo>
                  <a:pt x="59234" y="115714"/>
                  <a:pt x="54471" y="118467"/>
                  <a:pt x="49188" y="118914"/>
                </a:cubicBezTo>
                <a:cubicBezTo>
                  <a:pt x="43904" y="119360"/>
                  <a:pt x="38695" y="117574"/>
                  <a:pt x="34975" y="113854"/>
                </a:cubicBezTo>
                <a:lnTo>
                  <a:pt x="5209" y="84088"/>
                </a:lnTo>
                <a:cubicBezTo>
                  <a:pt x="-1712" y="77093"/>
                  <a:pt x="-1712" y="65782"/>
                  <a:pt x="5209" y="58787"/>
                </a:cubicBezTo>
                <a:cubicBezTo>
                  <a:pt x="12129" y="51792"/>
                  <a:pt x="23515" y="51867"/>
                  <a:pt x="30510" y="58787"/>
                </a:cubicBezTo>
                <a:lnTo>
                  <a:pt x="45244" y="73521"/>
                </a:lnTo>
                <a:lnTo>
                  <a:pt x="74712" y="31403"/>
                </a:lnTo>
                <a:cubicBezTo>
                  <a:pt x="80367" y="23292"/>
                  <a:pt x="91529" y="21357"/>
                  <a:pt x="99566" y="27012"/>
                </a:cubicBezTo>
                <a:close/>
                <a:moveTo>
                  <a:pt x="99566" y="146075"/>
                </a:moveTo>
                <a:cubicBezTo>
                  <a:pt x="107677" y="151730"/>
                  <a:pt x="109612" y="162892"/>
                  <a:pt x="103956" y="170929"/>
                </a:cubicBezTo>
                <a:lnTo>
                  <a:pt x="62285" y="230460"/>
                </a:lnTo>
                <a:cubicBezTo>
                  <a:pt x="59234" y="234776"/>
                  <a:pt x="54471" y="237530"/>
                  <a:pt x="49188" y="237976"/>
                </a:cubicBezTo>
                <a:cubicBezTo>
                  <a:pt x="43904" y="238423"/>
                  <a:pt x="38695" y="236637"/>
                  <a:pt x="34975" y="232916"/>
                </a:cubicBezTo>
                <a:lnTo>
                  <a:pt x="5209" y="203150"/>
                </a:lnTo>
                <a:cubicBezTo>
                  <a:pt x="-1786" y="196155"/>
                  <a:pt x="-1786" y="184845"/>
                  <a:pt x="5209" y="177924"/>
                </a:cubicBezTo>
                <a:cubicBezTo>
                  <a:pt x="12204" y="171004"/>
                  <a:pt x="23515" y="170929"/>
                  <a:pt x="30435" y="177924"/>
                </a:cubicBezTo>
                <a:lnTo>
                  <a:pt x="45169" y="192658"/>
                </a:lnTo>
                <a:lnTo>
                  <a:pt x="74637" y="150540"/>
                </a:lnTo>
                <a:cubicBezTo>
                  <a:pt x="80293" y="142429"/>
                  <a:pt x="91455" y="140494"/>
                  <a:pt x="99492" y="146149"/>
                </a:cubicBezTo>
                <a:close/>
                <a:moveTo>
                  <a:pt x="166688" y="71438"/>
                </a:moveTo>
                <a:cubicBezTo>
                  <a:pt x="166688" y="58266"/>
                  <a:pt x="177329" y="47625"/>
                  <a:pt x="190500" y="47625"/>
                </a:cubicBezTo>
                <a:lnTo>
                  <a:pt x="357188" y="47625"/>
                </a:lnTo>
                <a:cubicBezTo>
                  <a:pt x="370359" y="47625"/>
                  <a:pt x="381000" y="58266"/>
                  <a:pt x="381000" y="71438"/>
                </a:cubicBezTo>
                <a:cubicBezTo>
                  <a:pt x="381000" y="84609"/>
                  <a:pt x="370359" y="95250"/>
                  <a:pt x="357188" y="95250"/>
                </a:cubicBezTo>
                <a:lnTo>
                  <a:pt x="190500" y="95250"/>
                </a:lnTo>
                <a:cubicBezTo>
                  <a:pt x="177329" y="95250"/>
                  <a:pt x="166688" y="84609"/>
                  <a:pt x="166688" y="71438"/>
                </a:cubicBezTo>
                <a:close/>
                <a:moveTo>
                  <a:pt x="166688" y="190500"/>
                </a:moveTo>
                <a:cubicBezTo>
                  <a:pt x="166688" y="177329"/>
                  <a:pt x="177329" y="166688"/>
                  <a:pt x="190500" y="166688"/>
                </a:cubicBezTo>
                <a:lnTo>
                  <a:pt x="357188" y="166688"/>
                </a:lnTo>
                <a:cubicBezTo>
                  <a:pt x="370359" y="166688"/>
                  <a:pt x="381000" y="177329"/>
                  <a:pt x="381000" y="190500"/>
                </a:cubicBezTo>
                <a:cubicBezTo>
                  <a:pt x="381000" y="203671"/>
                  <a:pt x="370359" y="214313"/>
                  <a:pt x="357188" y="214313"/>
                </a:cubicBezTo>
                <a:lnTo>
                  <a:pt x="190500" y="214313"/>
                </a:lnTo>
                <a:cubicBezTo>
                  <a:pt x="177329" y="214313"/>
                  <a:pt x="166688" y="203671"/>
                  <a:pt x="166688" y="190500"/>
                </a:cubicBezTo>
                <a:close/>
                <a:moveTo>
                  <a:pt x="119063" y="309563"/>
                </a:moveTo>
                <a:cubicBezTo>
                  <a:pt x="119063" y="296391"/>
                  <a:pt x="129704" y="285750"/>
                  <a:pt x="142875" y="285750"/>
                </a:cubicBezTo>
                <a:lnTo>
                  <a:pt x="357188" y="285750"/>
                </a:lnTo>
                <a:cubicBezTo>
                  <a:pt x="370359" y="285750"/>
                  <a:pt x="381000" y="296391"/>
                  <a:pt x="381000" y="309563"/>
                </a:cubicBezTo>
                <a:cubicBezTo>
                  <a:pt x="381000" y="322734"/>
                  <a:pt x="370359" y="333375"/>
                  <a:pt x="357188" y="333375"/>
                </a:cubicBezTo>
                <a:lnTo>
                  <a:pt x="142875" y="333375"/>
                </a:lnTo>
                <a:cubicBezTo>
                  <a:pt x="129704" y="333375"/>
                  <a:pt x="119063" y="322734"/>
                  <a:pt x="119063" y="309563"/>
                </a:cubicBezTo>
                <a:close/>
                <a:moveTo>
                  <a:pt x="47625" y="279797"/>
                </a:moveTo>
                <a:cubicBezTo>
                  <a:pt x="64053" y="279797"/>
                  <a:pt x="77391" y="293134"/>
                  <a:pt x="77391" y="309563"/>
                </a:cubicBezTo>
                <a:cubicBezTo>
                  <a:pt x="77391" y="325991"/>
                  <a:pt x="64053" y="339328"/>
                  <a:pt x="47625" y="339328"/>
                </a:cubicBezTo>
                <a:cubicBezTo>
                  <a:pt x="31197" y="339328"/>
                  <a:pt x="17859" y="325991"/>
                  <a:pt x="17859" y="309563"/>
                </a:cubicBezTo>
                <a:cubicBezTo>
                  <a:pt x="17859" y="293134"/>
                  <a:pt x="31197" y="279797"/>
                  <a:pt x="47625" y="279797"/>
                </a:cubicBezTo>
                <a:close/>
              </a:path>
            </a:pathLst>
          </a:custGeom>
          <a:solidFill>
            <a:srgbClr val="007BFF"/>
          </a:solidFill>
        </p:spPr>
      </p:sp>
      <p:sp>
        <p:nvSpPr>
          <p:cNvPr id="22" name="Text 19"/>
          <p:cNvSpPr/>
          <p:nvPr/>
        </p:nvSpPr>
        <p:spPr>
          <a:xfrm>
            <a:off x="9931400" y="4038600"/>
            <a:ext cx="1320800" cy="304800"/>
          </a:xfrm>
          <a:prstGeom prst="rect">
            <a:avLst/>
          </a:prstGeom>
          <a:noFill/>
        </p:spPr>
        <p:txBody>
          <a:bodyPr wrap="square" lIns="0" tIns="0" rIns="0" bIns="0" rtlCol="0" anchor="ctr"/>
          <a:lstStyle/>
          <a:p>
            <a:pPr algn="ct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计划组织欠缺</a:t>
            </a:r>
            <a:endParaRPr lang="en-US" sz="1600" dirty="0"/>
          </a:p>
        </p:txBody>
      </p:sp>
      <p:sp>
        <p:nvSpPr>
          <p:cNvPr id="23" name="Text 20"/>
          <p:cNvSpPr/>
          <p:nvPr/>
        </p:nvSpPr>
        <p:spPr>
          <a:xfrm>
            <a:off x="9747250" y="4343400"/>
            <a:ext cx="1689100" cy="254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依赖性强，逃避难题</a:t>
            </a:r>
            <a:endParaRPr lang="en-US" sz="1600" dirty="0"/>
          </a:p>
        </p:txBody>
      </p:sp>
      <p:sp>
        <p:nvSpPr>
          <p:cNvPr id="24" name="Shape 21"/>
          <p:cNvSpPr/>
          <p:nvPr/>
        </p:nvSpPr>
        <p:spPr>
          <a:xfrm>
            <a:off x="254000" y="4902200"/>
            <a:ext cx="11684000" cy="609600"/>
          </a:xfrm>
          <a:custGeom>
            <a:avLst/>
            <a:gdLst/>
            <a:ahLst/>
            <a:cxnLst/>
            <a:rect l="l" t="t" r="r" b="b"/>
            <a:pathLst>
              <a:path w="11684000" h="609600">
                <a:moveTo>
                  <a:pt x="101602" y="0"/>
                </a:moveTo>
                <a:lnTo>
                  <a:pt x="11582398" y="0"/>
                </a:lnTo>
                <a:cubicBezTo>
                  <a:pt x="11638511" y="0"/>
                  <a:pt x="11684000" y="45489"/>
                  <a:pt x="11684000" y="101602"/>
                </a:cubicBezTo>
                <a:lnTo>
                  <a:pt x="11684000" y="507998"/>
                </a:lnTo>
                <a:cubicBezTo>
                  <a:pt x="11684000" y="564111"/>
                  <a:pt x="11638511" y="609600"/>
                  <a:pt x="11582398" y="609600"/>
                </a:cubicBezTo>
                <a:lnTo>
                  <a:pt x="101602" y="609600"/>
                </a:lnTo>
                <a:cubicBezTo>
                  <a:pt x="45489" y="609600"/>
                  <a:pt x="0" y="564111"/>
                  <a:pt x="0" y="507998"/>
                </a:cubicBezTo>
                <a:lnTo>
                  <a:pt x="0" y="101602"/>
                </a:lnTo>
                <a:cubicBezTo>
                  <a:pt x="0" y="45526"/>
                  <a:pt x="45526" y="0"/>
                  <a:pt x="101602" y="0"/>
                </a:cubicBezTo>
                <a:close/>
              </a:path>
            </a:pathLst>
          </a:custGeom>
          <a:solidFill>
            <a:srgbClr val="DC3545">
              <a:alpha val="10196"/>
            </a:srgbClr>
          </a:solidFill>
        </p:spPr>
      </p:sp>
      <p:sp>
        <p:nvSpPr>
          <p:cNvPr id="25" name="Text 22"/>
          <p:cNvSpPr/>
          <p:nvPr/>
        </p:nvSpPr>
        <p:spPr>
          <a:xfrm>
            <a:off x="355600" y="5054600"/>
            <a:ext cx="11480800" cy="304800"/>
          </a:xfrm>
          <a:prstGeom prst="rect">
            <a:avLst/>
          </a:prstGeom>
          <a:noFill/>
        </p:spPr>
        <p:txBody>
          <a:bodyPr wrap="square" lIns="0" tIns="0" rIns="0" bIns="0" rtlCol="0" anchor="ctr"/>
          <a:lstStyle/>
          <a:p>
            <a:pPr algn="ctr">
              <a:lnSpc>
                <a:spcPct val="130000"/>
              </a:lnSpc>
            </a:pPr>
            <a:r>
              <a:rPr lang="en-US" altLang="zh-CN" sz="1600" dirty="0"/>
              <a:t>Vicious cycle: Inattentiveness </a:t>
            </a:r>
            <a:r>
              <a:rPr lang="en-US" altLang="en-US" sz="1600" dirty="0"/>
              <a:t>→</a:t>
            </a:r>
            <a:r>
              <a:rPr lang="en-US" altLang="zh-CN" sz="1600" dirty="0"/>
              <a:t> academic setbacks </a:t>
            </a:r>
            <a:r>
              <a:rPr lang="en-US" altLang="en-US" sz="1600" dirty="0"/>
              <a:t>→</a:t>
            </a:r>
            <a:r>
              <a:rPr lang="en-US" altLang="zh-CN" sz="1600" dirty="0"/>
              <a:t> aggravation of behavioral problems </a:t>
            </a:r>
            <a:r>
              <a:rPr lang="en-US" altLang="en-US" sz="1600" dirty="0"/>
              <a:t>→</a:t>
            </a:r>
            <a:r>
              <a:rPr lang="en-US" altLang="zh-CN" sz="1600" dirty="0"/>
              <a:t> social isolation</a:t>
            </a:r>
            <a:endParaRPr lang="en-US" altLang="zh-CN"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pic>
        <p:nvPicPr>
          <p:cNvPr id="3" name="Image 1" descr="https://kimi-web-img.moonshot.cn/img/thumbs.dreamstime.com/afd0c0e4ed1db7a46fd8f67f89d0b961954df2ac.jpg"/>
          <p:cNvPicPr>
            <a:picLocks noChangeAspect="1"/>
          </p:cNvPicPr>
          <p:nvPr/>
        </p:nvPicPr>
        <p:blipFill>
          <a:blip r:embed="rId2"/>
          <a:srcRect l="33023" r="33023"/>
          <a:stretch>
            <a:fillRect/>
          </a:stretch>
        </p:blipFill>
        <p:spPr>
          <a:xfrm>
            <a:off x="909320" y="2042160"/>
            <a:ext cx="3747770" cy="4297680"/>
          </a:xfrm>
          <a:prstGeom prst="roundRect">
            <a:avLst>
              <a:gd name="adj" fmla="val 2752"/>
            </a:avLst>
          </a:prstGeom>
        </p:spPr>
      </p:pic>
      <p:sp>
        <p:nvSpPr>
          <p:cNvPr id="4" name="Text 0"/>
          <p:cNvSpPr/>
          <p:nvPr/>
        </p:nvSpPr>
        <p:spPr>
          <a:xfrm>
            <a:off x="1182370" y="668020"/>
            <a:ext cx="8689975" cy="914400"/>
          </a:xfrm>
          <a:prstGeom prst="rect">
            <a:avLst/>
          </a:prstGeom>
          <a:noFill/>
        </p:spPr>
        <p:txBody>
          <a:bodyPr wrap="square" lIns="0" tIns="0" rIns="0" bIns="0" rtlCol="0" anchor="ctr"/>
          <a:lstStyle/>
          <a:p>
            <a:pPr>
              <a:lnSpc>
                <a:spcPct val="100000"/>
              </a:lnSpc>
            </a:pPr>
            <a:r>
              <a:rPr lang="en-US" altLang="zh-CN" sz="2000" dirty="0">
                <a:ln/>
                <a:solidFill>
                  <a:srgbClr val="FF0000"/>
                </a:solidFill>
                <a:effectLst>
                  <a:outerShdw blurRad="38100" dist="25400" dir="5400000" algn="ctr" rotWithShape="0">
                    <a:srgbClr val="6E747A">
                      <a:alpha val="43000"/>
                    </a:srgbClr>
                  </a:outerShdw>
                </a:effectLst>
              </a:rPr>
              <a:t>Ayres Sensory Integration</a:t>
            </a:r>
            <a:r>
              <a:rPr lang="en-US" altLang="zh-CN" sz="2000" dirty="0">
                <a:ln/>
                <a:solidFill>
                  <a:schemeClr val="accent1"/>
                </a:solidFill>
                <a:effectLst>
                  <a:outerShdw blurRad="38100" dist="25400" dir="5400000" algn="ctr" rotWithShape="0">
                    <a:srgbClr val="6E747A">
                      <a:alpha val="43000"/>
                    </a:srgbClr>
                  </a:outerShdw>
                </a:effectLst>
              </a:rPr>
              <a:t> Perspective: How to Place Hyperactivity in Dysregulation</a:t>
            </a:r>
            <a:endParaRPr lang="en-US" altLang="zh-CN" sz="2000" dirty="0">
              <a:ln/>
              <a:solidFill>
                <a:schemeClr val="accent1"/>
              </a:solidFill>
              <a:effectLst>
                <a:outerShdw blurRad="38100" dist="25400" dir="5400000" algn="ctr" rotWithShape="0">
                  <a:srgbClr val="6E747A">
                    <a:alpha val="43000"/>
                  </a:srgbClr>
                </a:outerShdw>
              </a:effectLst>
            </a:endParaRPr>
          </a:p>
        </p:txBody>
      </p:sp>
      <p:sp>
        <p:nvSpPr>
          <p:cNvPr id="5" name="Text 1"/>
          <p:cNvSpPr/>
          <p:nvPr/>
        </p:nvSpPr>
        <p:spPr>
          <a:xfrm>
            <a:off x="5688330" y="1931035"/>
            <a:ext cx="5943600" cy="609600"/>
          </a:xfrm>
          <a:prstGeom prst="rect">
            <a:avLst/>
          </a:prstGeom>
          <a:noFill/>
        </p:spPr>
        <p:txBody>
          <a:bodyPr wrap="square" lIns="0" tIns="0" rIns="0" bIns="0" rtlCol="0" anchor="ctr"/>
          <a:lstStyle/>
          <a:p>
            <a:pPr>
              <a:lnSpc>
                <a:spcPct val="130000"/>
              </a:lnSpc>
            </a:pPr>
            <a:r>
              <a:rPr lang="en-US" altLang="zh-CN" sz="1600" dirty="0"/>
              <a:t>Ayres theory points out that </a:t>
            </a:r>
            <a:r>
              <a:rPr lang="en-US" altLang="zh-CN" sz="1600" dirty="0">
                <a:solidFill>
                  <a:srgbClr val="FF0000"/>
                </a:solidFill>
              </a:rPr>
              <a:t>sensory integration dysfunction</a:t>
            </a:r>
            <a:r>
              <a:rPr lang="en-US" altLang="zh-CN" sz="1600" dirty="0"/>
              <a:t> is not simply "clumsy in movement"; it directly</a:t>
            </a:r>
            <a:r>
              <a:rPr lang="en-US" altLang="zh-CN" sz="1600" dirty="0">
                <a:solidFill>
                  <a:srgbClr val="FF0000"/>
                </a:solidFill>
              </a:rPr>
              <a:t> exacerbates the core symptoms</a:t>
            </a:r>
            <a:r>
              <a:rPr lang="en-US" altLang="zh-CN" sz="1600" dirty="0"/>
              <a:t> of ADHD and becomes an invisible amplifier.</a:t>
            </a:r>
            <a:endParaRPr lang="en-US" altLang="zh-CN" sz="1600" dirty="0"/>
          </a:p>
        </p:txBody>
      </p:sp>
      <p:sp>
        <p:nvSpPr>
          <p:cNvPr id="6" name="Shape 2"/>
          <p:cNvSpPr/>
          <p:nvPr>
            <p:custDataLst>
              <p:tags r:id="rId3"/>
            </p:custDataLst>
          </p:nvPr>
        </p:nvSpPr>
        <p:spPr>
          <a:xfrm>
            <a:off x="6138704" y="3022600"/>
            <a:ext cx="381000" cy="304800"/>
          </a:xfrm>
          <a:custGeom>
            <a:avLst/>
            <a:gdLst/>
            <a:ahLst/>
            <a:cxnLst/>
            <a:rect l="l" t="t" r="r" b="b"/>
            <a:pathLst>
              <a:path w="381000" h="304800">
                <a:moveTo>
                  <a:pt x="70366" y="37148"/>
                </a:moveTo>
                <a:cubicBezTo>
                  <a:pt x="60424" y="33814"/>
                  <a:pt x="55007" y="22979"/>
                  <a:pt x="58341" y="13037"/>
                </a:cubicBezTo>
                <a:cubicBezTo>
                  <a:pt x="61674" y="3096"/>
                  <a:pt x="72450" y="-2322"/>
                  <a:pt x="82451" y="953"/>
                </a:cubicBezTo>
                <a:lnTo>
                  <a:pt x="149721" y="23396"/>
                </a:lnTo>
                <a:cubicBezTo>
                  <a:pt x="157996" y="9406"/>
                  <a:pt x="173295" y="0"/>
                  <a:pt x="190738" y="0"/>
                </a:cubicBezTo>
                <a:cubicBezTo>
                  <a:pt x="217051" y="0"/>
                  <a:pt x="238363" y="21312"/>
                  <a:pt x="238363" y="47625"/>
                </a:cubicBezTo>
                <a:cubicBezTo>
                  <a:pt x="238363" y="49411"/>
                  <a:pt x="238244" y="51137"/>
                  <a:pt x="238065" y="52864"/>
                </a:cubicBezTo>
                <a:lnTo>
                  <a:pt x="311051" y="77212"/>
                </a:lnTo>
                <a:cubicBezTo>
                  <a:pt x="321052" y="80546"/>
                  <a:pt x="326410" y="91321"/>
                  <a:pt x="323076" y="101322"/>
                </a:cubicBezTo>
                <a:cubicBezTo>
                  <a:pt x="319742" y="111323"/>
                  <a:pt x="308967" y="116681"/>
                  <a:pt x="298966" y="113347"/>
                </a:cubicBezTo>
                <a:lnTo>
                  <a:pt x="218301" y="86439"/>
                </a:lnTo>
                <a:cubicBezTo>
                  <a:pt x="215622" y="88344"/>
                  <a:pt x="212765" y="89952"/>
                  <a:pt x="209729" y="91321"/>
                </a:cubicBezTo>
                <a:lnTo>
                  <a:pt x="209729" y="285810"/>
                </a:lnTo>
                <a:cubicBezTo>
                  <a:pt x="209729" y="296347"/>
                  <a:pt x="201216" y="304860"/>
                  <a:pt x="190679" y="304860"/>
                </a:cubicBezTo>
                <a:lnTo>
                  <a:pt x="76379" y="304860"/>
                </a:lnTo>
                <a:cubicBezTo>
                  <a:pt x="65842" y="304860"/>
                  <a:pt x="57329" y="296347"/>
                  <a:pt x="57329" y="285810"/>
                </a:cubicBezTo>
                <a:cubicBezTo>
                  <a:pt x="57329" y="275272"/>
                  <a:pt x="65842" y="266760"/>
                  <a:pt x="76379" y="266760"/>
                </a:cubicBezTo>
                <a:lnTo>
                  <a:pt x="171629" y="266760"/>
                </a:lnTo>
                <a:lnTo>
                  <a:pt x="171629" y="91321"/>
                </a:lnTo>
                <a:cubicBezTo>
                  <a:pt x="159127" y="85844"/>
                  <a:pt x="149483" y="75247"/>
                  <a:pt x="145316" y="62151"/>
                </a:cubicBezTo>
                <a:lnTo>
                  <a:pt x="70366" y="37147"/>
                </a:lnTo>
                <a:close/>
                <a:moveTo>
                  <a:pt x="119539" y="171450"/>
                </a:moveTo>
                <a:lnTo>
                  <a:pt x="76379" y="97512"/>
                </a:lnTo>
                <a:lnTo>
                  <a:pt x="33278" y="171450"/>
                </a:lnTo>
                <a:lnTo>
                  <a:pt x="119539" y="171450"/>
                </a:lnTo>
                <a:close/>
                <a:moveTo>
                  <a:pt x="76438" y="228600"/>
                </a:moveTo>
                <a:cubicBezTo>
                  <a:pt x="38993" y="228600"/>
                  <a:pt x="7858" y="208359"/>
                  <a:pt x="1429" y="181630"/>
                </a:cubicBezTo>
                <a:cubicBezTo>
                  <a:pt x="-119" y="175081"/>
                  <a:pt x="2024" y="168354"/>
                  <a:pt x="5417" y="162520"/>
                </a:cubicBezTo>
                <a:lnTo>
                  <a:pt x="62091" y="65365"/>
                </a:lnTo>
                <a:cubicBezTo>
                  <a:pt x="65068" y="60246"/>
                  <a:pt x="70545" y="57150"/>
                  <a:pt x="76438" y="57150"/>
                </a:cubicBezTo>
                <a:cubicBezTo>
                  <a:pt x="82332" y="57150"/>
                  <a:pt x="87809" y="60305"/>
                  <a:pt x="90785" y="65365"/>
                </a:cubicBezTo>
                <a:lnTo>
                  <a:pt x="147459" y="162520"/>
                </a:lnTo>
                <a:cubicBezTo>
                  <a:pt x="150852" y="168354"/>
                  <a:pt x="152995" y="175081"/>
                  <a:pt x="151448" y="181630"/>
                </a:cubicBezTo>
                <a:cubicBezTo>
                  <a:pt x="145018" y="208300"/>
                  <a:pt x="113883" y="228600"/>
                  <a:pt x="76438" y="228600"/>
                </a:cubicBezTo>
                <a:close/>
                <a:moveTo>
                  <a:pt x="304324" y="173712"/>
                </a:moveTo>
                <a:lnTo>
                  <a:pt x="261223" y="247650"/>
                </a:lnTo>
                <a:lnTo>
                  <a:pt x="347484" y="247650"/>
                </a:lnTo>
                <a:lnTo>
                  <a:pt x="304383" y="173712"/>
                </a:lnTo>
                <a:close/>
                <a:moveTo>
                  <a:pt x="379333" y="257830"/>
                </a:moveTo>
                <a:cubicBezTo>
                  <a:pt x="372904" y="284559"/>
                  <a:pt x="341769" y="304800"/>
                  <a:pt x="304324" y="304800"/>
                </a:cubicBezTo>
                <a:cubicBezTo>
                  <a:pt x="266879" y="304800"/>
                  <a:pt x="235744" y="284559"/>
                  <a:pt x="229314" y="257830"/>
                </a:cubicBezTo>
                <a:cubicBezTo>
                  <a:pt x="227767" y="251281"/>
                  <a:pt x="229910" y="244554"/>
                  <a:pt x="233303" y="238720"/>
                </a:cubicBezTo>
                <a:lnTo>
                  <a:pt x="289977" y="141565"/>
                </a:lnTo>
                <a:cubicBezTo>
                  <a:pt x="292953" y="136446"/>
                  <a:pt x="298430" y="133350"/>
                  <a:pt x="304324" y="133350"/>
                </a:cubicBezTo>
                <a:cubicBezTo>
                  <a:pt x="310217" y="133350"/>
                  <a:pt x="315694" y="136505"/>
                  <a:pt x="318671" y="141565"/>
                </a:cubicBezTo>
                <a:lnTo>
                  <a:pt x="375345" y="238720"/>
                </a:lnTo>
                <a:cubicBezTo>
                  <a:pt x="378738" y="244554"/>
                  <a:pt x="380881" y="251281"/>
                  <a:pt x="379333" y="257830"/>
                </a:cubicBezTo>
                <a:close/>
              </a:path>
            </a:pathLst>
          </a:custGeom>
          <a:solidFill>
            <a:srgbClr val="FFC107"/>
          </a:solidFill>
        </p:spPr>
      </p:sp>
      <p:sp>
        <p:nvSpPr>
          <p:cNvPr id="7" name="Text 3"/>
          <p:cNvSpPr/>
          <p:nvPr>
            <p:custDataLst>
              <p:tags r:id="rId4"/>
            </p:custDataLst>
          </p:nvPr>
        </p:nvSpPr>
        <p:spPr>
          <a:xfrm>
            <a:off x="6714808" y="3022600"/>
            <a:ext cx="53213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前庭与本体感失调</a:t>
            </a:r>
            <a:endParaRPr lang="en-US" sz="1600" dirty="0"/>
          </a:p>
        </p:txBody>
      </p:sp>
      <p:sp>
        <p:nvSpPr>
          <p:cNvPr id="8" name="Text 4"/>
          <p:cNvSpPr/>
          <p:nvPr>
            <p:custDataLst>
              <p:tags r:id="rId5"/>
            </p:custDataLst>
          </p:nvPr>
        </p:nvSpPr>
        <p:spPr>
          <a:xfrm>
            <a:off x="6714808" y="3327400"/>
            <a:ext cx="5308600" cy="508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身体为维持平衡不断微调，消耗大量认知资源，导致学习时注意力分散。</a:t>
            </a:r>
            <a:endParaRPr lang="en-US" sz="1600" dirty="0"/>
          </a:p>
        </p:txBody>
      </p:sp>
      <p:sp>
        <p:nvSpPr>
          <p:cNvPr id="9" name="Shape 5"/>
          <p:cNvSpPr/>
          <p:nvPr>
            <p:custDataLst>
              <p:tags r:id="rId6"/>
            </p:custDataLst>
          </p:nvPr>
        </p:nvSpPr>
        <p:spPr>
          <a:xfrm>
            <a:off x="6145530" y="4038600"/>
            <a:ext cx="381000" cy="304800"/>
          </a:xfrm>
          <a:custGeom>
            <a:avLst/>
            <a:gdLst/>
            <a:ahLst/>
            <a:cxnLst/>
            <a:rect l="l" t="t" r="r" b="b"/>
            <a:pathLst>
              <a:path w="381000" h="304800">
                <a:moveTo>
                  <a:pt x="190500" y="0"/>
                </a:moveTo>
                <a:cubicBezTo>
                  <a:pt x="201037" y="0"/>
                  <a:pt x="209550" y="8513"/>
                  <a:pt x="209550" y="19050"/>
                </a:cubicBezTo>
                <a:lnTo>
                  <a:pt x="209550" y="142875"/>
                </a:lnTo>
                <a:cubicBezTo>
                  <a:pt x="209550" y="148114"/>
                  <a:pt x="213836" y="152400"/>
                  <a:pt x="219075" y="152400"/>
                </a:cubicBezTo>
                <a:cubicBezTo>
                  <a:pt x="224314" y="152400"/>
                  <a:pt x="228600" y="148114"/>
                  <a:pt x="228600" y="142875"/>
                </a:cubicBezTo>
                <a:lnTo>
                  <a:pt x="228600" y="38100"/>
                </a:lnTo>
                <a:cubicBezTo>
                  <a:pt x="228600" y="27563"/>
                  <a:pt x="237113" y="19050"/>
                  <a:pt x="247650" y="19050"/>
                </a:cubicBezTo>
                <a:cubicBezTo>
                  <a:pt x="258187" y="19050"/>
                  <a:pt x="266700" y="27563"/>
                  <a:pt x="266700" y="38100"/>
                </a:cubicBezTo>
                <a:lnTo>
                  <a:pt x="266700" y="142875"/>
                </a:lnTo>
                <a:cubicBezTo>
                  <a:pt x="266700" y="148114"/>
                  <a:pt x="270986" y="152400"/>
                  <a:pt x="276225" y="152400"/>
                </a:cubicBezTo>
                <a:cubicBezTo>
                  <a:pt x="281464" y="152400"/>
                  <a:pt x="285750" y="148114"/>
                  <a:pt x="285750" y="142875"/>
                </a:cubicBezTo>
                <a:lnTo>
                  <a:pt x="285750" y="76200"/>
                </a:lnTo>
                <a:cubicBezTo>
                  <a:pt x="285750" y="65663"/>
                  <a:pt x="294263" y="57150"/>
                  <a:pt x="304800" y="57150"/>
                </a:cubicBezTo>
                <a:cubicBezTo>
                  <a:pt x="315337" y="57150"/>
                  <a:pt x="323850" y="65663"/>
                  <a:pt x="323850" y="76200"/>
                </a:cubicBezTo>
                <a:lnTo>
                  <a:pt x="323850" y="182285"/>
                </a:lnTo>
                <a:cubicBezTo>
                  <a:pt x="312420" y="185499"/>
                  <a:pt x="303193" y="194429"/>
                  <a:pt x="299799" y="206276"/>
                </a:cubicBezTo>
                <a:lnTo>
                  <a:pt x="295930" y="219789"/>
                </a:lnTo>
                <a:lnTo>
                  <a:pt x="282416" y="223659"/>
                </a:lnTo>
                <a:cubicBezTo>
                  <a:pt x="267414" y="227945"/>
                  <a:pt x="257115" y="241637"/>
                  <a:pt x="257115" y="257235"/>
                </a:cubicBezTo>
                <a:cubicBezTo>
                  <a:pt x="257115" y="270391"/>
                  <a:pt x="264497" y="282238"/>
                  <a:pt x="275808" y="288131"/>
                </a:cubicBezTo>
                <a:cubicBezTo>
                  <a:pt x="259437" y="298728"/>
                  <a:pt x="239970" y="304860"/>
                  <a:pt x="219015" y="304860"/>
                </a:cubicBezTo>
                <a:lnTo>
                  <a:pt x="207585" y="304860"/>
                </a:lnTo>
                <a:cubicBezTo>
                  <a:pt x="172105" y="304860"/>
                  <a:pt x="137993" y="291227"/>
                  <a:pt x="112335" y="266760"/>
                </a:cubicBezTo>
                <a:lnTo>
                  <a:pt x="45482" y="203002"/>
                </a:lnTo>
                <a:cubicBezTo>
                  <a:pt x="35957" y="193953"/>
                  <a:pt x="35600" y="178832"/>
                  <a:pt x="44648" y="169307"/>
                </a:cubicBezTo>
                <a:cubicBezTo>
                  <a:pt x="53697" y="159782"/>
                  <a:pt x="68818" y="159425"/>
                  <a:pt x="78343" y="168473"/>
                </a:cubicBezTo>
                <a:lnTo>
                  <a:pt x="114360" y="202763"/>
                </a:lnTo>
                <a:cubicBezTo>
                  <a:pt x="114360" y="201870"/>
                  <a:pt x="114300" y="200918"/>
                  <a:pt x="114300" y="200025"/>
                </a:cubicBezTo>
                <a:lnTo>
                  <a:pt x="114300" y="38100"/>
                </a:lnTo>
                <a:cubicBezTo>
                  <a:pt x="114300" y="27563"/>
                  <a:pt x="122813" y="19050"/>
                  <a:pt x="133350" y="19050"/>
                </a:cubicBezTo>
                <a:cubicBezTo>
                  <a:pt x="143887" y="19050"/>
                  <a:pt x="152400" y="27563"/>
                  <a:pt x="152400" y="38100"/>
                </a:cubicBezTo>
                <a:lnTo>
                  <a:pt x="152400" y="142875"/>
                </a:lnTo>
                <a:cubicBezTo>
                  <a:pt x="152400" y="148114"/>
                  <a:pt x="156686" y="152400"/>
                  <a:pt x="161925" y="152400"/>
                </a:cubicBezTo>
                <a:cubicBezTo>
                  <a:pt x="167164" y="152400"/>
                  <a:pt x="171450" y="148114"/>
                  <a:pt x="171450" y="142875"/>
                </a:cubicBezTo>
                <a:lnTo>
                  <a:pt x="171450" y="19050"/>
                </a:lnTo>
                <a:cubicBezTo>
                  <a:pt x="171450" y="8513"/>
                  <a:pt x="179963" y="0"/>
                  <a:pt x="190500" y="0"/>
                </a:cubicBezTo>
                <a:close/>
                <a:moveTo>
                  <a:pt x="186154" y="194429"/>
                </a:moveTo>
                <a:cubicBezTo>
                  <a:pt x="185499" y="192107"/>
                  <a:pt x="183356" y="190500"/>
                  <a:pt x="180975" y="190500"/>
                </a:cubicBezTo>
                <a:cubicBezTo>
                  <a:pt x="178594" y="190500"/>
                  <a:pt x="176451" y="192107"/>
                  <a:pt x="175796" y="194429"/>
                </a:cubicBezTo>
                <a:lnTo>
                  <a:pt x="171450" y="209550"/>
                </a:lnTo>
                <a:lnTo>
                  <a:pt x="156329" y="213896"/>
                </a:lnTo>
                <a:cubicBezTo>
                  <a:pt x="154007" y="214551"/>
                  <a:pt x="152400" y="216694"/>
                  <a:pt x="152400" y="219075"/>
                </a:cubicBezTo>
                <a:cubicBezTo>
                  <a:pt x="152400" y="221456"/>
                  <a:pt x="154007" y="223599"/>
                  <a:pt x="156329" y="224254"/>
                </a:cubicBezTo>
                <a:lnTo>
                  <a:pt x="171450" y="228600"/>
                </a:lnTo>
                <a:lnTo>
                  <a:pt x="175796" y="243721"/>
                </a:lnTo>
                <a:cubicBezTo>
                  <a:pt x="176451" y="246043"/>
                  <a:pt x="178594" y="247650"/>
                  <a:pt x="180975" y="247650"/>
                </a:cubicBezTo>
                <a:cubicBezTo>
                  <a:pt x="183356" y="247650"/>
                  <a:pt x="185499" y="246043"/>
                  <a:pt x="186154" y="243721"/>
                </a:cubicBezTo>
                <a:lnTo>
                  <a:pt x="190500" y="228600"/>
                </a:lnTo>
                <a:lnTo>
                  <a:pt x="205621" y="224254"/>
                </a:lnTo>
                <a:cubicBezTo>
                  <a:pt x="207943" y="223599"/>
                  <a:pt x="209550" y="221456"/>
                  <a:pt x="209550" y="219075"/>
                </a:cubicBezTo>
                <a:cubicBezTo>
                  <a:pt x="209550" y="216694"/>
                  <a:pt x="207943" y="214551"/>
                  <a:pt x="205621" y="213896"/>
                </a:cubicBezTo>
                <a:lnTo>
                  <a:pt x="190500" y="209550"/>
                </a:lnTo>
                <a:lnTo>
                  <a:pt x="186154" y="194429"/>
                </a:lnTo>
                <a:close/>
                <a:moveTo>
                  <a:pt x="61912" y="71438"/>
                </a:moveTo>
                <a:lnTo>
                  <a:pt x="90666" y="79653"/>
                </a:lnTo>
                <a:cubicBezTo>
                  <a:pt x="93405" y="80427"/>
                  <a:pt x="95250" y="82927"/>
                  <a:pt x="95250" y="85725"/>
                </a:cubicBezTo>
                <a:cubicBezTo>
                  <a:pt x="95250" y="88523"/>
                  <a:pt x="93405" y="91023"/>
                  <a:pt x="90666" y="91797"/>
                </a:cubicBezTo>
                <a:lnTo>
                  <a:pt x="61912" y="100013"/>
                </a:lnTo>
                <a:lnTo>
                  <a:pt x="53697" y="128766"/>
                </a:lnTo>
                <a:cubicBezTo>
                  <a:pt x="52923" y="131505"/>
                  <a:pt x="50423" y="133350"/>
                  <a:pt x="47625" y="133350"/>
                </a:cubicBezTo>
                <a:cubicBezTo>
                  <a:pt x="44827" y="133350"/>
                  <a:pt x="42327" y="131505"/>
                  <a:pt x="41553" y="128766"/>
                </a:cubicBezTo>
                <a:lnTo>
                  <a:pt x="33338" y="100013"/>
                </a:lnTo>
                <a:lnTo>
                  <a:pt x="4584" y="91797"/>
                </a:lnTo>
                <a:cubicBezTo>
                  <a:pt x="1845" y="91023"/>
                  <a:pt x="0" y="88523"/>
                  <a:pt x="0" y="85725"/>
                </a:cubicBezTo>
                <a:cubicBezTo>
                  <a:pt x="0" y="82927"/>
                  <a:pt x="1845" y="80427"/>
                  <a:pt x="4584" y="79653"/>
                </a:cubicBezTo>
                <a:lnTo>
                  <a:pt x="33338" y="71438"/>
                </a:lnTo>
                <a:lnTo>
                  <a:pt x="41553" y="42684"/>
                </a:lnTo>
                <a:cubicBezTo>
                  <a:pt x="42327" y="39945"/>
                  <a:pt x="44827" y="38100"/>
                  <a:pt x="47625" y="38100"/>
                </a:cubicBezTo>
                <a:cubicBezTo>
                  <a:pt x="50423" y="38100"/>
                  <a:pt x="52923" y="39945"/>
                  <a:pt x="53697" y="42684"/>
                </a:cubicBezTo>
                <a:lnTo>
                  <a:pt x="61912" y="71438"/>
                </a:lnTo>
                <a:close/>
                <a:moveTo>
                  <a:pt x="347663" y="242888"/>
                </a:moveTo>
                <a:lnTo>
                  <a:pt x="376416" y="251103"/>
                </a:lnTo>
                <a:cubicBezTo>
                  <a:pt x="379155" y="251877"/>
                  <a:pt x="381000" y="254377"/>
                  <a:pt x="381000" y="257175"/>
                </a:cubicBezTo>
                <a:cubicBezTo>
                  <a:pt x="381000" y="259973"/>
                  <a:pt x="379155" y="262473"/>
                  <a:pt x="376416" y="263247"/>
                </a:cubicBezTo>
                <a:lnTo>
                  <a:pt x="347663" y="271463"/>
                </a:lnTo>
                <a:lnTo>
                  <a:pt x="339447" y="300216"/>
                </a:lnTo>
                <a:cubicBezTo>
                  <a:pt x="338673" y="302955"/>
                  <a:pt x="336173" y="304800"/>
                  <a:pt x="333375" y="304800"/>
                </a:cubicBezTo>
                <a:cubicBezTo>
                  <a:pt x="330577" y="304800"/>
                  <a:pt x="328077" y="302955"/>
                  <a:pt x="327303" y="300216"/>
                </a:cubicBezTo>
                <a:lnTo>
                  <a:pt x="319088" y="271463"/>
                </a:lnTo>
                <a:lnTo>
                  <a:pt x="290334" y="263247"/>
                </a:lnTo>
                <a:cubicBezTo>
                  <a:pt x="287595" y="262473"/>
                  <a:pt x="285750" y="259973"/>
                  <a:pt x="285750" y="257175"/>
                </a:cubicBezTo>
                <a:cubicBezTo>
                  <a:pt x="285750" y="254377"/>
                  <a:pt x="287595" y="251877"/>
                  <a:pt x="290334" y="251103"/>
                </a:cubicBezTo>
                <a:lnTo>
                  <a:pt x="319088" y="242888"/>
                </a:lnTo>
                <a:lnTo>
                  <a:pt x="327303" y="214134"/>
                </a:lnTo>
                <a:cubicBezTo>
                  <a:pt x="328077" y="211395"/>
                  <a:pt x="330577" y="209550"/>
                  <a:pt x="333375" y="209550"/>
                </a:cubicBezTo>
                <a:cubicBezTo>
                  <a:pt x="336173" y="209550"/>
                  <a:pt x="338673" y="211395"/>
                  <a:pt x="339447" y="214134"/>
                </a:cubicBezTo>
                <a:lnTo>
                  <a:pt x="347663" y="242888"/>
                </a:lnTo>
                <a:close/>
              </a:path>
            </a:pathLst>
          </a:custGeom>
          <a:solidFill>
            <a:srgbClr val="FFC107"/>
          </a:solidFill>
        </p:spPr>
      </p:sp>
      <p:sp>
        <p:nvSpPr>
          <p:cNvPr id="10" name="Text 6"/>
          <p:cNvSpPr/>
          <p:nvPr>
            <p:custDataLst>
              <p:tags r:id="rId7"/>
            </p:custDataLst>
          </p:nvPr>
        </p:nvSpPr>
        <p:spPr>
          <a:xfrm>
            <a:off x="6728460" y="4038600"/>
            <a:ext cx="53086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触觉过分防御</a:t>
            </a:r>
            <a:endParaRPr lang="en-US" sz="1600" dirty="0"/>
          </a:p>
        </p:txBody>
      </p:sp>
      <p:sp>
        <p:nvSpPr>
          <p:cNvPr id="11" name="Text 7"/>
          <p:cNvSpPr/>
          <p:nvPr>
            <p:custDataLst>
              <p:tags r:id="rId8"/>
            </p:custDataLst>
          </p:nvPr>
        </p:nvSpPr>
        <p:spPr>
          <a:xfrm>
            <a:off x="6728460" y="4343400"/>
            <a:ext cx="5295900" cy="508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导致抗拒触碰，影响握笔、使用剪刀等精细动作，制约学业技能发展。</a:t>
            </a:r>
            <a:endParaRPr lang="en-US" sz="1600" dirty="0"/>
          </a:p>
        </p:txBody>
      </p:sp>
      <p:sp>
        <p:nvSpPr>
          <p:cNvPr id="12" name="Shape 8"/>
          <p:cNvSpPr/>
          <p:nvPr>
            <p:custDataLst>
              <p:tags r:id="rId9"/>
            </p:custDataLst>
          </p:nvPr>
        </p:nvSpPr>
        <p:spPr>
          <a:xfrm>
            <a:off x="6176804" y="5054600"/>
            <a:ext cx="304800" cy="304800"/>
          </a:xfrm>
          <a:custGeom>
            <a:avLst/>
            <a:gdLst/>
            <a:ahLst/>
            <a:cxnLst/>
            <a:rect l="l" t="t" r="r" b="b"/>
            <a:pathLst>
              <a:path w="304800" h="304800">
                <a:moveTo>
                  <a:pt x="38100" y="57150"/>
                </a:moveTo>
                <a:cubicBezTo>
                  <a:pt x="38100" y="46613"/>
                  <a:pt x="46613" y="38100"/>
                  <a:pt x="57150" y="38100"/>
                </a:cubicBezTo>
                <a:lnTo>
                  <a:pt x="152400" y="38100"/>
                </a:lnTo>
                <a:cubicBezTo>
                  <a:pt x="162937" y="38100"/>
                  <a:pt x="171450" y="46613"/>
                  <a:pt x="171450" y="57150"/>
                </a:cubicBezTo>
                <a:lnTo>
                  <a:pt x="171450" y="228600"/>
                </a:lnTo>
                <a:lnTo>
                  <a:pt x="228600" y="228600"/>
                </a:lnTo>
                <a:lnTo>
                  <a:pt x="228600" y="152400"/>
                </a:lnTo>
                <a:cubicBezTo>
                  <a:pt x="228600" y="141863"/>
                  <a:pt x="237113" y="133350"/>
                  <a:pt x="247650" y="133350"/>
                </a:cubicBezTo>
                <a:lnTo>
                  <a:pt x="285750" y="133350"/>
                </a:lnTo>
                <a:cubicBezTo>
                  <a:pt x="296287" y="133350"/>
                  <a:pt x="304800" y="141863"/>
                  <a:pt x="304800" y="152400"/>
                </a:cubicBezTo>
                <a:cubicBezTo>
                  <a:pt x="304800" y="162937"/>
                  <a:pt x="296287" y="171450"/>
                  <a:pt x="285750" y="171450"/>
                </a:cubicBezTo>
                <a:lnTo>
                  <a:pt x="266700" y="171450"/>
                </a:lnTo>
                <a:lnTo>
                  <a:pt x="266700" y="247650"/>
                </a:lnTo>
                <a:cubicBezTo>
                  <a:pt x="266700" y="258187"/>
                  <a:pt x="258187" y="266700"/>
                  <a:pt x="247650" y="266700"/>
                </a:cubicBezTo>
                <a:lnTo>
                  <a:pt x="152400" y="266700"/>
                </a:lnTo>
                <a:cubicBezTo>
                  <a:pt x="141863" y="266700"/>
                  <a:pt x="133350" y="258187"/>
                  <a:pt x="133350" y="247650"/>
                </a:cubicBezTo>
                <a:lnTo>
                  <a:pt x="133350" y="76200"/>
                </a:lnTo>
                <a:lnTo>
                  <a:pt x="76200" y="76200"/>
                </a:lnTo>
                <a:lnTo>
                  <a:pt x="76200" y="152400"/>
                </a:lnTo>
                <a:cubicBezTo>
                  <a:pt x="76200" y="162937"/>
                  <a:pt x="67687" y="171450"/>
                  <a:pt x="57150" y="171450"/>
                </a:cubicBezTo>
                <a:lnTo>
                  <a:pt x="19050" y="171450"/>
                </a:lnTo>
                <a:cubicBezTo>
                  <a:pt x="8513" y="171450"/>
                  <a:pt x="0" y="162937"/>
                  <a:pt x="0" y="152400"/>
                </a:cubicBezTo>
                <a:cubicBezTo>
                  <a:pt x="0" y="141863"/>
                  <a:pt x="8513" y="133350"/>
                  <a:pt x="19050" y="133350"/>
                </a:cubicBezTo>
                <a:lnTo>
                  <a:pt x="38100" y="133350"/>
                </a:lnTo>
                <a:lnTo>
                  <a:pt x="38100" y="57150"/>
                </a:lnTo>
                <a:close/>
              </a:path>
            </a:pathLst>
          </a:custGeom>
          <a:solidFill>
            <a:srgbClr val="FFC107"/>
          </a:solidFill>
        </p:spPr>
      </p:sp>
      <p:sp>
        <p:nvSpPr>
          <p:cNvPr id="13" name="Text 9"/>
          <p:cNvSpPr/>
          <p:nvPr>
            <p:custDataLst>
              <p:tags r:id="rId10"/>
            </p:custDataLst>
          </p:nvPr>
        </p:nvSpPr>
        <p:spPr>
          <a:xfrm>
            <a:off x="6714808" y="5054600"/>
            <a:ext cx="53213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感觉输入整合不足</a:t>
            </a:r>
            <a:endParaRPr lang="en-US" sz="1600" dirty="0"/>
          </a:p>
        </p:txBody>
      </p:sp>
      <p:sp>
        <p:nvSpPr>
          <p:cNvPr id="14" name="Text 10"/>
          <p:cNvSpPr/>
          <p:nvPr>
            <p:custDataLst>
              <p:tags r:id="rId11"/>
            </p:custDataLst>
          </p:nvPr>
        </p:nvSpPr>
        <p:spPr>
          <a:xfrm>
            <a:off x="6714808" y="5359400"/>
            <a:ext cx="5308600" cy="508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无法有效过滤环境刺激，同学的小动作、窗外的声音都极易干扰注意力。</a:t>
            </a:r>
            <a:endParaRPr lang="en-US" sz="1600" dirty="0"/>
          </a:p>
        </p:txBody>
      </p:sp>
      <p:sp>
        <p:nvSpPr>
          <p:cNvPr id="15" name="文本框 14"/>
          <p:cNvSpPr txBox="1"/>
          <p:nvPr/>
        </p:nvSpPr>
        <p:spPr>
          <a:xfrm>
            <a:off x="9970135" y="937260"/>
            <a:ext cx="1887220" cy="645160"/>
          </a:xfrm>
          <a:prstGeom prst="rect">
            <a:avLst/>
          </a:prstGeom>
          <a:noFill/>
        </p:spPr>
        <p:txBody>
          <a:bodyPr wrap="square" rtlCol="0">
            <a:spAutoFit/>
          </a:bodyPr>
          <a:p>
            <a:r>
              <a:rPr lang="en-US" altLang="zh-CN"/>
              <a:t>Anna Jean</a:t>
            </a:r>
            <a:r>
              <a:rPr lang="en-US" altLang="en-US"/>
              <a:t> </a:t>
            </a:r>
            <a:r>
              <a:rPr lang="en-US" altLang="zh-CN"/>
              <a:t>Ayres </a:t>
            </a:r>
            <a:r>
              <a:rPr lang="zh-CN" altLang="en-US"/>
              <a:t>（</a:t>
            </a:r>
            <a:r>
              <a:rPr lang="en-US" altLang="zh-CN"/>
              <a:t>1920-1988</a:t>
            </a:r>
            <a:r>
              <a:rPr lang="zh-CN" altLang="en-US"/>
              <a:t>）</a:t>
            </a:r>
            <a:endParaRPr lang="zh-CN" altLang="en-US"/>
          </a:p>
        </p:txBody>
      </p:sp>
      <p:sp>
        <p:nvSpPr>
          <p:cNvPr id="16" name="文本框 15"/>
          <p:cNvSpPr txBox="1"/>
          <p:nvPr/>
        </p:nvSpPr>
        <p:spPr>
          <a:xfrm>
            <a:off x="909320" y="5867400"/>
            <a:ext cx="3914775" cy="368300"/>
          </a:xfrm>
          <a:prstGeom prst="rect">
            <a:avLst/>
          </a:prstGeom>
          <a:noFill/>
        </p:spPr>
        <p:txBody>
          <a:bodyPr wrap="square" rtlCol="0">
            <a:spAutoFit/>
          </a:bodyPr>
          <a:p>
            <a:r>
              <a:rPr lang="en-US" altLang="zh-CN" dirty="0">
                <a:solidFill>
                  <a:srgbClr val="FF0000"/>
                </a:solidFill>
                <a:sym typeface="+mn-ea"/>
              </a:rPr>
              <a:t>exacerbates the core symptoms</a:t>
            </a:r>
            <a:r>
              <a:rPr lang="en-US" altLang="zh-CN" dirty="0">
                <a:sym typeface="+mn-ea"/>
              </a:rPr>
              <a:t> </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Text 0"/>
          <p:cNvSpPr/>
          <p:nvPr/>
        </p:nvSpPr>
        <p:spPr>
          <a:xfrm>
            <a:off x="1903730" y="584200"/>
            <a:ext cx="8384540" cy="457200"/>
          </a:xfrm>
          <a:prstGeom prst="rect">
            <a:avLst/>
          </a:prstGeom>
          <a:noFill/>
        </p:spPr>
        <p:txBody>
          <a:bodyPr wrap="square" lIns="0" tIns="0" rIns="0" bIns="0" rtlCol="0" anchor="ctr"/>
          <a:lstStyle/>
          <a:p>
            <a:pPr>
              <a:lnSpc>
                <a:spcPct val="100000"/>
              </a:lnSpc>
            </a:pPr>
            <a:r>
              <a:rPr lang="en-US" altLang="zh-CN" sz="2400" dirty="0">
                <a:ln/>
                <a:solidFill>
                  <a:schemeClr val="accent1"/>
                </a:solidFill>
                <a:effectLst>
                  <a:outerShdw blurRad="38100" dist="25400" dir="5400000" algn="ctr" rotWithShape="0">
                    <a:srgbClr val="6E747A">
                      <a:alpha val="43000"/>
                    </a:srgbClr>
                  </a:outerShdw>
                </a:effectLst>
              </a:rPr>
              <a:t>Interactive amplification model: Schematic Diagram of the </a:t>
            </a:r>
            <a:r>
              <a:rPr lang="en-US" altLang="zh-CN" sz="2400" dirty="0">
                <a:ln/>
                <a:solidFill>
                  <a:srgbClr val="FF0000"/>
                </a:solidFill>
                <a:effectLst>
                  <a:outerShdw blurRad="38100" dist="25400" dir="5400000" algn="ctr" rotWithShape="0">
                    <a:srgbClr val="6E747A">
                      <a:alpha val="43000"/>
                    </a:srgbClr>
                  </a:outerShdw>
                </a:effectLst>
              </a:rPr>
              <a:t>negative cycle </a:t>
            </a:r>
            <a:r>
              <a:rPr lang="en-US" altLang="zh-CN" sz="2400" dirty="0">
                <a:ln/>
                <a:solidFill>
                  <a:schemeClr val="accent1"/>
                </a:solidFill>
                <a:effectLst>
                  <a:outerShdw blurRad="38100" dist="25400" dir="5400000" algn="ctr" rotWithShape="0">
                    <a:srgbClr val="6E747A">
                      <a:alpha val="43000"/>
                    </a:srgbClr>
                  </a:outerShdw>
                </a:effectLst>
              </a:rPr>
              <a:t>of dual symptoms</a:t>
            </a:r>
            <a:endParaRPr lang="en-US" altLang="zh-CN" sz="2400" dirty="0">
              <a:ln/>
              <a:solidFill>
                <a:schemeClr val="accent1"/>
              </a:solidFill>
              <a:effectLst>
                <a:outerShdw blurRad="38100" dist="25400" dir="5400000" algn="ctr" rotWithShape="0">
                  <a:srgbClr val="6E747A">
                    <a:alpha val="43000"/>
                  </a:srgbClr>
                </a:outerShdw>
              </a:effectLst>
            </a:endParaRPr>
          </a:p>
        </p:txBody>
      </p:sp>
      <p:sp>
        <p:nvSpPr>
          <p:cNvPr id="4" name="Text 1"/>
          <p:cNvSpPr/>
          <p:nvPr/>
        </p:nvSpPr>
        <p:spPr>
          <a:xfrm>
            <a:off x="1000125" y="1746250"/>
            <a:ext cx="9855200" cy="609600"/>
          </a:xfrm>
          <a:prstGeom prst="rect">
            <a:avLst/>
          </a:prstGeom>
          <a:noFill/>
        </p:spPr>
        <p:txBody>
          <a:bodyPr wrap="square" lIns="0" tIns="0" rIns="0" bIns="0" rtlCol="0" anchor="ctr"/>
          <a:lstStyle/>
          <a:p>
            <a:pPr algn="l">
              <a:lnSpc>
                <a:spcPct val="130000"/>
              </a:lnSpc>
            </a:pPr>
            <a:r>
              <a:rPr 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ADHD与感统失调并非孤立存在，而是形成一个双向反馈的恶性循环，导致学业、社交、自理三大战场同时受累，单一干预难以破局。</a:t>
            </a:r>
            <a:endParaRPr lang="en-US" sz="1600" dirty="0"/>
          </a:p>
        </p:txBody>
      </p:sp>
      <p:sp>
        <p:nvSpPr>
          <p:cNvPr id="5" name="Shape 2"/>
          <p:cNvSpPr/>
          <p:nvPr>
            <p:custDataLst>
              <p:tags r:id="rId2"/>
            </p:custDataLst>
          </p:nvPr>
        </p:nvSpPr>
        <p:spPr>
          <a:xfrm>
            <a:off x="2432050" y="2717165"/>
            <a:ext cx="7518400" cy="3111500"/>
          </a:xfrm>
          <a:custGeom>
            <a:avLst/>
            <a:gdLst/>
            <a:ahLst/>
            <a:cxnLst/>
            <a:rect l="l" t="t" r="r" b="b"/>
            <a:pathLst>
              <a:path w="7518400" h="2438400">
                <a:moveTo>
                  <a:pt x="1219200" y="0"/>
                </a:moveTo>
                <a:lnTo>
                  <a:pt x="6299200" y="0"/>
                </a:lnTo>
                <a:cubicBezTo>
                  <a:pt x="6972095" y="0"/>
                  <a:pt x="7518400" y="546305"/>
                  <a:pt x="7518400" y="1219200"/>
                </a:cubicBezTo>
                <a:lnTo>
                  <a:pt x="7518400" y="1219200"/>
                </a:lnTo>
                <a:cubicBezTo>
                  <a:pt x="7518400" y="1892095"/>
                  <a:pt x="6972095" y="2438400"/>
                  <a:pt x="6299200" y="2438400"/>
                </a:cubicBezTo>
                <a:lnTo>
                  <a:pt x="1219200" y="2438400"/>
                </a:lnTo>
                <a:cubicBezTo>
                  <a:pt x="546305" y="2438400"/>
                  <a:pt x="0" y="1892095"/>
                  <a:pt x="0" y="1219200"/>
                </a:cubicBezTo>
                <a:lnTo>
                  <a:pt x="0" y="1219200"/>
                </a:lnTo>
                <a:cubicBezTo>
                  <a:pt x="0" y="546305"/>
                  <a:pt x="546305" y="0"/>
                  <a:pt x="1219200" y="0"/>
                </a:cubicBezTo>
                <a:close/>
              </a:path>
            </a:pathLst>
          </a:custGeom>
          <a:solidFill>
            <a:srgbClr val="000000">
              <a:alpha val="0"/>
            </a:srgbClr>
          </a:solidFill>
          <a:ln w="50800">
            <a:solidFill>
              <a:srgbClr val="0056B3"/>
            </a:solidFill>
            <a:prstDash val="dash"/>
          </a:ln>
        </p:spPr>
      </p:sp>
      <p:sp>
        <p:nvSpPr>
          <p:cNvPr id="6" name="Shape 3"/>
          <p:cNvSpPr/>
          <p:nvPr>
            <p:custDataLst>
              <p:tags r:id="rId3"/>
            </p:custDataLst>
          </p:nvPr>
        </p:nvSpPr>
        <p:spPr>
          <a:xfrm>
            <a:off x="5537200" y="2717800"/>
            <a:ext cx="1117600" cy="812800"/>
          </a:xfrm>
          <a:custGeom>
            <a:avLst/>
            <a:gdLst/>
            <a:ahLst/>
            <a:cxnLst/>
            <a:rect l="l" t="t" r="r" b="b"/>
            <a:pathLst>
              <a:path w="1117600" h="812800">
                <a:moveTo>
                  <a:pt x="101600" y="0"/>
                </a:moveTo>
                <a:lnTo>
                  <a:pt x="1016000" y="0"/>
                </a:lnTo>
                <a:cubicBezTo>
                  <a:pt x="1072075" y="0"/>
                  <a:pt x="1117600" y="45525"/>
                  <a:pt x="1117600" y="101600"/>
                </a:cubicBezTo>
                <a:lnTo>
                  <a:pt x="1117600" y="711200"/>
                </a:lnTo>
                <a:cubicBezTo>
                  <a:pt x="1117600" y="767275"/>
                  <a:pt x="1072075" y="812800"/>
                  <a:pt x="1016000" y="812800"/>
                </a:cubicBezTo>
                <a:lnTo>
                  <a:pt x="101600" y="812800"/>
                </a:lnTo>
                <a:cubicBezTo>
                  <a:pt x="45525" y="812800"/>
                  <a:pt x="0" y="767275"/>
                  <a:pt x="0" y="711200"/>
                </a:cubicBezTo>
                <a:lnTo>
                  <a:pt x="0" y="101600"/>
                </a:lnTo>
                <a:cubicBezTo>
                  <a:pt x="0" y="45525"/>
                  <a:pt x="45525" y="0"/>
                  <a:pt x="101600" y="0"/>
                </a:cubicBezTo>
                <a:close/>
              </a:path>
            </a:pathLst>
          </a:custGeom>
          <a:solidFill>
            <a:srgbClr val="007BFF">
              <a:alpha val="20000"/>
            </a:srgbClr>
          </a:solidFill>
          <a:effectLst>
            <a:outerShdw blurRad="76200" dist="50800" dir="5400000" algn="bl" rotWithShape="0">
              <a:srgbClr val="000000">
                <a:alpha val="10196"/>
              </a:srgbClr>
            </a:outerShdw>
          </a:effectLst>
        </p:spPr>
      </p:sp>
      <p:sp>
        <p:nvSpPr>
          <p:cNvPr id="7" name="Text 4"/>
          <p:cNvSpPr/>
          <p:nvPr>
            <p:custDataLst>
              <p:tags r:id="rId4"/>
            </p:custDataLst>
          </p:nvPr>
        </p:nvSpPr>
        <p:spPr>
          <a:xfrm>
            <a:off x="5638800" y="2870200"/>
            <a:ext cx="914400" cy="304800"/>
          </a:xfrm>
          <a:prstGeom prst="rect">
            <a:avLst/>
          </a:prstGeom>
          <a:noFill/>
        </p:spPr>
        <p:txBody>
          <a:bodyPr wrap="square" lIns="0" tIns="0" rIns="0" bIns="0" rtlCol="0" anchor="ctr"/>
          <a:lstStyle/>
          <a:p>
            <a:pPr algn="ct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感统失调</a:t>
            </a:r>
            <a:endParaRPr lang="en-US" sz="1600" dirty="0"/>
          </a:p>
        </p:txBody>
      </p:sp>
      <p:sp>
        <p:nvSpPr>
          <p:cNvPr id="8" name="Text 5"/>
          <p:cNvSpPr/>
          <p:nvPr>
            <p:custDataLst>
              <p:tags r:id="rId5"/>
            </p:custDataLst>
          </p:nvPr>
        </p:nvSpPr>
        <p:spPr>
          <a:xfrm>
            <a:off x="5651500" y="3175000"/>
            <a:ext cx="889000" cy="203200"/>
          </a:xfrm>
          <a:prstGeom prst="rect">
            <a:avLst/>
          </a:prstGeom>
          <a:noFill/>
        </p:spPr>
        <p:txBody>
          <a:bodyPr wrap="square" lIns="0" tIns="0" rIns="0" bIns="0" rtlCol="0" anchor="ctr"/>
          <a:lstStyle/>
          <a:p>
            <a:pPr algn="ctr">
              <a:lnSpc>
                <a:spcPct val="110000"/>
              </a:lnSpc>
            </a:pPr>
            <a:r>
              <a:rPr lang="en-US" sz="12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身体不适</a:t>
            </a:r>
            <a:endParaRPr lang="en-US" sz="1600" dirty="0"/>
          </a:p>
        </p:txBody>
      </p:sp>
      <p:sp>
        <p:nvSpPr>
          <p:cNvPr id="9" name="Shape 6"/>
          <p:cNvSpPr/>
          <p:nvPr>
            <p:custDataLst>
              <p:tags r:id="rId6"/>
            </p:custDataLst>
          </p:nvPr>
        </p:nvSpPr>
        <p:spPr>
          <a:xfrm>
            <a:off x="7823200" y="3479800"/>
            <a:ext cx="1117600" cy="812800"/>
          </a:xfrm>
          <a:custGeom>
            <a:avLst/>
            <a:gdLst/>
            <a:ahLst/>
            <a:cxnLst/>
            <a:rect l="l" t="t" r="r" b="b"/>
            <a:pathLst>
              <a:path w="1117600" h="812800">
                <a:moveTo>
                  <a:pt x="101600" y="0"/>
                </a:moveTo>
                <a:lnTo>
                  <a:pt x="1016000" y="0"/>
                </a:lnTo>
                <a:cubicBezTo>
                  <a:pt x="1072075" y="0"/>
                  <a:pt x="1117600" y="45525"/>
                  <a:pt x="1117600" y="101600"/>
                </a:cubicBezTo>
                <a:lnTo>
                  <a:pt x="1117600" y="711200"/>
                </a:lnTo>
                <a:cubicBezTo>
                  <a:pt x="1117600" y="767275"/>
                  <a:pt x="1072075" y="812800"/>
                  <a:pt x="1016000" y="812800"/>
                </a:cubicBezTo>
                <a:lnTo>
                  <a:pt x="101600" y="812800"/>
                </a:lnTo>
                <a:cubicBezTo>
                  <a:pt x="45525" y="812800"/>
                  <a:pt x="0" y="767275"/>
                  <a:pt x="0" y="711200"/>
                </a:cubicBezTo>
                <a:lnTo>
                  <a:pt x="0" y="101600"/>
                </a:lnTo>
                <a:cubicBezTo>
                  <a:pt x="0" y="45525"/>
                  <a:pt x="45525" y="0"/>
                  <a:pt x="101600" y="0"/>
                </a:cubicBezTo>
                <a:close/>
              </a:path>
            </a:pathLst>
          </a:custGeom>
          <a:solidFill>
            <a:srgbClr val="007BFF">
              <a:alpha val="20000"/>
            </a:srgbClr>
          </a:solidFill>
          <a:effectLst>
            <a:outerShdw blurRad="76200" dist="50800" dir="5400000" algn="bl" rotWithShape="0">
              <a:srgbClr val="000000">
                <a:alpha val="10196"/>
              </a:srgbClr>
            </a:outerShdw>
          </a:effectLst>
        </p:spPr>
      </p:sp>
      <p:sp>
        <p:nvSpPr>
          <p:cNvPr id="10" name="Text 7"/>
          <p:cNvSpPr/>
          <p:nvPr>
            <p:custDataLst>
              <p:tags r:id="rId7"/>
            </p:custDataLst>
          </p:nvPr>
        </p:nvSpPr>
        <p:spPr>
          <a:xfrm>
            <a:off x="7924800" y="3632200"/>
            <a:ext cx="914400" cy="304800"/>
          </a:xfrm>
          <a:prstGeom prst="rect">
            <a:avLst/>
          </a:prstGeom>
          <a:noFill/>
        </p:spPr>
        <p:txBody>
          <a:bodyPr wrap="square" lIns="0" tIns="0" rIns="0" bIns="0" rtlCol="0" anchor="ctr"/>
          <a:lstStyle/>
          <a:p>
            <a:pPr algn="ct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注意分散</a:t>
            </a:r>
            <a:endParaRPr lang="en-US" sz="1600" dirty="0"/>
          </a:p>
        </p:txBody>
      </p:sp>
      <p:sp>
        <p:nvSpPr>
          <p:cNvPr id="11" name="Text 8"/>
          <p:cNvSpPr/>
          <p:nvPr>
            <p:custDataLst>
              <p:tags r:id="rId8"/>
            </p:custDataLst>
          </p:nvPr>
        </p:nvSpPr>
        <p:spPr>
          <a:xfrm>
            <a:off x="7937500" y="3937000"/>
            <a:ext cx="889000" cy="203200"/>
          </a:xfrm>
          <a:prstGeom prst="rect">
            <a:avLst/>
          </a:prstGeom>
          <a:noFill/>
        </p:spPr>
        <p:txBody>
          <a:bodyPr wrap="square" lIns="0" tIns="0" rIns="0" bIns="0" rtlCol="0" anchor="ctr"/>
          <a:lstStyle/>
          <a:p>
            <a:pPr algn="ctr">
              <a:lnSpc>
                <a:spcPct val="110000"/>
              </a:lnSpc>
            </a:pPr>
            <a:r>
              <a:rPr lang="en-US" sz="12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多动加剧</a:t>
            </a:r>
            <a:endParaRPr lang="en-US" sz="1600" dirty="0"/>
          </a:p>
        </p:txBody>
      </p:sp>
      <p:sp>
        <p:nvSpPr>
          <p:cNvPr id="12" name="Shape 9"/>
          <p:cNvSpPr/>
          <p:nvPr>
            <p:custDataLst>
              <p:tags r:id="rId9"/>
            </p:custDataLst>
          </p:nvPr>
        </p:nvSpPr>
        <p:spPr>
          <a:xfrm>
            <a:off x="5435600" y="5003800"/>
            <a:ext cx="1320800" cy="812800"/>
          </a:xfrm>
          <a:custGeom>
            <a:avLst/>
            <a:gdLst/>
            <a:ahLst/>
            <a:cxnLst/>
            <a:rect l="l" t="t" r="r" b="b"/>
            <a:pathLst>
              <a:path w="1320800" h="812800">
                <a:moveTo>
                  <a:pt x="101600" y="0"/>
                </a:moveTo>
                <a:lnTo>
                  <a:pt x="1219200" y="0"/>
                </a:lnTo>
                <a:cubicBezTo>
                  <a:pt x="1275275" y="0"/>
                  <a:pt x="1320800" y="45525"/>
                  <a:pt x="1320800" y="101600"/>
                </a:cubicBezTo>
                <a:lnTo>
                  <a:pt x="1320800" y="711200"/>
                </a:lnTo>
                <a:cubicBezTo>
                  <a:pt x="1320800" y="767275"/>
                  <a:pt x="1275275" y="812800"/>
                  <a:pt x="1219200" y="812800"/>
                </a:cubicBezTo>
                <a:lnTo>
                  <a:pt x="101600" y="812800"/>
                </a:lnTo>
                <a:cubicBezTo>
                  <a:pt x="45525" y="812800"/>
                  <a:pt x="0" y="767275"/>
                  <a:pt x="0" y="711200"/>
                </a:cubicBezTo>
                <a:lnTo>
                  <a:pt x="0" y="101600"/>
                </a:lnTo>
                <a:cubicBezTo>
                  <a:pt x="0" y="45525"/>
                  <a:pt x="45525" y="0"/>
                  <a:pt x="101600" y="0"/>
                </a:cubicBezTo>
                <a:close/>
              </a:path>
            </a:pathLst>
          </a:custGeom>
          <a:solidFill>
            <a:srgbClr val="007BFF">
              <a:alpha val="20000"/>
            </a:srgbClr>
          </a:solidFill>
          <a:effectLst>
            <a:outerShdw blurRad="76200" dist="50800" dir="5400000" algn="bl" rotWithShape="0">
              <a:srgbClr val="000000">
                <a:alpha val="10196"/>
              </a:srgbClr>
            </a:outerShdw>
          </a:effectLst>
        </p:spPr>
      </p:sp>
      <p:sp>
        <p:nvSpPr>
          <p:cNvPr id="13" name="Text 10"/>
          <p:cNvSpPr/>
          <p:nvPr>
            <p:custDataLst>
              <p:tags r:id="rId10"/>
            </p:custDataLst>
          </p:nvPr>
        </p:nvSpPr>
        <p:spPr>
          <a:xfrm>
            <a:off x="5537200" y="5156200"/>
            <a:ext cx="1117600" cy="304800"/>
          </a:xfrm>
          <a:prstGeom prst="rect">
            <a:avLst/>
          </a:prstGeom>
          <a:noFill/>
        </p:spPr>
        <p:txBody>
          <a:bodyPr wrap="square" lIns="0" tIns="0" rIns="0" bIns="0" rtlCol="0" anchor="ctr"/>
          <a:lstStyle/>
          <a:p>
            <a:pPr algn="ct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训练效果低</a:t>
            </a:r>
            <a:endParaRPr lang="en-US" sz="1600" dirty="0"/>
          </a:p>
        </p:txBody>
      </p:sp>
      <p:sp>
        <p:nvSpPr>
          <p:cNvPr id="14" name="Text 11"/>
          <p:cNvSpPr/>
          <p:nvPr>
            <p:custDataLst>
              <p:tags r:id="rId11"/>
            </p:custDataLst>
          </p:nvPr>
        </p:nvSpPr>
        <p:spPr>
          <a:xfrm>
            <a:off x="5549900" y="5461000"/>
            <a:ext cx="1092200" cy="203200"/>
          </a:xfrm>
          <a:prstGeom prst="rect">
            <a:avLst/>
          </a:prstGeom>
          <a:noFill/>
        </p:spPr>
        <p:txBody>
          <a:bodyPr wrap="square" lIns="0" tIns="0" rIns="0" bIns="0" rtlCol="0" anchor="ctr"/>
          <a:lstStyle/>
          <a:p>
            <a:pPr algn="ctr">
              <a:lnSpc>
                <a:spcPct val="110000"/>
              </a:lnSpc>
            </a:pPr>
            <a:r>
              <a:rPr lang="en-US" sz="12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感统更弱</a:t>
            </a:r>
            <a:endParaRPr lang="en-US" sz="1600" dirty="0"/>
          </a:p>
        </p:txBody>
      </p:sp>
      <p:sp>
        <p:nvSpPr>
          <p:cNvPr id="15" name="Shape 12"/>
          <p:cNvSpPr/>
          <p:nvPr>
            <p:custDataLst>
              <p:tags r:id="rId12"/>
            </p:custDataLst>
          </p:nvPr>
        </p:nvSpPr>
        <p:spPr>
          <a:xfrm>
            <a:off x="2969260" y="3479800"/>
            <a:ext cx="1676400" cy="812800"/>
          </a:xfrm>
          <a:custGeom>
            <a:avLst/>
            <a:gdLst/>
            <a:ahLst/>
            <a:cxnLst/>
            <a:rect l="l" t="t" r="r" b="b"/>
            <a:pathLst>
              <a:path w="1676400" h="812800">
                <a:moveTo>
                  <a:pt x="101600" y="0"/>
                </a:moveTo>
                <a:lnTo>
                  <a:pt x="1574800" y="0"/>
                </a:lnTo>
                <a:cubicBezTo>
                  <a:pt x="1630875" y="0"/>
                  <a:pt x="1676400" y="45525"/>
                  <a:pt x="1676400" y="101600"/>
                </a:cubicBezTo>
                <a:lnTo>
                  <a:pt x="1676400" y="711200"/>
                </a:lnTo>
                <a:cubicBezTo>
                  <a:pt x="1676400" y="767275"/>
                  <a:pt x="1630875" y="812800"/>
                  <a:pt x="1574800" y="812800"/>
                </a:cubicBezTo>
                <a:lnTo>
                  <a:pt x="101600" y="812800"/>
                </a:lnTo>
                <a:cubicBezTo>
                  <a:pt x="45525" y="812800"/>
                  <a:pt x="0" y="767275"/>
                  <a:pt x="0" y="711200"/>
                </a:cubicBezTo>
                <a:lnTo>
                  <a:pt x="0" y="101600"/>
                </a:lnTo>
                <a:cubicBezTo>
                  <a:pt x="0" y="45525"/>
                  <a:pt x="45525" y="0"/>
                  <a:pt x="101600" y="0"/>
                </a:cubicBezTo>
                <a:close/>
              </a:path>
            </a:pathLst>
          </a:custGeom>
          <a:solidFill>
            <a:srgbClr val="007BFF">
              <a:alpha val="20000"/>
            </a:srgbClr>
          </a:solidFill>
          <a:effectLst>
            <a:outerShdw blurRad="76200" dist="50800" dir="5400000" algn="bl" rotWithShape="0">
              <a:srgbClr val="000000">
                <a:alpha val="10196"/>
              </a:srgbClr>
            </a:outerShdw>
          </a:effectLst>
        </p:spPr>
      </p:sp>
      <p:sp>
        <p:nvSpPr>
          <p:cNvPr id="16" name="Text 13"/>
          <p:cNvSpPr/>
          <p:nvPr>
            <p:custDataLst>
              <p:tags r:id="rId13"/>
            </p:custDataLst>
          </p:nvPr>
        </p:nvSpPr>
        <p:spPr>
          <a:xfrm>
            <a:off x="3070860" y="3632200"/>
            <a:ext cx="1473200" cy="304800"/>
          </a:xfrm>
          <a:prstGeom prst="rect">
            <a:avLst/>
          </a:prstGeom>
          <a:noFill/>
        </p:spPr>
        <p:txBody>
          <a:bodyPr wrap="square" lIns="0" tIns="0" rIns="0" bIns="0" rtlCol="0" anchor="ctr"/>
          <a:lstStyle/>
          <a:p>
            <a:pPr algn="ct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学业/社交/自理</a:t>
            </a:r>
            <a:endParaRPr lang="en-US" sz="1600" dirty="0"/>
          </a:p>
        </p:txBody>
      </p:sp>
      <p:sp>
        <p:nvSpPr>
          <p:cNvPr id="17" name="Text 14"/>
          <p:cNvSpPr/>
          <p:nvPr>
            <p:custDataLst>
              <p:tags r:id="rId14"/>
            </p:custDataLst>
          </p:nvPr>
        </p:nvSpPr>
        <p:spPr>
          <a:xfrm>
            <a:off x="3083560" y="3937000"/>
            <a:ext cx="1447800" cy="203200"/>
          </a:xfrm>
          <a:prstGeom prst="rect">
            <a:avLst/>
          </a:prstGeom>
          <a:noFill/>
        </p:spPr>
        <p:txBody>
          <a:bodyPr wrap="square" lIns="0" tIns="0" rIns="0" bIns="0" rtlCol="0" anchor="ctr"/>
          <a:lstStyle/>
          <a:p>
            <a:pPr algn="ctr">
              <a:lnSpc>
                <a:spcPct val="110000"/>
              </a:lnSpc>
            </a:pPr>
            <a:r>
              <a:rPr lang="en-US" sz="12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全面受挫</a:t>
            </a:r>
            <a:endParaRPr lang="en-US" sz="1600" dirty="0"/>
          </a:p>
        </p:txBody>
      </p:sp>
      <p:sp>
        <p:nvSpPr>
          <p:cNvPr id="18" name="Text 15"/>
          <p:cNvSpPr/>
          <p:nvPr>
            <p:custDataLst>
              <p:tags r:id="rId15"/>
            </p:custDataLst>
          </p:nvPr>
        </p:nvSpPr>
        <p:spPr>
          <a:xfrm>
            <a:off x="7391400" y="3251200"/>
            <a:ext cx="685800" cy="508000"/>
          </a:xfrm>
          <a:prstGeom prst="rect">
            <a:avLst/>
          </a:prstGeom>
          <a:noFill/>
        </p:spPr>
        <p:txBody>
          <a:bodyPr wrap="square" lIns="0" tIns="0" rIns="0" bIns="0" rtlCol="0" anchor="ctr"/>
          <a:lstStyle/>
          <a:p>
            <a:pPr>
              <a:lnSpc>
                <a:spcPct val="90000"/>
              </a:lnSpc>
            </a:pPr>
            <a:r>
              <a:rPr lang="en-US" sz="3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19" name="Text 16"/>
          <p:cNvSpPr/>
          <p:nvPr>
            <p:custDataLst>
              <p:tags r:id="rId16"/>
            </p:custDataLst>
          </p:nvPr>
        </p:nvSpPr>
        <p:spPr>
          <a:xfrm rot="5400000">
            <a:off x="7366000" y="4800600"/>
            <a:ext cx="685800" cy="508000"/>
          </a:xfrm>
          <a:prstGeom prst="rect">
            <a:avLst/>
          </a:prstGeom>
          <a:noFill/>
        </p:spPr>
        <p:txBody>
          <a:bodyPr wrap="square" lIns="0" tIns="0" rIns="0" bIns="0" rtlCol="0" anchor="ctr"/>
          <a:lstStyle/>
          <a:p>
            <a:pPr>
              <a:lnSpc>
                <a:spcPct val="90000"/>
              </a:lnSpc>
            </a:pPr>
            <a:r>
              <a:rPr lang="en-US" sz="3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20" name="Text 17"/>
          <p:cNvSpPr/>
          <p:nvPr>
            <p:custDataLst>
              <p:tags r:id="rId17"/>
            </p:custDataLst>
          </p:nvPr>
        </p:nvSpPr>
        <p:spPr>
          <a:xfrm rot="10800000">
            <a:off x="4343400" y="4775200"/>
            <a:ext cx="685800" cy="508000"/>
          </a:xfrm>
          <a:prstGeom prst="rect">
            <a:avLst/>
          </a:prstGeom>
          <a:noFill/>
        </p:spPr>
        <p:txBody>
          <a:bodyPr wrap="square" lIns="0" tIns="0" rIns="0" bIns="0" rtlCol="0" anchor="ctr"/>
          <a:lstStyle/>
          <a:p>
            <a:pPr>
              <a:lnSpc>
                <a:spcPct val="90000"/>
              </a:lnSpc>
            </a:pPr>
            <a:r>
              <a:rPr lang="en-US" sz="3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21" name="Text 18"/>
          <p:cNvSpPr/>
          <p:nvPr>
            <p:custDataLst>
              <p:tags r:id="rId18"/>
            </p:custDataLst>
          </p:nvPr>
        </p:nvSpPr>
        <p:spPr>
          <a:xfrm rot="-5400000">
            <a:off x="4318000" y="3276600"/>
            <a:ext cx="685800" cy="508000"/>
          </a:xfrm>
          <a:prstGeom prst="rect">
            <a:avLst/>
          </a:prstGeom>
          <a:noFill/>
        </p:spPr>
        <p:txBody>
          <a:bodyPr wrap="square" lIns="0" tIns="0" rIns="0" bIns="0" rtlCol="0" anchor="ctr"/>
          <a:lstStyle/>
          <a:p>
            <a:pPr>
              <a:lnSpc>
                <a:spcPct val="90000"/>
              </a:lnSpc>
            </a:pPr>
            <a:r>
              <a:rPr lang="en-US" sz="3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019935" y="629285"/>
            <a:ext cx="7929245" cy="2306955"/>
          </a:xfrm>
          <a:prstGeom prst="rect">
            <a:avLst/>
          </a:prstGeom>
          <a:noFill/>
        </p:spPr>
        <p:txBody>
          <a:bodyPr wrap="square" rtlCol="0">
            <a:spAutoFit/>
            <a:scene3d>
              <a:camera prst="orthographicFront"/>
              <a:lightRig rig="threePt" dir="t"/>
            </a:scene3d>
          </a:bodyPr>
          <a:p>
            <a:r>
              <a:rPr lang="en-US" altLang="zh-CN" sz="720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Specific negative manifestations</a:t>
            </a:r>
            <a:endParaRPr lang="en-US" altLang="zh-CN" sz="720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下箭头 2"/>
          <p:cNvSpPr/>
          <p:nvPr/>
        </p:nvSpPr>
        <p:spPr>
          <a:xfrm>
            <a:off x="5244465" y="3251200"/>
            <a:ext cx="1196340" cy="251650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83285" y="702310"/>
            <a:ext cx="10292715" cy="4690745"/>
          </a:xfrm>
          <a:prstGeom prst="rect">
            <a:avLst/>
          </a:prstGeom>
        </p:spPr>
        <p:txBody>
          <a:bodyPr wrap="square">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charset="-122"/>
              </a:rPr>
              <a:t>1. ADHD </a:t>
            </a:r>
            <a:r>
              <a:rPr lang="zh-CN" altLang="en-US" sz="1800">
                <a:latin typeface="Arial" panose="020B0604020202020204" pitchFamily="34" charset="0"/>
                <a:ea typeface="微软雅黑" panose="020B0503020204020204" charset="-122"/>
              </a:rPr>
              <a:t>的执行功能缺陷削弱感觉统合训练效果</a:t>
            </a:r>
            <a:endParaRPr lang="zh-CN" altLang="en-US" sz="1800">
              <a:latin typeface="Arial" panose="020B0604020202020204" pitchFamily="34" charset="0"/>
              <a:ea typeface="微软雅黑" panose="020B0503020204020204" charset="-122"/>
            </a:endParaRPr>
          </a:p>
          <a:p>
            <a:pPr algn="l"/>
            <a:r>
              <a:rPr lang="en-US" altLang="zh-CN" sz="1800">
                <a:latin typeface="Arial" panose="020B0604020202020204" pitchFamily="34" charset="0"/>
                <a:ea typeface="微软雅黑" panose="020B0503020204020204" charset="-122"/>
              </a:rPr>
              <a:t>The executive function deficiency of ADHD weakens the effect of sensory integration training</a:t>
            </a:r>
            <a:endParaRPr lang="en-US" altLang="zh-CN" sz="1800">
              <a:latin typeface="Arial" panose="020B0604020202020204" pitchFamily="34" charset="0"/>
              <a:ea typeface="微软雅黑" panose="020B0503020204020204" charset="-122"/>
            </a:endParaRPr>
          </a:p>
          <a:p>
            <a:pPr algn="l"/>
            <a:endParaRPr lang="zh-CN" altLang="en-US" sz="1800">
              <a:latin typeface="Arial" panose="020B0604020202020204" pitchFamily="34" charset="0"/>
              <a:ea typeface="微软雅黑" panose="020B0503020204020204" charset="-122"/>
            </a:endParaRPr>
          </a:p>
          <a:p>
            <a:pPr algn="l"/>
            <a:r>
              <a:rPr lang="zh-CN" altLang="en-US" sz="1800">
                <a:latin typeface="Arial" panose="020B0604020202020204" pitchFamily="34" charset="0"/>
                <a:ea typeface="微软雅黑" panose="020B0503020204020204" charset="-122"/>
              </a:rPr>
              <a:t>注意力分散导致训练低效：</a:t>
            </a:r>
            <a:r>
              <a:rPr lang="en-US" altLang="zh-CN" sz="1800">
                <a:latin typeface="Arial" panose="020B0604020202020204" pitchFamily="34" charset="0"/>
                <a:ea typeface="微软雅黑" panose="020B0503020204020204" charset="-122"/>
              </a:rPr>
              <a:t>ADHD </a:t>
            </a:r>
            <a:r>
              <a:rPr lang="zh-CN" altLang="en-US" sz="1800">
                <a:latin typeface="Arial" panose="020B0604020202020204" pitchFamily="34" charset="0"/>
                <a:ea typeface="微软雅黑" panose="020B0503020204020204" charset="-122"/>
              </a:rPr>
              <a:t>导致小煦注意力集中时长不足</a:t>
            </a:r>
            <a:r>
              <a:rPr lang="en-US" altLang="zh-CN" sz="1800">
                <a:latin typeface="Arial" panose="020B0604020202020204" pitchFamily="34" charset="0"/>
                <a:ea typeface="微软雅黑" panose="020B0503020204020204" charset="-122"/>
              </a:rPr>
              <a:t> 5 </a:t>
            </a:r>
            <a:r>
              <a:rPr lang="zh-CN" altLang="en-US" sz="1800">
                <a:latin typeface="Arial" panose="020B0604020202020204" pitchFamily="34" charset="0"/>
                <a:ea typeface="微软雅黑" panose="020B0503020204020204" charset="-122"/>
              </a:rPr>
              <a:t>分钟，在感觉统合训练中表现为</a:t>
            </a:r>
            <a:r>
              <a:rPr lang="en-US" altLang="zh-CN" sz="1800">
                <a:latin typeface="Arial" panose="020B0604020202020204" pitchFamily="34" charset="0"/>
                <a:ea typeface="微软雅黑" panose="020B0503020204020204" charset="-122"/>
              </a:rPr>
              <a:t> “</a:t>
            </a:r>
            <a:r>
              <a:rPr lang="en-US" altLang="zh-CN" sz="1800">
                <a:solidFill>
                  <a:schemeClr val="accent6"/>
                </a:solidFill>
                <a:latin typeface="Arial" panose="020B0604020202020204" pitchFamily="34" charset="0"/>
                <a:ea typeface="微软雅黑" panose="020B0503020204020204" charset="-122"/>
              </a:rPr>
              <a:t>Unable to focus on completing the action steps</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。例如，《瑞文标准推理测验》中其</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答题时持续提问</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选哪个</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，犹豫不决且多次更改答案</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，这种注意力涣散同样体现在平衡训练中</a:t>
            </a:r>
            <a:r>
              <a:rPr lang="en-US" altLang="zh-CN" sz="1800">
                <a:latin typeface="Arial" panose="020B0604020202020204" pitchFamily="34" charset="0"/>
                <a:ea typeface="微软雅黑" panose="020B0503020204020204" charset="-122"/>
              </a:rPr>
              <a:t> —— </a:t>
            </a:r>
            <a:r>
              <a:rPr lang="zh-CN" altLang="en-US" sz="1800">
                <a:latin typeface="Arial" panose="020B0604020202020204" pitchFamily="34" charset="0"/>
                <a:ea typeface="微软雅黑" panose="020B0503020204020204" charset="-122"/>
              </a:rPr>
              <a:t>校外康复训练习得的单脚站立动作，因训练时无法专注记忆动作要领，</a:t>
            </a:r>
            <a:r>
              <a:rPr lang="zh-CN" altLang="en-US" sz="1800">
                <a:solidFill>
                  <a:srgbClr val="FF0000"/>
                </a:solidFill>
                <a:latin typeface="Arial" panose="020B0604020202020204" pitchFamily="34" charset="0"/>
                <a:ea typeface="微软雅黑" panose="020B0503020204020204" charset="-122"/>
              </a:rPr>
              <a:t>评估时仍</a:t>
            </a:r>
            <a:r>
              <a:rPr lang="en-US" altLang="zh-CN" sz="1800">
                <a:solidFill>
                  <a:srgbClr val="FF0000"/>
                </a:solidFill>
                <a:latin typeface="Arial" panose="020B0604020202020204" pitchFamily="34" charset="0"/>
                <a:ea typeface="微软雅黑" panose="020B0503020204020204" charset="-122"/>
              </a:rPr>
              <a:t> “</a:t>
            </a:r>
            <a:r>
              <a:rPr lang="zh-CN" altLang="en-US" sz="1800">
                <a:solidFill>
                  <a:srgbClr val="FF0000"/>
                </a:solidFill>
                <a:latin typeface="Arial" panose="020B0604020202020204" pitchFamily="34" charset="0"/>
                <a:ea typeface="微软雅黑" panose="020B0503020204020204" charset="-122"/>
              </a:rPr>
              <a:t>单脚站一边</a:t>
            </a:r>
            <a:r>
              <a:rPr lang="en-US" altLang="zh-CN" sz="1800">
                <a:solidFill>
                  <a:srgbClr val="FF0000"/>
                </a:solidFill>
                <a:latin typeface="Arial" panose="020B0604020202020204" pitchFamily="34" charset="0"/>
                <a:ea typeface="微软雅黑" panose="020B0503020204020204" charset="-122"/>
              </a:rPr>
              <a:t> 6 </a:t>
            </a:r>
            <a:r>
              <a:rPr lang="zh-CN" altLang="en-US" sz="1800">
                <a:solidFill>
                  <a:srgbClr val="FF0000"/>
                </a:solidFill>
                <a:latin typeface="Arial" panose="020B0604020202020204" pitchFamily="34" charset="0"/>
                <a:ea typeface="微软雅黑" panose="020B0503020204020204" charset="-122"/>
              </a:rPr>
              <a:t>秒、一边</a:t>
            </a:r>
            <a:r>
              <a:rPr lang="en-US" altLang="zh-CN" sz="1800">
                <a:solidFill>
                  <a:srgbClr val="FF0000"/>
                </a:solidFill>
                <a:latin typeface="Arial" panose="020B0604020202020204" pitchFamily="34" charset="0"/>
                <a:ea typeface="微软雅黑" panose="020B0503020204020204" charset="-122"/>
              </a:rPr>
              <a:t> 3 </a:t>
            </a:r>
            <a:r>
              <a:rPr lang="zh-CN" altLang="en-US" sz="1800">
                <a:solidFill>
                  <a:srgbClr val="FF0000"/>
                </a:solidFill>
                <a:latin typeface="Arial" panose="020B0604020202020204" pitchFamily="34" charset="0"/>
                <a:ea typeface="微软雅黑" panose="020B0503020204020204" charset="-122"/>
              </a:rPr>
              <a:t>秒</a:t>
            </a:r>
            <a:r>
              <a:rPr lang="en-US" altLang="zh-CN" sz="1800">
                <a:solidFill>
                  <a:srgbClr val="FF0000"/>
                </a:solidFill>
                <a:latin typeface="Arial" panose="020B0604020202020204" pitchFamily="34" charset="0"/>
                <a:ea typeface="微软雅黑" panose="020B0503020204020204" charset="-122"/>
              </a:rPr>
              <a:t>”</a:t>
            </a:r>
            <a:r>
              <a:rPr lang="zh-CN" altLang="en-US" sz="1800">
                <a:solidFill>
                  <a:srgbClr val="FF0000"/>
                </a:solidFill>
                <a:latin typeface="Arial" panose="020B0604020202020204" pitchFamily="34" charset="0"/>
                <a:ea typeface="微软雅黑" panose="020B0503020204020204" charset="-122"/>
              </a:rPr>
              <a:t>，远未达到</a:t>
            </a:r>
            <a:r>
              <a:rPr lang="en-US" altLang="zh-CN" sz="1800">
                <a:solidFill>
                  <a:srgbClr val="FF0000"/>
                </a:solidFill>
                <a:latin typeface="Arial" panose="020B0604020202020204" pitchFamily="34" charset="0"/>
                <a:ea typeface="微软雅黑" panose="020B0503020204020204" charset="-122"/>
              </a:rPr>
              <a:t> “</a:t>
            </a:r>
            <a:r>
              <a:rPr lang="zh-CN" altLang="en-US" sz="1800">
                <a:solidFill>
                  <a:srgbClr val="FF0000"/>
                </a:solidFill>
                <a:latin typeface="Arial" panose="020B0604020202020204" pitchFamily="34" charset="0"/>
                <a:ea typeface="微软雅黑" panose="020B0503020204020204" charset="-122"/>
              </a:rPr>
              <a:t>单脚站</a:t>
            </a:r>
            <a:r>
              <a:rPr lang="en-US" altLang="zh-CN" sz="1800">
                <a:solidFill>
                  <a:srgbClr val="FF0000"/>
                </a:solidFill>
                <a:latin typeface="Arial" panose="020B0604020202020204" pitchFamily="34" charset="0"/>
                <a:ea typeface="微软雅黑" panose="020B0503020204020204" charset="-122"/>
              </a:rPr>
              <a:t> 10 </a:t>
            </a:r>
            <a:r>
              <a:rPr lang="zh-CN" altLang="en-US" sz="1800">
                <a:solidFill>
                  <a:srgbClr val="FF0000"/>
                </a:solidFill>
                <a:latin typeface="Arial" panose="020B0604020202020204" pitchFamily="34" charset="0"/>
                <a:ea typeface="微软雅黑" panose="020B0503020204020204" charset="-122"/>
              </a:rPr>
              <a:t>秒</a:t>
            </a:r>
            <a:r>
              <a:rPr lang="en-US" altLang="zh-CN" sz="1800">
                <a:solidFill>
                  <a:srgbClr val="FF0000"/>
                </a:solidFill>
                <a:latin typeface="Arial" panose="020B0604020202020204" pitchFamily="34" charset="0"/>
                <a:ea typeface="微软雅黑" panose="020B0503020204020204" charset="-122"/>
              </a:rPr>
              <a:t>” </a:t>
            </a:r>
            <a:r>
              <a:rPr lang="zh-CN" altLang="en-US" sz="1800">
                <a:solidFill>
                  <a:srgbClr val="FF0000"/>
                </a:solidFill>
                <a:latin typeface="Arial" panose="020B0604020202020204" pitchFamily="34" charset="0"/>
                <a:ea typeface="微软雅黑" panose="020B0503020204020204" charset="-122"/>
              </a:rPr>
              <a:t>的同龄标准</a:t>
            </a:r>
            <a:r>
              <a:rPr lang="zh-CN" altLang="en-US" sz="1800">
                <a:latin typeface="Arial" panose="020B0604020202020204" pitchFamily="34" charset="0"/>
                <a:ea typeface="微软雅黑" panose="020B0503020204020204" charset="-122"/>
              </a:rPr>
              <a:t>；精细动作训练中，仿画正方形时</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仅用线条勾勒（宝盖头当身体、竖线当腿、圆点当脚）</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，遗漏头发、耳朵等细节，用剪刀时</a:t>
            </a:r>
            <a:r>
              <a:rPr lang="en-US" altLang="zh-CN" sz="1800">
                <a:latin typeface="Arial" panose="020B0604020202020204" pitchFamily="34" charset="0"/>
                <a:ea typeface="微软雅黑" panose="020B0503020204020204" charset="-122"/>
              </a:rPr>
              <a:t> “</a:t>
            </a:r>
            <a:r>
              <a:rPr lang="zh-CN" altLang="en-US" sz="1800">
                <a:solidFill>
                  <a:srgbClr val="FF0000"/>
                </a:solidFill>
                <a:latin typeface="Arial" panose="020B0604020202020204" pitchFamily="34" charset="0"/>
                <a:ea typeface="微软雅黑" panose="020B0503020204020204" charset="-122"/>
              </a:rPr>
              <a:t>不会顺着线条剪</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，核心是注意力无法集中于</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手部动作控制</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a:t>
            </a:r>
            <a:endParaRPr lang="zh-CN" altLang="en-US" sz="1800">
              <a:latin typeface="Arial" panose="020B0604020202020204" pitchFamily="34" charset="0"/>
              <a:ea typeface="微软雅黑" panose="020B0503020204020204" charset="-122"/>
            </a:endParaRPr>
          </a:p>
          <a:p>
            <a:pPr algn="l"/>
            <a:r>
              <a:rPr lang="zh-CN" altLang="en-US" sz="1800">
                <a:latin typeface="Arial" panose="020B0604020202020204" pitchFamily="34" charset="0"/>
                <a:ea typeface="微软雅黑" panose="020B0503020204020204" charset="-122"/>
              </a:rPr>
              <a:t>冲动控制弱加剧动作偏差：</a:t>
            </a:r>
            <a:r>
              <a:rPr lang="en-US" altLang="zh-CN" sz="1800">
                <a:latin typeface="Arial" panose="020B0604020202020204" pitchFamily="34" charset="0"/>
                <a:ea typeface="微软雅黑" panose="020B0503020204020204" charset="-122"/>
              </a:rPr>
              <a:t>ADHD </a:t>
            </a:r>
            <a:r>
              <a:rPr lang="zh-CN" altLang="en-US" sz="1800">
                <a:latin typeface="Arial" panose="020B0604020202020204" pitchFamily="34" charset="0"/>
                <a:ea typeface="微软雅黑" panose="020B0503020204020204" charset="-122"/>
              </a:rPr>
              <a:t>的冲动行为使小煦在需要耐心的感觉统合训练中难以配合。课堂上</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不能控制自己，多动且随意下座位</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，这种冲动延伸到动作训练中</a:t>
            </a:r>
            <a:r>
              <a:rPr lang="en-US" altLang="zh-CN" sz="1800">
                <a:latin typeface="Arial" panose="020B0604020202020204" pitchFamily="34" charset="0"/>
                <a:ea typeface="微软雅黑" panose="020B0503020204020204" charset="-122"/>
              </a:rPr>
              <a:t> —— </a:t>
            </a:r>
            <a:r>
              <a:rPr lang="zh-CN" altLang="en-US" sz="1800">
                <a:latin typeface="Arial" panose="020B0604020202020204" pitchFamily="34" charset="0"/>
                <a:ea typeface="微软雅黑" panose="020B0503020204020204" charset="-122"/>
              </a:rPr>
              <a:t>练习脚后跟行走时</a:t>
            </a:r>
            <a:r>
              <a:rPr lang="en-US" altLang="zh-CN" sz="1800">
                <a:latin typeface="Arial" panose="020B0604020202020204" pitchFamily="34" charset="0"/>
                <a:ea typeface="微软雅黑" panose="020B0503020204020204" charset="-122"/>
              </a:rPr>
              <a:t> “</a:t>
            </a:r>
            <a:r>
              <a:rPr lang="zh-CN" altLang="en-US" sz="1800">
                <a:solidFill>
                  <a:srgbClr val="FF0000"/>
                </a:solidFill>
                <a:latin typeface="Arial" panose="020B0604020202020204" pitchFamily="34" charset="0"/>
                <a:ea typeface="微软雅黑" panose="020B0503020204020204" charset="-122"/>
              </a:rPr>
              <a:t>仅能走</a:t>
            </a:r>
            <a:r>
              <a:rPr lang="en-US" altLang="zh-CN" sz="1800">
                <a:solidFill>
                  <a:srgbClr val="FF0000"/>
                </a:solidFill>
                <a:latin typeface="Arial" panose="020B0604020202020204" pitchFamily="34" charset="0"/>
                <a:ea typeface="微软雅黑" panose="020B0503020204020204" charset="-122"/>
              </a:rPr>
              <a:t> 3 </a:t>
            </a:r>
            <a:r>
              <a:rPr lang="zh-CN" altLang="en-US" sz="1800">
                <a:solidFill>
                  <a:srgbClr val="FF0000"/>
                </a:solidFill>
                <a:latin typeface="Arial" panose="020B0604020202020204" pitchFamily="34" charset="0"/>
                <a:ea typeface="微软雅黑" panose="020B0503020204020204" charset="-122"/>
              </a:rPr>
              <a:t>米就擅自停下</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，跳过高度及膝的栏杆时</a:t>
            </a:r>
            <a:r>
              <a:rPr lang="en-US" altLang="zh-CN" sz="1800">
                <a:latin typeface="Arial" panose="020B0604020202020204" pitchFamily="34" charset="0"/>
                <a:ea typeface="微软雅黑" panose="020B0503020204020204" charset="-122"/>
              </a:rPr>
              <a:t> “</a:t>
            </a:r>
            <a:r>
              <a:rPr lang="zh-CN" altLang="en-US" sz="1800">
                <a:solidFill>
                  <a:srgbClr val="FF0000"/>
                </a:solidFill>
                <a:latin typeface="Arial" panose="020B0604020202020204" pitchFamily="34" charset="0"/>
                <a:ea typeface="微软雅黑" panose="020B0503020204020204" charset="-122"/>
              </a:rPr>
              <a:t>未看清高度就冲动起跳，多次摔倒后拒绝再尝试</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，导致动作能力提升缓慢。</a:t>
            </a:r>
            <a:endParaRPr lang="zh-CN" altLang="en-US" sz="1800">
              <a:latin typeface="Arial" panose="020B0604020202020204" pitchFamily="34" charset="0"/>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83285" y="702310"/>
            <a:ext cx="10292715" cy="4690745"/>
          </a:xfrm>
          <a:prstGeom prst="rect">
            <a:avLst/>
          </a:prstGeom>
        </p:spPr>
        <p:txBody>
          <a:bodyPr wrap="square">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charset="-122"/>
              </a:rPr>
              <a:t>2. </a:t>
            </a:r>
            <a:r>
              <a:rPr lang="zh-CN" altLang="en-US" sz="1800">
                <a:latin typeface="Arial" panose="020B0604020202020204" pitchFamily="34" charset="0"/>
                <a:ea typeface="微软雅黑" panose="020B0503020204020204" charset="-122"/>
              </a:rPr>
              <a:t>感觉统合失调放大</a:t>
            </a:r>
            <a:r>
              <a:rPr lang="en-US" altLang="zh-CN" sz="1800">
                <a:latin typeface="Arial" panose="020B0604020202020204" pitchFamily="34" charset="0"/>
                <a:ea typeface="微软雅黑" panose="020B0503020204020204" charset="-122"/>
              </a:rPr>
              <a:t> ADHD </a:t>
            </a:r>
            <a:r>
              <a:rPr lang="zh-CN" altLang="en-US" sz="1800">
                <a:latin typeface="Arial" panose="020B0604020202020204" pitchFamily="34" charset="0"/>
                <a:ea typeface="微软雅黑" panose="020B0503020204020204" charset="-122"/>
              </a:rPr>
              <a:t>症状表现</a:t>
            </a:r>
            <a:endParaRPr lang="zh-CN" altLang="en-US" sz="1800">
              <a:latin typeface="Arial" panose="020B0604020202020204" pitchFamily="34" charset="0"/>
              <a:ea typeface="微软雅黑" panose="020B0503020204020204" charset="-122"/>
            </a:endParaRPr>
          </a:p>
          <a:p>
            <a:pPr algn="l"/>
            <a:r>
              <a:rPr lang="en-US" altLang="zh-CN" sz="1800">
                <a:latin typeface="Arial" panose="020B0604020202020204" pitchFamily="34" charset="0"/>
                <a:ea typeface="微软雅黑" panose="020B0503020204020204" charset="-122"/>
              </a:rPr>
              <a:t>2. Sensory integration dysfunction amplifies the manifestations of ADHD symptoms</a:t>
            </a:r>
            <a:endParaRPr lang="en-US" altLang="zh-CN" sz="1800">
              <a:latin typeface="Arial" panose="020B0604020202020204" pitchFamily="34" charset="0"/>
              <a:ea typeface="微软雅黑" panose="020B0503020204020204" charset="-122"/>
            </a:endParaRPr>
          </a:p>
          <a:p>
            <a:pPr algn="l"/>
            <a:endParaRPr lang="zh-CN" altLang="en-US" sz="1800">
              <a:latin typeface="Arial" panose="020B0604020202020204" pitchFamily="34" charset="0"/>
              <a:ea typeface="微软雅黑" panose="020B0503020204020204" charset="-122"/>
            </a:endParaRPr>
          </a:p>
          <a:p>
            <a:pPr algn="l"/>
            <a:r>
              <a:rPr lang="zh-CN" altLang="en-US" sz="1800">
                <a:latin typeface="Arial" panose="020B0604020202020204" pitchFamily="34" charset="0"/>
                <a:ea typeface="微软雅黑" panose="020B0503020204020204" charset="-122"/>
              </a:rPr>
              <a:t>前庭</a:t>
            </a:r>
            <a:r>
              <a:rPr lang="en-US" altLang="zh-CN" sz="1800">
                <a:latin typeface="Arial" panose="020B0604020202020204" pitchFamily="34" charset="0"/>
                <a:ea typeface="微软雅黑" panose="020B0503020204020204" charset="-122"/>
              </a:rPr>
              <a:t> / </a:t>
            </a:r>
            <a:r>
              <a:rPr lang="zh-CN" altLang="en-US" sz="1800">
                <a:latin typeface="Arial" panose="020B0604020202020204" pitchFamily="34" charset="0"/>
                <a:ea typeface="微软雅黑" panose="020B0503020204020204" charset="-122"/>
              </a:rPr>
              <a:t>本体感失调加剧多动行为：</a:t>
            </a:r>
            <a:r>
              <a:rPr lang="en-US" altLang="zh-CN" sz="1800">
                <a:solidFill>
                  <a:srgbClr val="FF0000"/>
                </a:solidFill>
                <a:latin typeface="Arial" panose="020B0604020202020204" pitchFamily="34" charset="0"/>
                <a:ea typeface="微软雅黑" panose="020B0503020204020204" charset="-122"/>
              </a:rPr>
              <a:t>Insufficient body control ability caused by sensory integration dysfunction</a:t>
            </a:r>
            <a:r>
              <a:rPr lang="zh-CN" altLang="en-US" sz="1800">
                <a:latin typeface="Arial" panose="020B0604020202020204" pitchFamily="34" charset="0"/>
                <a:ea typeface="微软雅黑" panose="020B0503020204020204" charset="-122"/>
              </a:rPr>
              <a:t>，是小煦</a:t>
            </a:r>
            <a:r>
              <a:rPr lang="en-US" altLang="zh-CN" sz="1800">
                <a:latin typeface="Arial" panose="020B0604020202020204" pitchFamily="34" charset="0"/>
                <a:ea typeface="微软雅黑" panose="020B0503020204020204" charset="-122"/>
              </a:rPr>
              <a:t> ADHD “</a:t>
            </a:r>
            <a:r>
              <a:rPr lang="zh-CN" altLang="en-US" sz="1800">
                <a:latin typeface="Arial" panose="020B0604020202020204" pitchFamily="34" charset="0"/>
                <a:ea typeface="微软雅黑" panose="020B0503020204020204" charset="-122"/>
              </a:rPr>
              <a:t>多动</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行为的重要诱因。因前庭平衡重度失调，其</a:t>
            </a:r>
            <a:r>
              <a:rPr lang="en-US" altLang="zh-CN" sz="1800">
                <a:latin typeface="Arial" panose="020B0604020202020204" pitchFamily="34" charset="0"/>
                <a:ea typeface="微软雅黑" panose="020B0503020204020204" charset="-122"/>
              </a:rPr>
              <a:t> “</a:t>
            </a:r>
            <a:r>
              <a:rPr lang="en-US" altLang="zh-CN" sz="1800">
                <a:solidFill>
                  <a:srgbClr val="FF0000"/>
                </a:solidFill>
                <a:latin typeface="Arial" panose="020B0604020202020204" pitchFamily="34" charset="0"/>
                <a:ea typeface="微软雅黑" panose="020B0503020204020204" charset="-122"/>
              </a:rPr>
              <a:t>It's difficult to maintain a fixed sitting posture</a:t>
            </a:r>
            <a:r>
              <a:rPr lang="en-US" altLang="zh-CN" sz="1800">
                <a:solidFill>
                  <a:srgbClr val="FF0000"/>
                </a:solidFill>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，课堂上需频繁调整身体姿势（如扭动身体、趴在桌面），进而表现为</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随意下座位</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；本体感失调使</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连续单脚跳仅能完成</a:t>
            </a:r>
            <a:r>
              <a:rPr lang="en-US" altLang="zh-CN" sz="1800">
                <a:latin typeface="Arial" panose="020B0604020202020204" pitchFamily="34" charset="0"/>
                <a:ea typeface="微软雅黑" panose="020B0503020204020204" charset="-122"/>
              </a:rPr>
              <a:t> 3 </a:t>
            </a:r>
            <a:r>
              <a:rPr lang="zh-CN" altLang="en-US" sz="1800">
                <a:latin typeface="Arial" panose="020B0604020202020204" pitchFamily="34" charset="0"/>
                <a:ea typeface="微软雅黑" panose="020B0503020204020204" charset="-122"/>
              </a:rPr>
              <a:t>次</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，体育课中无法参与集体跳绳活动，只能独自游荡，进一步加剧</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多动</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的视觉印象，被教师误判为</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调皮捣蛋</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a:t>
            </a:r>
            <a:endParaRPr lang="zh-CN" altLang="en-US" sz="1800">
              <a:latin typeface="Arial" panose="020B0604020202020204" pitchFamily="34" charset="0"/>
              <a:ea typeface="微软雅黑" panose="020B0503020204020204" charset="-122"/>
            </a:endParaRPr>
          </a:p>
          <a:p>
            <a:pPr algn="l"/>
            <a:r>
              <a:rPr lang="zh-CN" altLang="en-US" sz="1800">
                <a:latin typeface="Arial" panose="020B0604020202020204" pitchFamily="34" charset="0"/>
                <a:ea typeface="微软雅黑" panose="020B0503020204020204" charset="-122"/>
              </a:rPr>
              <a:t>触觉过分防御引发冲动社交行为：中度触觉过分防御使小煦对他人触碰极度敏感，叠加</a:t>
            </a:r>
            <a:r>
              <a:rPr lang="en-US" altLang="zh-CN" sz="1800">
                <a:latin typeface="Arial" panose="020B0604020202020204" pitchFamily="34" charset="0"/>
                <a:ea typeface="微软雅黑" panose="020B0503020204020204" charset="-122"/>
              </a:rPr>
              <a:t> ADHD </a:t>
            </a:r>
            <a:r>
              <a:rPr lang="zh-CN" altLang="en-US" sz="1800">
                <a:latin typeface="Arial" panose="020B0604020202020204" pitchFamily="34" charset="0"/>
                <a:ea typeface="微软雅黑" panose="020B0503020204020204" charset="-122"/>
              </a:rPr>
              <a:t>的冲动控制缺陷，直接引发社交冲突。案例中提到其</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存在推人、背后抱人、亲人等特殊行为</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，具体场景为</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同学靠近借文具时，未沟通就伸手推人</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排队时突然从背后抱住前面同学</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，本质是触觉不适触发的</a:t>
            </a:r>
            <a:r>
              <a:rPr lang="en-US" altLang="zh-CN" sz="1800">
                <a:latin typeface="Arial" panose="020B0604020202020204" pitchFamily="34" charset="0"/>
                <a:ea typeface="微软雅黑" panose="020B0503020204020204" charset="-122"/>
              </a:rPr>
              <a:t> “</a:t>
            </a:r>
            <a:r>
              <a:rPr lang="zh-CN" altLang="en-US" sz="1800">
                <a:latin typeface="Arial" panose="020B0604020202020204" pitchFamily="34" charset="0"/>
                <a:ea typeface="微软雅黑" panose="020B0503020204020204" charset="-122"/>
              </a:rPr>
              <a:t>本能防御反应</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a:t>
            </a:r>
            <a:r>
              <a:rPr lang="en-US" altLang="zh-CN" sz="1800">
                <a:solidFill>
                  <a:schemeClr val="tx1"/>
                </a:solidFill>
                <a:latin typeface="Arial" panose="020B0604020202020204" pitchFamily="34" charset="0"/>
                <a:ea typeface="微软雅黑" panose="020B0503020204020204" charset="-122"/>
              </a:rPr>
              <a:t>Due to ADHD, one is unable to rationally express "Don't touch me" and can only respond through impulsive actions, </a:t>
            </a:r>
            <a:r>
              <a:rPr lang="en-US" altLang="zh-CN" sz="1800">
                <a:solidFill>
                  <a:schemeClr val="accent6"/>
                </a:solidFill>
                <a:latin typeface="Arial" panose="020B0604020202020204" pitchFamily="34" charset="0"/>
                <a:ea typeface="微软雅黑" panose="020B0503020204020204" charset="-122"/>
              </a:rPr>
              <a:t>which leads to peer rejection and forms a vicious cycle of "tactile sensitivity </a:t>
            </a:r>
            <a:r>
              <a:rPr lang="en-US" altLang="en-US" sz="1800">
                <a:solidFill>
                  <a:schemeClr val="accent6"/>
                </a:solidFill>
                <a:latin typeface="Arial" panose="020B0604020202020204" pitchFamily="34" charset="0"/>
                <a:ea typeface="微软雅黑" panose="020B0503020204020204" charset="-122"/>
              </a:rPr>
              <a:t>→</a:t>
            </a:r>
            <a:r>
              <a:rPr lang="en-US" altLang="zh-CN" sz="1800">
                <a:solidFill>
                  <a:schemeClr val="accent6"/>
                </a:solidFill>
                <a:latin typeface="Arial" panose="020B0604020202020204" pitchFamily="34" charset="0"/>
                <a:ea typeface="微软雅黑" panose="020B0503020204020204" charset="-122"/>
              </a:rPr>
              <a:t> impulsive behavior </a:t>
            </a:r>
            <a:r>
              <a:rPr lang="en-US" altLang="en-US" sz="1800">
                <a:solidFill>
                  <a:schemeClr val="accent6"/>
                </a:solidFill>
                <a:latin typeface="Arial" panose="020B0604020202020204" pitchFamily="34" charset="0"/>
                <a:ea typeface="微软雅黑" panose="020B0503020204020204" charset="-122"/>
              </a:rPr>
              <a:t>→</a:t>
            </a:r>
            <a:r>
              <a:rPr lang="en-US" altLang="zh-CN" sz="1800">
                <a:solidFill>
                  <a:schemeClr val="accent6"/>
                </a:solidFill>
                <a:latin typeface="Arial" panose="020B0604020202020204" pitchFamily="34" charset="0"/>
                <a:ea typeface="微软雅黑" panose="020B0503020204020204" charset="-122"/>
              </a:rPr>
              <a:t> social isolation</a:t>
            </a:r>
            <a:r>
              <a:rPr lang="en-US" altLang="zh-CN" sz="1800">
                <a:latin typeface="Arial" panose="020B0604020202020204" pitchFamily="34" charset="0"/>
                <a:ea typeface="微软雅黑" panose="020B0503020204020204" charset="-122"/>
              </a:rPr>
              <a:t>"</a:t>
            </a:r>
            <a:r>
              <a:rPr lang="zh-CN" altLang="en-US" sz="1800">
                <a:latin typeface="Arial" panose="020B0604020202020204" pitchFamily="34" charset="0"/>
                <a:ea typeface="微软雅黑" panose="020B0503020204020204" charset="-122"/>
              </a:rPr>
              <a:t>。</a:t>
            </a:r>
            <a:endParaRPr lang="zh-CN" altLang="en-US" sz="1800">
              <a:latin typeface="Arial" panose="020B0604020202020204" pitchFamily="34" charset="0"/>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6:35:26-d3jn7jgs8jdo4os5dj50.jpg"/>
          <p:cNvPicPr>
            <a:picLocks noChangeAspect="1"/>
          </p:cNvPicPr>
          <p:nvPr/>
        </p:nvPicPr>
        <p:blipFill>
          <a:blip r:embed="rId2">
            <a:alphaModFix amt="56000"/>
          </a:blip>
          <a:stretch>
            <a:fillRect/>
          </a:stretch>
        </p:blipFill>
        <p:spPr>
          <a:xfrm>
            <a:off x="0" y="0"/>
            <a:ext cx="12191365" cy="6858000"/>
          </a:xfrm>
          <a:prstGeom prst="rect">
            <a:avLst/>
          </a:prstGeom>
        </p:spPr>
      </p:pic>
      <p:pic>
        <p:nvPicPr>
          <p:cNvPr id="3" name="Image 1" descr="https://kimi-img.moonshot.cn/pub/slides/slides_tmpl/image/25-10-09-16:35:24-d3jn7j0s8jdo4os5divg.jpg"/>
          <p:cNvPicPr>
            <a:picLocks noChangeAspect="1"/>
          </p:cNvPicPr>
          <p:nvPr/>
        </p:nvPicPr>
        <p:blipFill>
          <a:blip r:embed="rId3"/>
          <a:stretch>
            <a:fillRect/>
          </a:stretch>
        </p:blipFill>
        <p:spPr>
          <a:xfrm>
            <a:off x="2897505" y="3536315"/>
            <a:ext cx="6823710" cy="736600"/>
          </a:xfrm>
          <a:prstGeom prst="rect">
            <a:avLst/>
          </a:prstGeom>
        </p:spPr>
      </p:pic>
      <p:sp>
        <p:nvSpPr>
          <p:cNvPr id="5" name="Text 0"/>
          <p:cNvSpPr/>
          <p:nvPr/>
        </p:nvSpPr>
        <p:spPr>
          <a:xfrm>
            <a:off x="5499889" y="2317433"/>
            <a:ext cx="1618942" cy="1307703"/>
          </a:xfrm>
          <a:prstGeom prst="rect">
            <a:avLst/>
          </a:prstGeom>
          <a:noFill/>
        </p:spPr>
        <p:txBody>
          <a:bodyPr wrap="square" lIns="0" tIns="0" rIns="0" bIns="0" rtlCol="0" anchor="t">
            <a:spAutoFit/>
          </a:bodyPr>
          <a:lstStyle/>
          <a:p>
            <a:pPr algn="ctr">
              <a:lnSpc>
                <a:spcPct val="100000"/>
              </a:lnSpc>
            </a:pPr>
            <a:r>
              <a:rPr lang="en-US" sz="8500" dirty="0">
                <a:solidFill>
                  <a:srgbClr val="0439E1"/>
                </a:solidFill>
                <a:latin typeface="MiSans" pitchFamily="34" charset="0"/>
                <a:ea typeface="MiSans" pitchFamily="34" charset="-122"/>
                <a:cs typeface="MiSans" pitchFamily="34" charset="-120"/>
              </a:rPr>
              <a:t>02</a:t>
            </a:r>
            <a:endParaRPr lang="en-US" sz="1600" dirty="0"/>
          </a:p>
        </p:txBody>
      </p:sp>
      <p:sp>
        <p:nvSpPr>
          <p:cNvPr id="6" name="Text 1"/>
          <p:cNvSpPr/>
          <p:nvPr/>
        </p:nvSpPr>
        <p:spPr>
          <a:xfrm>
            <a:off x="2897505" y="3625215"/>
            <a:ext cx="6660515" cy="1000760"/>
          </a:xfrm>
          <a:prstGeom prst="rect">
            <a:avLst/>
          </a:prstGeom>
          <a:noFill/>
        </p:spPr>
        <p:txBody>
          <a:bodyPr wrap="square" lIns="0" tIns="0" rIns="0" bIns="0" rtlCol="0" anchor="t"/>
          <a:lstStyle/>
          <a:p>
            <a:pPr algn="ctr">
              <a:lnSpc>
                <a:spcPct val="100000"/>
              </a:lnSpc>
            </a:pPr>
            <a:r>
              <a:rPr lang="en-US" sz="3600" dirty="0">
                <a:solidFill>
                  <a:srgbClr val="0D0D0D"/>
                </a:solidFill>
                <a:latin typeface="MiSans" pitchFamily="34" charset="0"/>
                <a:ea typeface="MiSans" pitchFamily="34" charset="-122"/>
                <a:cs typeface="MiSans" pitchFamily="34" charset="-120"/>
              </a:rPr>
              <a:t>实践检视：支持缺口</a:t>
            </a:r>
            <a:endParaRPr lang="en-US" sz="3600" dirty="0">
              <a:solidFill>
                <a:srgbClr val="0D0D0D"/>
              </a:solidFill>
              <a:latin typeface="MiSans" pitchFamily="34" charset="0"/>
              <a:ea typeface="MiSans" pitchFamily="34" charset="-122"/>
              <a:cs typeface="MiSans" pitchFamily="34" charset="-120"/>
            </a:endParaRPr>
          </a:p>
          <a:p>
            <a:pPr algn="ctr">
              <a:lnSpc>
                <a:spcPct val="100000"/>
              </a:lnSpc>
            </a:pPr>
            <a:r>
              <a:rPr lang="en-US" altLang="zh-CN" sz="2400" dirty="0"/>
              <a:t>Practical review: Support Gap</a:t>
            </a:r>
            <a:endParaRPr lang="en-US" altLang="zh-CN" sz="2400" dirty="0"/>
          </a:p>
        </p:txBody>
      </p:sp>
      <p:sp>
        <p:nvSpPr>
          <p:cNvPr id="7" name="Shape 2"/>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8" name="Shape 3"/>
          <p:cNvSpPr/>
          <p:nvPr/>
        </p:nvSpPr>
        <p:spPr>
          <a:xfrm>
            <a:off x="11459749" y="6039741"/>
            <a:ext cx="209306" cy="42231"/>
          </a:xfrm>
          <a:prstGeom prst="rect">
            <a:avLst/>
          </a:prstGeom>
          <a:solidFill>
            <a:srgbClr val="000000"/>
          </a:solidFill>
          <a:ln w="19050">
            <a:solidFill>
              <a:srgbClr val="000000"/>
            </a:solidFill>
            <a:prstDash val="solid"/>
          </a:ln>
        </p:spPr>
      </p:sp>
      <p:sp>
        <p:nvSpPr>
          <p:cNvPr id="9" name="Text 4"/>
          <p:cNvSpPr/>
          <p:nvPr/>
        </p:nvSpPr>
        <p:spPr>
          <a:xfrm>
            <a:off x="11459749" y="603974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5"/>
          <p:cNvSpPr/>
          <p:nvPr/>
        </p:nvSpPr>
        <p:spPr>
          <a:xfrm>
            <a:off x="11459749" y="6136715"/>
            <a:ext cx="209306" cy="42231"/>
          </a:xfrm>
          <a:prstGeom prst="rect">
            <a:avLst/>
          </a:prstGeom>
          <a:solidFill>
            <a:srgbClr val="000000"/>
          </a:solidFill>
          <a:ln w="19050">
            <a:solidFill>
              <a:srgbClr val="000000"/>
            </a:solidFill>
            <a:prstDash val="solid"/>
          </a:ln>
        </p:spPr>
      </p:sp>
      <p:sp>
        <p:nvSpPr>
          <p:cNvPr id="11" name="Text 6"/>
          <p:cNvSpPr/>
          <p:nvPr/>
        </p:nvSpPr>
        <p:spPr>
          <a:xfrm>
            <a:off x="11459749" y="613671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7"/>
          <p:cNvSpPr/>
          <p:nvPr/>
        </p:nvSpPr>
        <p:spPr>
          <a:xfrm>
            <a:off x="11459749" y="6233689"/>
            <a:ext cx="209306" cy="42231"/>
          </a:xfrm>
          <a:prstGeom prst="rect">
            <a:avLst/>
          </a:prstGeom>
          <a:solidFill>
            <a:srgbClr val="000000"/>
          </a:solidFill>
          <a:ln w="19050">
            <a:solidFill>
              <a:srgbClr val="000000"/>
            </a:solidFill>
            <a:prstDash val="solid"/>
          </a:ln>
        </p:spPr>
      </p:sp>
      <p:sp>
        <p:nvSpPr>
          <p:cNvPr id="13" name="Text 8"/>
          <p:cNvSpPr/>
          <p:nvPr/>
        </p:nvSpPr>
        <p:spPr>
          <a:xfrm>
            <a:off x="11459749" y="6233689"/>
            <a:ext cx="209306" cy="42231"/>
          </a:xfrm>
          <a:prstGeom prst="rect">
            <a:avLst/>
          </a:prstGeom>
          <a:noFill/>
        </p:spPr>
        <p:txBody>
          <a:bodyPr wrap="square" lIns="45720" tIns="91440" rIns="91440" bIns="45720" rtlCol="0" anchor="ctr"/>
          <a:lstStyle/>
          <a:p>
            <a:pPr>
              <a:lnSpc>
                <a:spcPct val="100000"/>
              </a:lnSpc>
            </a:pPr>
            <a:endParaRPr lang="en-US" sz="1600" dirty="0"/>
          </a:p>
        </p:txBody>
      </p:sp>
      <p:pic>
        <p:nvPicPr>
          <p:cNvPr id="14" name="Image 3" descr="https://kimi-img.moonshot.cn/pub/slides/slides_tmpl/image/25-10-09-16:35:24-d3jn7j0s8jdo4os5div0.png"/>
          <p:cNvPicPr>
            <a:picLocks noChangeAspect="1"/>
          </p:cNvPicPr>
          <p:nvPr/>
        </p:nvPicPr>
        <p:blipFill>
          <a:blip r:embed="rId4">
            <a:alphaModFix amt="40000"/>
          </a:blip>
          <a:stretch>
            <a:fillRect/>
          </a:stretch>
        </p:blipFill>
        <p:spPr>
          <a:xfrm flipV="1">
            <a:off x="851535" y="630555"/>
            <a:ext cx="762000" cy="76200"/>
          </a:xfrm>
          <a:prstGeom prst="rect">
            <a:avLst/>
          </a:prstGeom>
        </p:spPr>
      </p:pic>
      <p:pic>
        <p:nvPicPr>
          <p:cNvPr id="15" name="Image 4" descr="https://kimi-img.moonshot.cn/pub/slides/slides_tmpl/image/25-10-09-16:35:24-d3jn7j0s8jdo4os5div0.png"/>
          <p:cNvPicPr>
            <a:picLocks noChangeAspect="1"/>
          </p:cNvPicPr>
          <p:nvPr/>
        </p:nvPicPr>
        <p:blipFill>
          <a:blip r:embed="rId4">
            <a:alphaModFix amt="40000"/>
          </a:blip>
          <a:stretch>
            <a:fillRect/>
          </a:stretch>
        </p:blipFill>
        <p:spPr>
          <a:xfrm flipV="1">
            <a:off x="851535" y="761365"/>
            <a:ext cx="762000" cy="76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Text 0"/>
          <p:cNvSpPr/>
          <p:nvPr/>
        </p:nvSpPr>
        <p:spPr>
          <a:xfrm>
            <a:off x="581660" y="708660"/>
            <a:ext cx="9922510" cy="914400"/>
          </a:xfrm>
          <a:prstGeom prst="rect">
            <a:avLst/>
          </a:prstGeom>
          <a:noFill/>
        </p:spPr>
        <p:txBody>
          <a:bodyPr wrap="square" lIns="0" tIns="0" rIns="0" bIns="0" rtlCol="0" anchor="ctr"/>
          <a:lstStyle/>
          <a:p>
            <a:pPr>
              <a:lnSpc>
                <a:spcPct val="100000"/>
              </a:lnSpc>
            </a:pPr>
            <a:r>
              <a:rPr lang="en-US" altLang="zh-CN" sz="2800" dirty="0">
                <a:ln/>
                <a:solidFill>
                  <a:schemeClr val="accent1"/>
                </a:solidFill>
                <a:effectLst>
                  <a:outerShdw blurRad="38100" dist="25400" dir="5400000" algn="ctr" rotWithShape="0">
                    <a:srgbClr val="6E747A">
                      <a:alpha val="43000"/>
                    </a:srgbClr>
                  </a:outerShdw>
                </a:effectLst>
              </a:rPr>
              <a:t>Current integration model: Mother's accompaniment in study + assessment of resource classrooms</a:t>
            </a:r>
            <a:endParaRPr lang="en-US" altLang="zh-CN" sz="2800" dirty="0">
              <a:ln/>
              <a:solidFill>
                <a:schemeClr val="accent1"/>
              </a:solidFill>
              <a:effectLst>
                <a:outerShdw blurRad="38100" dist="25400" dir="5400000" algn="ctr" rotWithShape="0">
                  <a:srgbClr val="6E747A">
                    <a:alpha val="43000"/>
                  </a:srgbClr>
                </a:outerShdw>
              </a:effectLst>
            </a:endParaRPr>
          </a:p>
        </p:txBody>
      </p:sp>
      <p:sp>
        <p:nvSpPr>
          <p:cNvPr id="4" name="Text 1"/>
          <p:cNvSpPr/>
          <p:nvPr/>
        </p:nvSpPr>
        <p:spPr>
          <a:xfrm>
            <a:off x="360045" y="2087245"/>
            <a:ext cx="5537200" cy="1106170"/>
          </a:xfrm>
          <a:prstGeom prst="rect">
            <a:avLst/>
          </a:prstGeom>
          <a:noFill/>
        </p:spPr>
        <p:txBody>
          <a:bodyPr wrap="square" lIns="0" tIns="0" rIns="0" bIns="0" rtlCol="0" anchor="ctr"/>
          <a:lstStyle/>
          <a:p>
            <a:pPr>
              <a:lnSpc>
                <a:spcPct val="130000"/>
              </a:lnSpc>
            </a:pPr>
            <a:r>
              <a:rPr lang="en-US" altLang="zh-CN" dirty="0"/>
              <a:t>The measures taken by the school have guaranteed Xiaoxu's right to education and provided initial support, but have not yet been upgraded to an integrated systematic support of "education - rehabilitation".</a:t>
            </a:r>
            <a:endParaRPr lang="en-US" altLang="zh-CN" dirty="0"/>
          </a:p>
        </p:txBody>
      </p:sp>
      <p:sp>
        <p:nvSpPr>
          <p:cNvPr id="5" name="Shape 2"/>
          <p:cNvSpPr/>
          <p:nvPr/>
        </p:nvSpPr>
        <p:spPr>
          <a:xfrm>
            <a:off x="254000" y="3657600"/>
            <a:ext cx="5435600" cy="1574800"/>
          </a:xfrm>
          <a:custGeom>
            <a:avLst/>
            <a:gdLst/>
            <a:ahLst/>
            <a:cxnLst/>
            <a:rect l="l" t="t" r="r" b="b"/>
            <a:pathLst>
              <a:path w="5435600" h="1574800">
                <a:moveTo>
                  <a:pt x="101606" y="0"/>
                </a:moveTo>
                <a:lnTo>
                  <a:pt x="5333994" y="0"/>
                </a:lnTo>
                <a:cubicBezTo>
                  <a:pt x="5390109" y="0"/>
                  <a:pt x="5435600" y="45491"/>
                  <a:pt x="5435600" y="101606"/>
                </a:cubicBezTo>
                <a:lnTo>
                  <a:pt x="5435600" y="1473194"/>
                </a:lnTo>
                <a:cubicBezTo>
                  <a:pt x="5435600" y="1529309"/>
                  <a:pt x="5390109" y="1574800"/>
                  <a:pt x="5333994" y="1574800"/>
                </a:cubicBezTo>
                <a:lnTo>
                  <a:pt x="101606" y="1574800"/>
                </a:lnTo>
                <a:cubicBezTo>
                  <a:pt x="45491" y="1574800"/>
                  <a:pt x="0" y="1529309"/>
                  <a:pt x="0" y="1473194"/>
                </a:cubicBezTo>
                <a:lnTo>
                  <a:pt x="0" y="101606"/>
                </a:lnTo>
                <a:cubicBezTo>
                  <a:pt x="0" y="45528"/>
                  <a:pt x="45528" y="0"/>
                  <a:pt x="101606" y="0"/>
                </a:cubicBezTo>
                <a:close/>
              </a:path>
            </a:pathLst>
          </a:custGeom>
          <a:solidFill>
            <a:srgbClr val="007BFF">
              <a:alpha val="10196"/>
            </a:srgbClr>
          </a:solidFill>
        </p:spPr>
      </p:sp>
      <p:sp>
        <p:nvSpPr>
          <p:cNvPr id="6" name="Text 3"/>
          <p:cNvSpPr/>
          <p:nvPr/>
        </p:nvSpPr>
        <p:spPr>
          <a:xfrm>
            <a:off x="457200" y="3860800"/>
            <a:ext cx="5130800" cy="304800"/>
          </a:xfrm>
          <a:prstGeom prst="rect">
            <a:avLst/>
          </a:prstGeom>
          <a:noFill/>
        </p:spPr>
        <p:txBody>
          <a:bodyPr wrap="square" lIns="0" tIns="0" rIns="0" bIns="0" rtlCol="0" anchor="ctr"/>
          <a:lstStyle/>
          <a:p>
            <a:pPr>
              <a:lnSpc>
                <a:spcPct val="130000"/>
              </a:lnSpc>
            </a:pPr>
            <a:endParaRPr lang="en-US" sz="1600" dirty="0"/>
          </a:p>
        </p:txBody>
      </p:sp>
      <p:sp>
        <p:nvSpPr>
          <p:cNvPr id="7" name="Text 4"/>
          <p:cNvSpPr/>
          <p:nvPr/>
        </p:nvSpPr>
        <p:spPr>
          <a:xfrm>
            <a:off x="360045" y="4064000"/>
            <a:ext cx="5448935" cy="762000"/>
          </a:xfrm>
          <a:prstGeom prst="rect">
            <a:avLst/>
          </a:prstGeom>
          <a:noFill/>
        </p:spPr>
        <p:txBody>
          <a:bodyPr wrap="square" lIns="0" tIns="0" rIns="0" bIns="0" rtlCol="0" anchor="ctr"/>
          <a:lstStyle/>
          <a:p>
            <a:pPr marL="254000" indent="-254000">
              <a:lnSpc>
                <a:spcPct val="120000"/>
              </a:lnSpc>
              <a:spcBef>
                <a:spcPts val="10"/>
              </a:spcBef>
              <a:buSzPct val="100000"/>
              <a:buChar char="•"/>
            </a:pPr>
            <a:r>
              <a:rPr lang="en-US" altLang="zh-CN" sz="1600" dirty="0"/>
              <a:t>It has guaranteed the right to education in regular classes</a:t>
            </a:r>
            <a:endParaRPr lang="en-US" altLang="zh-CN" sz="1600" dirty="0"/>
          </a:p>
          <a:p>
            <a:pPr marL="254000" indent="-254000">
              <a:lnSpc>
                <a:spcPct val="120000"/>
              </a:lnSpc>
              <a:spcBef>
                <a:spcPts val="10"/>
              </a:spcBef>
              <a:buSzPct val="100000"/>
              <a:buChar char="•"/>
            </a:pPr>
            <a:r>
              <a:rPr lang="en-US" altLang="zh-CN" sz="1600" dirty="0"/>
              <a:t>It reflects the initial cooperation between home and school</a:t>
            </a:r>
            <a:endParaRPr lang="en-US" altLang="zh-CN" sz="1600" dirty="0"/>
          </a:p>
          <a:p>
            <a:pPr marL="254000" indent="-254000">
              <a:lnSpc>
                <a:spcPct val="120000"/>
              </a:lnSpc>
              <a:spcBef>
                <a:spcPts val="10"/>
              </a:spcBef>
              <a:buSzPct val="100000"/>
              <a:buChar char="•"/>
            </a:pPr>
            <a:r>
              <a:rPr lang="en-US" altLang="zh-CN" sz="1600" dirty="0"/>
              <a:t>The basic assessment data was provided through the resource classroom</a:t>
            </a:r>
            <a:endParaRPr lang="en-US" altLang="zh-CN" sz="1600" dirty="0"/>
          </a:p>
        </p:txBody>
      </p:sp>
      <p:pic>
        <p:nvPicPr>
          <p:cNvPr id="8" name="Image 1" descr="https://kimi-web-img.moonshot.cn/img/qisureading.oss-cn-qingdao.aliyuncs.com/69184727e203985fbf18821d060b5ef22ed5312e.png"/>
          <p:cNvPicPr>
            <a:picLocks noChangeAspect="1"/>
          </p:cNvPicPr>
          <p:nvPr/>
        </p:nvPicPr>
        <p:blipFill>
          <a:blip r:embed="rId2"/>
          <a:srcRect l="19957" r="19957"/>
          <a:stretch>
            <a:fillRect/>
          </a:stretch>
        </p:blipFill>
        <p:spPr>
          <a:xfrm>
            <a:off x="6990080" y="1959610"/>
            <a:ext cx="3778250" cy="4106545"/>
          </a:xfrm>
          <a:prstGeom prst="roundRect">
            <a:avLst>
              <a:gd name="adj" fmla="val 2609"/>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Text 0"/>
          <p:cNvSpPr/>
          <p:nvPr/>
        </p:nvSpPr>
        <p:spPr>
          <a:xfrm>
            <a:off x="158750" y="1783082"/>
            <a:ext cx="11874500" cy="457200"/>
          </a:xfrm>
          <a:prstGeom prst="rect">
            <a:avLst/>
          </a:prstGeom>
          <a:noFill/>
        </p:spPr>
        <p:txBody>
          <a:bodyPr wrap="square" lIns="0" tIns="0" rIns="0" bIns="0" rtlCol="0" anchor="ctr"/>
          <a:lstStyle/>
          <a:p>
            <a:pPr algn="ctr">
              <a:lnSpc>
                <a:spcPct val="100000"/>
              </a:lnSpc>
            </a:pPr>
            <a:r>
              <a:rPr lang="en-US" altLang="zh-CN" sz="2400" dirty="0">
                <a:ln/>
                <a:solidFill>
                  <a:schemeClr val="accent1"/>
                </a:solidFill>
                <a:effectLst>
                  <a:outerShdw blurRad="38100" dist="25400" dir="5400000" algn="ctr" rotWithShape="0">
                    <a:srgbClr val="6E747A">
                      <a:alpha val="43000"/>
                    </a:srgbClr>
                  </a:outerShdw>
                </a:effectLst>
              </a:rPr>
              <a:t>Missing IEP: Temporary response to replace System Objectives</a:t>
            </a:r>
            <a:endParaRPr lang="en-US" altLang="zh-CN" sz="2400" dirty="0">
              <a:ln/>
              <a:solidFill>
                <a:schemeClr val="accent1"/>
              </a:solidFill>
              <a:effectLst>
                <a:outerShdw blurRad="38100" dist="25400" dir="5400000" algn="ctr" rotWithShape="0">
                  <a:srgbClr val="6E747A">
                    <a:alpha val="43000"/>
                  </a:srgbClr>
                </a:outerShdw>
              </a:effectLst>
            </a:endParaRPr>
          </a:p>
        </p:txBody>
      </p:sp>
      <p:sp>
        <p:nvSpPr>
          <p:cNvPr id="4" name="Text 1"/>
          <p:cNvSpPr/>
          <p:nvPr/>
        </p:nvSpPr>
        <p:spPr>
          <a:xfrm>
            <a:off x="1961674" y="2443482"/>
            <a:ext cx="8267700" cy="304800"/>
          </a:xfrm>
          <a:prstGeom prst="rect">
            <a:avLst/>
          </a:prstGeom>
          <a:noFill/>
        </p:spPr>
        <p:txBody>
          <a:bodyPr wrap="square" lIns="0" tIns="0" rIns="0" bIns="0" rtlCol="0" anchor="ctr"/>
          <a:lstStyle/>
          <a:p>
            <a:pPr algn="ctr">
              <a:lnSpc>
                <a:spcPct val="130000"/>
              </a:lnSpc>
            </a:pPr>
            <a:r>
              <a:rPr 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学校未依法制定个别化教育计划(IEP)，导致支持碎片化，缺乏系统性、可测量的成长路径。</a:t>
            </a:r>
            <a:endParaRPr lang="en-US" sz="1600" dirty="0"/>
          </a:p>
        </p:txBody>
      </p:sp>
      <p:sp>
        <p:nvSpPr>
          <p:cNvPr id="5" name="Shape 2"/>
          <p:cNvSpPr/>
          <p:nvPr/>
        </p:nvSpPr>
        <p:spPr>
          <a:xfrm>
            <a:off x="254000" y="3154682"/>
            <a:ext cx="4635500" cy="1879600"/>
          </a:xfrm>
          <a:custGeom>
            <a:avLst/>
            <a:gdLst/>
            <a:ahLst/>
            <a:cxnLst/>
            <a:rect l="l" t="t" r="r" b="b"/>
            <a:pathLst>
              <a:path w="4635500" h="1879600">
                <a:moveTo>
                  <a:pt x="101592" y="0"/>
                </a:moveTo>
                <a:lnTo>
                  <a:pt x="4533908" y="0"/>
                </a:lnTo>
                <a:cubicBezTo>
                  <a:pt x="4590016" y="0"/>
                  <a:pt x="4635500" y="45484"/>
                  <a:pt x="4635500" y="101592"/>
                </a:cubicBezTo>
                <a:lnTo>
                  <a:pt x="4635500" y="1778008"/>
                </a:lnTo>
                <a:cubicBezTo>
                  <a:pt x="4635500" y="1834116"/>
                  <a:pt x="4590016" y="1879600"/>
                  <a:pt x="4533908" y="1879600"/>
                </a:cubicBezTo>
                <a:lnTo>
                  <a:pt x="101592" y="1879600"/>
                </a:lnTo>
                <a:cubicBezTo>
                  <a:pt x="45484" y="1879600"/>
                  <a:pt x="0" y="1834116"/>
                  <a:pt x="0" y="1778008"/>
                </a:cubicBezTo>
                <a:lnTo>
                  <a:pt x="0" y="101592"/>
                </a:lnTo>
                <a:cubicBezTo>
                  <a:pt x="0" y="45522"/>
                  <a:pt x="45522" y="0"/>
                  <a:pt x="101592" y="0"/>
                </a:cubicBezTo>
                <a:close/>
              </a:path>
            </a:pathLst>
          </a:custGeom>
          <a:solidFill>
            <a:srgbClr val="000000">
              <a:alpha val="0"/>
            </a:srgbClr>
          </a:solidFill>
          <a:ln w="20320">
            <a:solidFill>
              <a:srgbClr val="DC3545"/>
            </a:solidFill>
            <a:prstDash val="dash"/>
          </a:ln>
        </p:spPr>
      </p:sp>
      <p:sp>
        <p:nvSpPr>
          <p:cNvPr id="6" name="Text 3"/>
          <p:cNvSpPr/>
          <p:nvPr/>
        </p:nvSpPr>
        <p:spPr>
          <a:xfrm>
            <a:off x="414020" y="3378200"/>
            <a:ext cx="4356100" cy="355600"/>
          </a:xfrm>
          <a:prstGeom prst="rect">
            <a:avLst/>
          </a:prstGeom>
          <a:noFill/>
        </p:spPr>
        <p:txBody>
          <a:bodyPr wrap="square" lIns="0" tIns="0" rIns="0" bIns="0" rtlCol="0" anchor="ctr"/>
          <a:lstStyle/>
          <a:p>
            <a:pPr algn="ctr">
              <a:lnSpc>
                <a:spcPct val="120000"/>
              </a:lnSpc>
            </a:pPr>
            <a:r>
              <a:rPr lang="en-US" sz="2000" b="1" dirty="0">
                <a:solidFill>
                  <a:srgbClr val="DC3545"/>
                </a:solidFill>
                <a:latin typeface="Noto Sans SC" panose="020B0200000000000000" pitchFamily="34" charset="-122"/>
                <a:ea typeface="Noto Sans SC" panose="020B0200000000000000" pitchFamily="34" charset="-122"/>
                <a:cs typeface="Noto Sans SC" panose="020B0200000000000000" pitchFamily="34" charset="-120"/>
              </a:rPr>
              <a:t>现状：临时应对</a:t>
            </a:r>
            <a:endParaRPr lang="en-US" sz="1600" dirty="0"/>
          </a:p>
        </p:txBody>
      </p:sp>
      <p:sp>
        <p:nvSpPr>
          <p:cNvPr id="7" name="Shape 4"/>
          <p:cNvSpPr/>
          <p:nvPr/>
        </p:nvSpPr>
        <p:spPr>
          <a:xfrm>
            <a:off x="502920" y="3926839"/>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57993" y="57993"/>
                </a:moveTo>
                <a:cubicBezTo>
                  <a:pt x="61258" y="54729"/>
                  <a:pt x="66536" y="54729"/>
                  <a:pt x="69766" y="57993"/>
                </a:cubicBezTo>
                <a:lnTo>
                  <a:pt x="88865" y="77093"/>
                </a:lnTo>
                <a:lnTo>
                  <a:pt x="107965" y="57993"/>
                </a:lnTo>
                <a:cubicBezTo>
                  <a:pt x="111229" y="54729"/>
                  <a:pt x="116508" y="54729"/>
                  <a:pt x="119737" y="57993"/>
                </a:cubicBezTo>
                <a:cubicBezTo>
                  <a:pt x="122967" y="61258"/>
                  <a:pt x="123001" y="66536"/>
                  <a:pt x="119737" y="69766"/>
                </a:cubicBezTo>
                <a:lnTo>
                  <a:pt x="100638" y="88865"/>
                </a:lnTo>
                <a:lnTo>
                  <a:pt x="119737" y="107965"/>
                </a:lnTo>
                <a:cubicBezTo>
                  <a:pt x="123001" y="111229"/>
                  <a:pt x="123001" y="116508"/>
                  <a:pt x="119737" y="119737"/>
                </a:cubicBezTo>
                <a:cubicBezTo>
                  <a:pt x="116473" y="122967"/>
                  <a:pt x="111194" y="123001"/>
                  <a:pt x="107965" y="119737"/>
                </a:cubicBezTo>
                <a:lnTo>
                  <a:pt x="88865" y="100638"/>
                </a:lnTo>
                <a:lnTo>
                  <a:pt x="69766" y="119737"/>
                </a:lnTo>
                <a:cubicBezTo>
                  <a:pt x="66501" y="123001"/>
                  <a:pt x="61223" y="123001"/>
                  <a:pt x="57993" y="119737"/>
                </a:cubicBezTo>
                <a:cubicBezTo>
                  <a:pt x="54764" y="116473"/>
                  <a:pt x="54729" y="111194"/>
                  <a:pt x="57993" y="107965"/>
                </a:cubicBezTo>
                <a:lnTo>
                  <a:pt x="77093" y="88865"/>
                </a:lnTo>
                <a:lnTo>
                  <a:pt x="57993" y="69766"/>
                </a:lnTo>
                <a:cubicBezTo>
                  <a:pt x="54729" y="66501"/>
                  <a:pt x="54729" y="61223"/>
                  <a:pt x="57993" y="57993"/>
                </a:cubicBezTo>
                <a:close/>
              </a:path>
            </a:pathLst>
          </a:custGeom>
          <a:solidFill>
            <a:srgbClr val="DC3545"/>
          </a:solidFill>
        </p:spPr>
      </p:sp>
      <p:sp>
        <p:nvSpPr>
          <p:cNvPr id="8" name="Text 5"/>
          <p:cNvSpPr/>
          <p:nvPr/>
        </p:nvSpPr>
        <p:spPr>
          <a:xfrm>
            <a:off x="807720" y="3886200"/>
            <a:ext cx="3987800" cy="254000"/>
          </a:xfrm>
          <a:prstGeom prst="rect">
            <a:avLst/>
          </a:prstGeom>
          <a:noFill/>
        </p:spPr>
        <p:txBody>
          <a:bodyPr wrap="square" lIns="0" tIns="0" rIns="0" bIns="0" rtlCol="0" anchor="ctr"/>
          <a:lstStyle/>
          <a:p>
            <a:pPr>
              <a:lnSpc>
                <a:spcPct val="120000"/>
              </a:lnSpc>
            </a:pPr>
            <a:r>
              <a:rPr lang="en-US" sz="14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目标空白：</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无年度/季度目标</a:t>
            </a:r>
            <a:endParaRPr lang="en-US" sz="1600" dirty="0"/>
          </a:p>
        </p:txBody>
      </p:sp>
      <p:sp>
        <p:nvSpPr>
          <p:cNvPr id="9" name="Shape 6"/>
          <p:cNvSpPr/>
          <p:nvPr/>
        </p:nvSpPr>
        <p:spPr>
          <a:xfrm>
            <a:off x="502920" y="4282439"/>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57993" y="57993"/>
                </a:moveTo>
                <a:cubicBezTo>
                  <a:pt x="61258" y="54729"/>
                  <a:pt x="66536" y="54729"/>
                  <a:pt x="69766" y="57993"/>
                </a:cubicBezTo>
                <a:lnTo>
                  <a:pt x="88865" y="77093"/>
                </a:lnTo>
                <a:lnTo>
                  <a:pt x="107965" y="57993"/>
                </a:lnTo>
                <a:cubicBezTo>
                  <a:pt x="111229" y="54729"/>
                  <a:pt x="116508" y="54729"/>
                  <a:pt x="119737" y="57993"/>
                </a:cubicBezTo>
                <a:cubicBezTo>
                  <a:pt x="122967" y="61258"/>
                  <a:pt x="123001" y="66536"/>
                  <a:pt x="119737" y="69766"/>
                </a:cubicBezTo>
                <a:lnTo>
                  <a:pt x="100638" y="88865"/>
                </a:lnTo>
                <a:lnTo>
                  <a:pt x="119737" y="107965"/>
                </a:lnTo>
                <a:cubicBezTo>
                  <a:pt x="123001" y="111229"/>
                  <a:pt x="123001" y="116508"/>
                  <a:pt x="119737" y="119737"/>
                </a:cubicBezTo>
                <a:cubicBezTo>
                  <a:pt x="116473" y="122967"/>
                  <a:pt x="111194" y="123001"/>
                  <a:pt x="107965" y="119737"/>
                </a:cubicBezTo>
                <a:lnTo>
                  <a:pt x="88865" y="100638"/>
                </a:lnTo>
                <a:lnTo>
                  <a:pt x="69766" y="119737"/>
                </a:lnTo>
                <a:cubicBezTo>
                  <a:pt x="66501" y="123001"/>
                  <a:pt x="61223" y="123001"/>
                  <a:pt x="57993" y="119737"/>
                </a:cubicBezTo>
                <a:cubicBezTo>
                  <a:pt x="54764" y="116473"/>
                  <a:pt x="54729" y="111194"/>
                  <a:pt x="57993" y="107965"/>
                </a:cubicBezTo>
                <a:lnTo>
                  <a:pt x="77093" y="88865"/>
                </a:lnTo>
                <a:lnTo>
                  <a:pt x="57993" y="69766"/>
                </a:lnTo>
                <a:cubicBezTo>
                  <a:pt x="54729" y="66501"/>
                  <a:pt x="54729" y="61223"/>
                  <a:pt x="57993" y="57993"/>
                </a:cubicBezTo>
                <a:close/>
              </a:path>
            </a:pathLst>
          </a:custGeom>
          <a:solidFill>
            <a:srgbClr val="DC3545"/>
          </a:solidFill>
        </p:spPr>
      </p:sp>
      <p:sp>
        <p:nvSpPr>
          <p:cNvPr id="10" name="Text 7"/>
          <p:cNvSpPr/>
          <p:nvPr/>
        </p:nvSpPr>
        <p:spPr>
          <a:xfrm>
            <a:off x="807720" y="4241800"/>
            <a:ext cx="3987800" cy="254000"/>
          </a:xfrm>
          <a:prstGeom prst="rect">
            <a:avLst/>
          </a:prstGeom>
          <a:noFill/>
        </p:spPr>
        <p:txBody>
          <a:bodyPr wrap="square" lIns="0" tIns="0" rIns="0" bIns="0" rtlCol="0" anchor="ctr"/>
          <a:lstStyle/>
          <a:p>
            <a:pPr>
              <a:lnSpc>
                <a:spcPct val="120000"/>
              </a:lnSpc>
            </a:pPr>
            <a:r>
              <a:rPr lang="en-US" sz="14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策略随意：</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教师凭经验提示，母亲凭爱心陪练</a:t>
            </a:r>
            <a:endParaRPr lang="en-US" sz="1600" dirty="0"/>
          </a:p>
        </p:txBody>
      </p:sp>
      <p:sp>
        <p:nvSpPr>
          <p:cNvPr id="11" name="Shape 8"/>
          <p:cNvSpPr/>
          <p:nvPr/>
        </p:nvSpPr>
        <p:spPr>
          <a:xfrm>
            <a:off x="502920" y="4638039"/>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57993" y="57993"/>
                </a:moveTo>
                <a:cubicBezTo>
                  <a:pt x="61258" y="54729"/>
                  <a:pt x="66536" y="54729"/>
                  <a:pt x="69766" y="57993"/>
                </a:cubicBezTo>
                <a:lnTo>
                  <a:pt x="88865" y="77093"/>
                </a:lnTo>
                <a:lnTo>
                  <a:pt x="107965" y="57993"/>
                </a:lnTo>
                <a:cubicBezTo>
                  <a:pt x="111229" y="54729"/>
                  <a:pt x="116508" y="54729"/>
                  <a:pt x="119737" y="57993"/>
                </a:cubicBezTo>
                <a:cubicBezTo>
                  <a:pt x="122967" y="61258"/>
                  <a:pt x="123001" y="66536"/>
                  <a:pt x="119737" y="69766"/>
                </a:cubicBezTo>
                <a:lnTo>
                  <a:pt x="100638" y="88865"/>
                </a:lnTo>
                <a:lnTo>
                  <a:pt x="119737" y="107965"/>
                </a:lnTo>
                <a:cubicBezTo>
                  <a:pt x="123001" y="111229"/>
                  <a:pt x="123001" y="116508"/>
                  <a:pt x="119737" y="119737"/>
                </a:cubicBezTo>
                <a:cubicBezTo>
                  <a:pt x="116473" y="122967"/>
                  <a:pt x="111194" y="123001"/>
                  <a:pt x="107965" y="119737"/>
                </a:cubicBezTo>
                <a:lnTo>
                  <a:pt x="88865" y="100638"/>
                </a:lnTo>
                <a:lnTo>
                  <a:pt x="69766" y="119737"/>
                </a:lnTo>
                <a:cubicBezTo>
                  <a:pt x="66501" y="123001"/>
                  <a:pt x="61223" y="123001"/>
                  <a:pt x="57993" y="119737"/>
                </a:cubicBezTo>
                <a:cubicBezTo>
                  <a:pt x="54764" y="116473"/>
                  <a:pt x="54729" y="111194"/>
                  <a:pt x="57993" y="107965"/>
                </a:cubicBezTo>
                <a:lnTo>
                  <a:pt x="77093" y="88865"/>
                </a:lnTo>
                <a:lnTo>
                  <a:pt x="57993" y="69766"/>
                </a:lnTo>
                <a:cubicBezTo>
                  <a:pt x="54729" y="66501"/>
                  <a:pt x="54729" y="61223"/>
                  <a:pt x="57993" y="57993"/>
                </a:cubicBezTo>
                <a:close/>
              </a:path>
            </a:pathLst>
          </a:custGeom>
          <a:solidFill>
            <a:srgbClr val="DC3545"/>
          </a:solidFill>
        </p:spPr>
      </p:sp>
      <p:sp>
        <p:nvSpPr>
          <p:cNvPr id="12" name="Text 9"/>
          <p:cNvSpPr/>
          <p:nvPr/>
        </p:nvSpPr>
        <p:spPr>
          <a:xfrm>
            <a:off x="807720" y="4597400"/>
            <a:ext cx="3987800" cy="254000"/>
          </a:xfrm>
          <a:prstGeom prst="rect">
            <a:avLst/>
          </a:prstGeom>
          <a:noFill/>
        </p:spPr>
        <p:txBody>
          <a:bodyPr wrap="square" lIns="0" tIns="0" rIns="0" bIns="0" rtlCol="0" anchor="ctr"/>
          <a:lstStyle/>
          <a:p>
            <a:pPr>
              <a:lnSpc>
                <a:spcPct val="120000"/>
              </a:lnSpc>
            </a:pPr>
            <a:r>
              <a:rPr lang="en-US" sz="14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效果不可测：</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进步与否缺乏评估标准</a:t>
            </a:r>
            <a:endParaRPr lang="en-US" sz="1600" dirty="0"/>
          </a:p>
        </p:txBody>
      </p:sp>
      <p:sp>
        <p:nvSpPr>
          <p:cNvPr id="13" name="Shape 10"/>
          <p:cNvSpPr/>
          <p:nvPr/>
        </p:nvSpPr>
        <p:spPr>
          <a:xfrm>
            <a:off x="5667375" y="3154682"/>
            <a:ext cx="857250" cy="762000"/>
          </a:xfrm>
          <a:custGeom>
            <a:avLst/>
            <a:gdLst/>
            <a:ahLst/>
            <a:cxnLst/>
            <a:rect l="l" t="t" r="r" b="b"/>
            <a:pathLst>
              <a:path w="857250" h="762000">
                <a:moveTo>
                  <a:pt x="843260" y="347365"/>
                </a:moveTo>
                <a:cubicBezTo>
                  <a:pt x="861864" y="365968"/>
                  <a:pt x="861864" y="396180"/>
                  <a:pt x="843260" y="414784"/>
                </a:cubicBezTo>
                <a:lnTo>
                  <a:pt x="652760" y="605284"/>
                </a:lnTo>
                <a:cubicBezTo>
                  <a:pt x="639068" y="618976"/>
                  <a:pt x="618679" y="622995"/>
                  <a:pt x="600819" y="615553"/>
                </a:cubicBezTo>
                <a:cubicBezTo>
                  <a:pt x="582960" y="608112"/>
                  <a:pt x="571500" y="590699"/>
                  <a:pt x="571500" y="571500"/>
                </a:cubicBezTo>
                <a:lnTo>
                  <a:pt x="571500" y="476250"/>
                </a:lnTo>
                <a:lnTo>
                  <a:pt x="71438" y="476250"/>
                </a:lnTo>
                <a:cubicBezTo>
                  <a:pt x="31998" y="476250"/>
                  <a:pt x="0" y="444252"/>
                  <a:pt x="0" y="404813"/>
                </a:cubicBezTo>
                <a:lnTo>
                  <a:pt x="0" y="357188"/>
                </a:lnTo>
                <a:cubicBezTo>
                  <a:pt x="0" y="317748"/>
                  <a:pt x="31998" y="285750"/>
                  <a:pt x="71438" y="285750"/>
                </a:cubicBezTo>
                <a:lnTo>
                  <a:pt x="571500" y="285750"/>
                </a:lnTo>
                <a:lnTo>
                  <a:pt x="571500" y="190500"/>
                </a:lnTo>
                <a:cubicBezTo>
                  <a:pt x="571500" y="171301"/>
                  <a:pt x="583109" y="153888"/>
                  <a:pt x="600968" y="146447"/>
                </a:cubicBezTo>
                <a:cubicBezTo>
                  <a:pt x="618827" y="139005"/>
                  <a:pt x="639217" y="143173"/>
                  <a:pt x="652909" y="156716"/>
                </a:cubicBezTo>
                <a:lnTo>
                  <a:pt x="843409" y="347216"/>
                </a:lnTo>
                <a:close/>
              </a:path>
            </a:pathLst>
          </a:custGeom>
          <a:solidFill>
            <a:srgbClr val="0056B3"/>
          </a:solidFill>
        </p:spPr>
      </p:sp>
      <p:sp>
        <p:nvSpPr>
          <p:cNvPr id="14" name="Shape 11"/>
          <p:cNvSpPr/>
          <p:nvPr/>
        </p:nvSpPr>
        <p:spPr>
          <a:xfrm>
            <a:off x="7264400" y="3154682"/>
            <a:ext cx="4635500" cy="1879600"/>
          </a:xfrm>
          <a:custGeom>
            <a:avLst/>
            <a:gdLst/>
            <a:ahLst/>
            <a:cxnLst/>
            <a:rect l="l" t="t" r="r" b="b"/>
            <a:pathLst>
              <a:path w="4635500" h="1879600">
                <a:moveTo>
                  <a:pt x="101592" y="0"/>
                </a:moveTo>
                <a:lnTo>
                  <a:pt x="4533908" y="0"/>
                </a:lnTo>
                <a:cubicBezTo>
                  <a:pt x="4590016" y="0"/>
                  <a:pt x="4635500" y="45484"/>
                  <a:pt x="4635500" y="101592"/>
                </a:cubicBezTo>
                <a:lnTo>
                  <a:pt x="4635500" y="1778008"/>
                </a:lnTo>
                <a:cubicBezTo>
                  <a:pt x="4635500" y="1834116"/>
                  <a:pt x="4590016" y="1879600"/>
                  <a:pt x="4533908" y="1879600"/>
                </a:cubicBezTo>
                <a:lnTo>
                  <a:pt x="101592" y="1879600"/>
                </a:lnTo>
                <a:cubicBezTo>
                  <a:pt x="45484" y="1879600"/>
                  <a:pt x="0" y="1834116"/>
                  <a:pt x="0" y="1778008"/>
                </a:cubicBezTo>
                <a:lnTo>
                  <a:pt x="0" y="101592"/>
                </a:lnTo>
                <a:cubicBezTo>
                  <a:pt x="0" y="45522"/>
                  <a:pt x="45522" y="0"/>
                  <a:pt x="101592" y="0"/>
                </a:cubicBezTo>
                <a:close/>
              </a:path>
            </a:pathLst>
          </a:custGeom>
          <a:solidFill>
            <a:srgbClr val="007BFF">
              <a:alpha val="10196"/>
            </a:srgbClr>
          </a:solidFill>
          <a:ln w="20320">
            <a:solidFill>
              <a:srgbClr val="007BFF"/>
            </a:solidFill>
            <a:prstDash val="solid"/>
          </a:ln>
        </p:spPr>
      </p:sp>
      <p:sp>
        <p:nvSpPr>
          <p:cNvPr id="15" name="Text 12"/>
          <p:cNvSpPr/>
          <p:nvPr/>
        </p:nvSpPr>
        <p:spPr>
          <a:xfrm>
            <a:off x="7424420" y="3378200"/>
            <a:ext cx="4356100" cy="355600"/>
          </a:xfrm>
          <a:prstGeom prst="rect">
            <a:avLst/>
          </a:prstGeom>
          <a:noFill/>
        </p:spPr>
        <p:txBody>
          <a:bodyPr wrap="square" lIns="0" tIns="0" rIns="0" bIns="0" rtlCol="0" anchor="ctr"/>
          <a:lstStyle/>
          <a:p>
            <a:pPr algn="ctr">
              <a:lnSpc>
                <a:spcPct val="120000"/>
              </a:lnSpc>
            </a:pPr>
            <a:r>
              <a:rPr lang="en-US" sz="2000" b="1" dirty="0">
                <a:solidFill>
                  <a:srgbClr val="007BFF"/>
                </a:solidFill>
                <a:latin typeface="Noto Sans SC" panose="020B0200000000000000" pitchFamily="34" charset="-122"/>
                <a:ea typeface="Noto Sans SC" panose="020B0200000000000000" pitchFamily="34" charset="-122"/>
                <a:cs typeface="Noto Sans SC" panose="020B0200000000000000" pitchFamily="34" charset="-120"/>
              </a:rPr>
              <a:t>应有：系统目标 (IEP)</a:t>
            </a:r>
            <a:endParaRPr lang="en-US" sz="1600" dirty="0"/>
          </a:p>
        </p:txBody>
      </p:sp>
      <p:sp>
        <p:nvSpPr>
          <p:cNvPr id="16" name="Shape 13"/>
          <p:cNvSpPr/>
          <p:nvPr/>
        </p:nvSpPr>
        <p:spPr>
          <a:xfrm>
            <a:off x="7513320" y="3926839"/>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118209" y="73863"/>
                </a:moveTo>
                <a:lnTo>
                  <a:pt x="90428" y="118313"/>
                </a:lnTo>
                <a:cubicBezTo>
                  <a:pt x="88969" y="120640"/>
                  <a:pt x="86469" y="122099"/>
                  <a:pt x="83726" y="122238"/>
                </a:cubicBezTo>
                <a:cubicBezTo>
                  <a:pt x="80982" y="122376"/>
                  <a:pt x="78343" y="121126"/>
                  <a:pt x="76711" y="118904"/>
                </a:cubicBezTo>
                <a:lnTo>
                  <a:pt x="60042" y="96679"/>
                </a:lnTo>
                <a:cubicBezTo>
                  <a:pt x="57264" y="92998"/>
                  <a:pt x="58028" y="87789"/>
                  <a:pt x="61709" y="85011"/>
                </a:cubicBezTo>
                <a:cubicBezTo>
                  <a:pt x="65390" y="82233"/>
                  <a:pt x="70599" y="82996"/>
                  <a:pt x="73377" y="86678"/>
                </a:cubicBezTo>
                <a:lnTo>
                  <a:pt x="82753" y="99179"/>
                </a:lnTo>
                <a:lnTo>
                  <a:pt x="104076" y="65043"/>
                </a:lnTo>
                <a:cubicBezTo>
                  <a:pt x="106506" y="61153"/>
                  <a:pt x="111646" y="59938"/>
                  <a:pt x="115570" y="62404"/>
                </a:cubicBezTo>
                <a:cubicBezTo>
                  <a:pt x="119494" y="64869"/>
                  <a:pt x="120675" y="69974"/>
                  <a:pt x="118209" y="73898"/>
                </a:cubicBezTo>
                <a:close/>
              </a:path>
            </a:pathLst>
          </a:custGeom>
          <a:solidFill>
            <a:srgbClr val="007BFF"/>
          </a:solidFill>
        </p:spPr>
      </p:sp>
      <p:sp>
        <p:nvSpPr>
          <p:cNvPr id="17" name="Text 14"/>
          <p:cNvSpPr/>
          <p:nvPr/>
        </p:nvSpPr>
        <p:spPr>
          <a:xfrm>
            <a:off x="7818120" y="3886200"/>
            <a:ext cx="3987800" cy="254000"/>
          </a:xfrm>
          <a:prstGeom prst="rect">
            <a:avLst/>
          </a:prstGeom>
          <a:noFill/>
        </p:spPr>
        <p:txBody>
          <a:bodyPr wrap="square" lIns="0" tIns="0" rIns="0" bIns="0" rtlCol="0" anchor="ctr"/>
          <a:lstStyle/>
          <a:p>
            <a:pPr>
              <a:lnSpc>
                <a:spcPct val="120000"/>
              </a:lnSpc>
            </a:pPr>
            <a:r>
              <a:rPr lang="en-US" sz="14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目标明确：</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设定可测量的年度目标</a:t>
            </a:r>
            <a:endParaRPr lang="en-US" sz="1600" dirty="0"/>
          </a:p>
        </p:txBody>
      </p:sp>
      <p:sp>
        <p:nvSpPr>
          <p:cNvPr id="18" name="Shape 15"/>
          <p:cNvSpPr/>
          <p:nvPr/>
        </p:nvSpPr>
        <p:spPr>
          <a:xfrm>
            <a:off x="7513320" y="4282439"/>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118209" y="73863"/>
                </a:moveTo>
                <a:lnTo>
                  <a:pt x="90428" y="118313"/>
                </a:lnTo>
                <a:cubicBezTo>
                  <a:pt x="88969" y="120640"/>
                  <a:pt x="86469" y="122099"/>
                  <a:pt x="83726" y="122238"/>
                </a:cubicBezTo>
                <a:cubicBezTo>
                  <a:pt x="80982" y="122376"/>
                  <a:pt x="78343" y="121126"/>
                  <a:pt x="76711" y="118904"/>
                </a:cubicBezTo>
                <a:lnTo>
                  <a:pt x="60042" y="96679"/>
                </a:lnTo>
                <a:cubicBezTo>
                  <a:pt x="57264" y="92998"/>
                  <a:pt x="58028" y="87789"/>
                  <a:pt x="61709" y="85011"/>
                </a:cubicBezTo>
                <a:cubicBezTo>
                  <a:pt x="65390" y="82233"/>
                  <a:pt x="70599" y="82996"/>
                  <a:pt x="73377" y="86678"/>
                </a:cubicBezTo>
                <a:lnTo>
                  <a:pt x="82753" y="99179"/>
                </a:lnTo>
                <a:lnTo>
                  <a:pt x="104076" y="65043"/>
                </a:lnTo>
                <a:cubicBezTo>
                  <a:pt x="106506" y="61153"/>
                  <a:pt x="111646" y="59938"/>
                  <a:pt x="115570" y="62404"/>
                </a:cubicBezTo>
                <a:cubicBezTo>
                  <a:pt x="119494" y="64869"/>
                  <a:pt x="120675" y="69974"/>
                  <a:pt x="118209" y="73898"/>
                </a:cubicBezTo>
                <a:close/>
              </a:path>
            </a:pathLst>
          </a:custGeom>
          <a:solidFill>
            <a:srgbClr val="007BFF"/>
          </a:solidFill>
        </p:spPr>
      </p:sp>
      <p:sp>
        <p:nvSpPr>
          <p:cNvPr id="19" name="Text 16"/>
          <p:cNvSpPr/>
          <p:nvPr/>
        </p:nvSpPr>
        <p:spPr>
          <a:xfrm>
            <a:off x="7818120" y="4241800"/>
            <a:ext cx="3987800" cy="254000"/>
          </a:xfrm>
          <a:prstGeom prst="rect">
            <a:avLst/>
          </a:prstGeom>
          <a:noFill/>
        </p:spPr>
        <p:txBody>
          <a:bodyPr wrap="square" lIns="0" tIns="0" rIns="0" bIns="0" rtlCol="0" anchor="ctr"/>
          <a:lstStyle/>
          <a:p>
            <a:pPr>
              <a:lnSpc>
                <a:spcPct val="120000"/>
              </a:lnSpc>
            </a:pPr>
            <a:r>
              <a:rPr lang="en-US" sz="14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策略科学：</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基于评估制定个性化策略</a:t>
            </a:r>
            <a:endParaRPr lang="en-US" sz="1600" dirty="0"/>
          </a:p>
        </p:txBody>
      </p:sp>
      <p:sp>
        <p:nvSpPr>
          <p:cNvPr id="20" name="Shape 17"/>
          <p:cNvSpPr/>
          <p:nvPr/>
        </p:nvSpPr>
        <p:spPr>
          <a:xfrm>
            <a:off x="7513320" y="4638039"/>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118209" y="73863"/>
                </a:moveTo>
                <a:lnTo>
                  <a:pt x="90428" y="118313"/>
                </a:lnTo>
                <a:cubicBezTo>
                  <a:pt x="88969" y="120640"/>
                  <a:pt x="86469" y="122099"/>
                  <a:pt x="83726" y="122238"/>
                </a:cubicBezTo>
                <a:cubicBezTo>
                  <a:pt x="80982" y="122376"/>
                  <a:pt x="78343" y="121126"/>
                  <a:pt x="76711" y="118904"/>
                </a:cubicBezTo>
                <a:lnTo>
                  <a:pt x="60042" y="96679"/>
                </a:lnTo>
                <a:cubicBezTo>
                  <a:pt x="57264" y="92998"/>
                  <a:pt x="58028" y="87789"/>
                  <a:pt x="61709" y="85011"/>
                </a:cubicBezTo>
                <a:cubicBezTo>
                  <a:pt x="65390" y="82233"/>
                  <a:pt x="70599" y="82996"/>
                  <a:pt x="73377" y="86678"/>
                </a:cubicBezTo>
                <a:lnTo>
                  <a:pt x="82753" y="99179"/>
                </a:lnTo>
                <a:lnTo>
                  <a:pt x="104076" y="65043"/>
                </a:lnTo>
                <a:cubicBezTo>
                  <a:pt x="106506" y="61153"/>
                  <a:pt x="111646" y="59938"/>
                  <a:pt x="115570" y="62404"/>
                </a:cubicBezTo>
                <a:cubicBezTo>
                  <a:pt x="119494" y="64869"/>
                  <a:pt x="120675" y="69974"/>
                  <a:pt x="118209" y="73898"/>
                </a:cubicBezTo>
                <a:close/>
              </a:path>
            </a:pathLst>
          </a:custGeom>
          <a:solidFill>
            <a:srgbClr val="007BFF"/>
          </a:solidFill>
        </p:spPr>
      </p:sp>
      <p:sp>
        <p:nvSpPr>
          <p:cNvPr id="21" name="Text 18"/>
          <p:cNvSpPr/>
          <p:nvPr/>
        </p:nvSpPr>
        <p:spPr>
          <a:xfrm>
            <a:off x="7818120" y="4597400"/>
            <a:ext cx="3987800" cy="254000"/>
          </a:xfrm>
          <a:prstGeom prst="rect">
            <a:avLst/>
          </a:prstGeom>
          <a:noFill/>
        </p:spPr>
        <p:txBody>
          <a:bodyPr wrap="square" lIns="0" tIns="0" rIns="0" bIns="0" rtlCol="0" anchor="ctr"/>
          <a:lstStyle/>
          <a:p>
            <a:pPr>
              <a:lnSpc>
                <a:spcPct val="120000"/>
              </a:lnSpc>
            </a:pPr>
            <a:r>
              <a:rPr lang="en-US" sz="14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定期评估：</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持续监测并调整计划</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4" name="Text 0"/>
          <p:cNvSpPr/>
          <p:nvPr/>
        </p:nvSpPr>
        <p:spPr>
          <a:xfrm>
            <a:off x="4572635" y="965200"/>
            <a:ext cx="7555865" cy="914400"/>
          </a:xfrm>
          <a:prstGeom prst="rect">
            <a:avLst/>
          </a:prstGeom>
          <a:noFill/>
        </p:spPr>
        <p:txBody>
          <a:bodyPr wrap="square" lIns="0" tIns="0" rIns="0" bIns="0" rtlCol="0" anchor="ctr"/>
          <a:lstStyle/>
          <a:p>
            <a:pPr>
              <a:lnSpc>
                <a:spcPct val="100000"/>
              </a:lnSpc>
            </a:pPr>
            <a:r>
              <a:rPr lang="en-US" sz="3000" b="1" dirty="0">
                <a:solidFill>
                  <a:srgbClr val="007BFF"/>
                </a:solidFill>
                <a:latin typeface="Noto Sans SC" panose="020B0200000000000000" pitchFamily="34" charset="-122"/>
                <a:ea typeface="Noto Sans SC" panose="020B0200000000000000" pitchFamily="34" charset="-122"/>
                <a:cs typeface="Noto Sans SC" panose="020B0200000000000000" pitchFamily="34" charset="-120"/>
              </a:rPr>
              <a:t>师资与资源：普通课堂无力回应特殊需求</a:t>
            </a:r>
            <a:endParaRPr lang="en-US" sz="1600" dirty="0"/>
          </a:p>
        </p:txBody>
      </p:sp>
      <p:sp>
        <p:nvSpPr>
          <p:cNvPr id="5" name="Text 1"/>
          <p:cNvSpPr/>
          <p:nvPr/>
        </p:nvSpPr>
        <p:spPr>
          <a:xfrm>
            <a:off x="4288790" y="1773555"/>
            <a:ext cx="7750810" cy="918845"/>
          </a:xfrm>
          <a:prstGeom prst="rect">
            <a:avLst/>
          </a:prstGeom>
          <a:noFill/>
        </p:spPr>
        <p:txBody>
          <a:bodyPr wrap="square" lIns="0" tIns="0" rIns="0" bIns="0" rtlCol="0" anchor="ctr"/>
          <a:lstStyle/>
          <a:p>
            <a:pPr>
              <a:lnSpc>
                <a:spcPct val="130000"/>
              </a:lnSpc>
            </a:pPr>
            <a:r>
              <a:rPr lang="en-US" altLang="zh-CN" sz="1600" dirty="0"/>
              <a:t>The insufficiency of professional support capabilities led to a complete break in the chain of "identification - teaching - training - transfer", making it difficult for Xiaoxu's ability improvement to be generalized to his studies and life.</a:t>
            </a:r>
            <a:endParaRPr lang="en-US" altLang="zh-CN" sz="1600" dirty="0"/>
          </a:p>
        </p:txBody>
      </p:sp>
      <p:sp>
        <p:nvSpPr>
          <p:cNvPr id="6" name="Shape 2"/>
          <p:cNvSpPr/>
          <p:nvPr/>
        </p:nvSpPr>
        <p:spPr>
          <a:xfrm>
            <a:off x="6096000" y="2997200"/>
            <a:ext cx="5842000" cy="863600"/>
          </a:xfrm>
          <a:custGeom>
            <a:avLst/>
            <a:gdLst/>
            <a:ahLst/>
            <a:cxnLst/>
            <a:rect l="l" t="t" r="r" b="b"/>
            <a:pathLst>
              <a:path w="5842000" h="863600">
                <a:moveTo>
                  <a:pt x="101603" y="0"/>
                </a:moveTo>
                <a:lnTo>
                  <a:pt x="5740397" y="0"/>
                </a:lnTo>
                <a:cubicBezTo>
                  <a:pt x="5796511" y="0"/>
                  <a:pt x="5842000" y="45489"/>
                  <a:pt x="5842000" y="101603"/>
                </a:cubicBezTo>
                <a:lnTo>
                  <a:pt x="5842000" y="761997"/>
                </a:lnTo>
                <a:cubicBezTo>
                  <a:pt x="5842000" y="818111"/>
                  <a:pt x="5796511" y="863600"/>
                  <a:pt x="5740397" y="863600"/>
                </a:cubicBezTo>
                <a:lnTo>
                  <a:pt x="101603" y="863600"/>
                </a:lnTo>
                <a:cubicBezTo>
                  <a:pt x="45527" y="863600"/>
                  <a:pt x="0" y="818073"/>
                  <a:pt x="0" y="761997"/>
                </a:cubicBezTo>
                <a:lnTo>
                  <a:pt x="0" y="101603"/>
                </a:lnTo>
                <a:cubicBezTo>
                  <a:pt x="0" y="45527"/>
                  <a:pt x="45527" y="0"/>
                  <a:pt x="101603" y="0"/>
                </a:cubicBezTo>
                <a:close/>
              </a:path>
            </a:pathLst>
          </a:custGeom>
          <a:solidFill>
            <a:srgbClr val="007BFF">
              <a:alpha val="10196"/>
            </a:srgbClr>
          </a:solidFill>
        </p:spPr>
      </p:sp>
      <p:sp>
        <p:nvSpPr>
          <p:cNvPr id="7" name="Shape 3"/>
          <p:cNvSpPr/>
          <p:nvPr/>
        </p:nvSpPr>
        <p:spPr>
          <a:xfrm>
            <a:off x="6340475" y="3149600"/>
            <a:ext cx="222250" cy="254000"/>
          </a:xfrm>
          <a:custGeom>
            <a:avLst/>
            <a:gdLst/>
            <a:ahLst/>
            <a:cxnLst/>
            <a:rect l="l" t="t" r="r" b="b"/>
            <a:pathLst>
              <a:path w="222250" h="254000">
                <a:moveTo>
                  <a:pt x="111125" y="123031"/>
                </a:moveTo>
                <a:cubicBezTo>
                  <a:pt x="78269" y="123031"/>
                  <a:pt x="51594" y="96356"/>
                  <a:pt x="51594" y="63500"/>
                </a:cubicBezTo>
                <a:cubicBezTo>
                  <a:pt x="51594" y="30644"/>
                  <a:pt x="78269" y="3969"/>
                  <a:pt x="111125" y="3969"/>
                </a:cubicBezTo>
                <a:cubicBezTo>
                  <a:pt x="143981" y="3969"/>
                  <a:pt x="170656" y="30644"/>
                  <a:pt x="170656" y="63500"/>
                </a:cubicBezTo>
                <a:cubicBezTo>
                  <a:pt x="170656" y="96356"/>
                  <a:pt x="143981" y="123031"/>
                  <a:pt x="111125" y="123031"/>
                </a:cubicBezTo>
                <a:close/>
                <a:moveTo>
                  <a:pt x="95994" y="150813"/>
                </a:moveTo>
                <a:lnTo>
                  <a:pt x="126256" y="150813"/>
                </a:lnTo>
                <a:cubicBezTo>
                  <a:pt x="131068" y="150813"/>
                  <a:pt x="134938" y="154682"/>
                  <a:pt x="134938" y="159494"/>
                </a:cubicBezTo>
                <a:cubicBezTo>
                  <a:pt x="134938" y="161578"/>
                  <a:pt x="134193" y="163562"/>
                  <a:pt x="132854" y="165150"/>
                </a:cubicBezTo>
                <a:lnTo>
                  <a:pt x="119261" y="181025"/>
                </a:lnTo>
                <a:lnTo>
                  <a:pt x="134640" y="238125"/>
                </a:lnTo>
                <a:lnTo>
                  <a:pt x="134938" y="238125"/>
                </a:lnTo>
                <a:lnTo>
                  <a:pt x="152102" y="169416"/>
                </a:lnTo>
                <a:cubicBezTo>
                  <a:pt x="153194" y="165100"/>
                  <a:pt x="157609" y="162471"/>
                  <a:pt x="161776" y="164058"/>
                </a:cubicBezTo>
                <a:cubicBezTo>
                  <a:pt x="192484" y="175766"/>
                  <a:pt x="214313" y="205532"/>
                  <a:pt x="214313" y="240357"/>
                </a:cubicBezTo>
                <a:cubicBezTo>
                  <a:pt x="214313" y="247848"/>
                  <a:pt x="208211" y="253950"/>
                  <a:pt x="200720" y="253950"/>
                </a:cubicBezTo>
                <a:lnTo>
                  <a:pt x="21530" y="254000"/>
                </a:lnTo>
                <a:cubicBezTo>
                  <a:pt x="14039" y="254000"/>
                  <a:pt x="7938" y="247898"/>
                  <a:pt x="7938" y="240407"/>
                </a:cubicBezTo>
                <a:cubicBezTo>
                  <a:pt x="7938" y="205581"/>
                  <a:pt x="29766" y="175816"/>
                  <a:pt x="60474" y="164108"/>
                </a:cubicBezTo>
                <a:cubicBezTo>
                  <a:pt x="64641" y="162520"/>
                  <a:pt x="69056" y="165150"/>
                  <a:pt x="70148" y="169466"/>
                </a:cubicBezTo>
                <a:lnTo>
                  <a:pt x="87313" y="238175"/>
                </a:lnTo>
                <a:lnTo>
                  <a:pt x="87610" y="238175"/>
                </a:lnTo>
                <a:lnTo>
                  <a:pt x="102989" y="181074"/>
                </a:lnTo>
                <a:lnTo>
                  <a:pt x="89396" y="165199"/>
                </a:lnTo>
                <a:cubicBezTo>
                  <a:pt x="88057" y="163612"/>
                  <a:pt x="87313" y="161627"/>
                  <a:pt x="87313" y="159544"/>
                </a:cubicBezTo>
                <a:cubicBezTo>
                  <a:pt x="87313" y="154732"/>
                  <a:pt x="91182" y="150862"/>
                  <a:pt x="95994" y="150862"/>
                </a:cubicBezTo>
                <a:close/>
              </a:path>
            </a:pathLst>
          </a:custGeom>
          <a:solidFill>
            <a:srgbClr val="0056B3"/>
          </a:solidFill>
        </p:spPr>
      </p:sp>
      <p:sp>
        <p:nvSpPr>
          <p:cNvPr id="8" name="Text 4"/>
          <p:cNvSpPr/>
          <p:nvPr/>
        </p:nvSpPr>
        <p:spPr>
          <a:xfrm>
            <a:off x="6807200" y="3149600"/>
            <a:ext cx="40513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师资专业素养欠缺</a:t>
            </a:r>
            <a:endParaRPr lang="en-US" sz="1600" dirty="0"/>
          </a:p>
        </p:txBody>
      </p:sp>
      <p:sp>
        <p:nvSpPr>
          <p:cNvPr id="9" name="Text 5"/>
          <p:cNvSpPr/>
          <p:nvPr/>
        </p:nvSpPr>
        <p:spPr>
          <a:xfrm>
            <a:off x="6807200" y="3454400"/>
            <a:ext cx="40386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缺乏ADHD与感统专业知识，将多动视为“调皮”。</a:t>
            </a:r>
            <a:endParaRPr lang="en-US" sz="1600" dirty="0"/>
          </a:p>
        </p:txBody>
      </p:sp>
      <p:sp>
        <p:nvSpPr>
          <p:cNvPr id="10" name="Shape 6"/>
          <p:cNvSpPr/>
          <p:nvPr/>
        </p:nvSpPr>
        <p:spPr>
          <a:xfrm>
            <a:off x="6096000" y="4013200"/>
            <a:ext cx="5842000" cy="863600"/>
          </a:xfrm>
          <a:custGeom>
            <a:avLst/>
            <a:gdLst/>
            <a:ahLst/>
            <a:cxnLst/>
            <a:rect l="l" t="t" r="r" b="b"/>
            <a:pathLst>
              <a:path w="5842000" h="863600">
                <a:moveTo>
                  <a:pt x="101603" y="0"/>
                </a:moveTo>
                <a:lnTo>
                  <a:pt x="5740397" y="0"/>
                </a:lnTo>
                <a:cubicBezTo>
                  <a:pt x="5796511" y="0"/>
                  <a:pt x="5842000" y="45489"/>
                  <a:pt x="5842000" y="101603"/>
                </a:cubicBezTo>
                <a:lnTo>
                  <a:pt x="5842000" y="761997"/>
                </a:lnTo>
                <a:cubicBezTo>
                  <a:pt x="5842000" y="818111"/>
                  <a:pt x="5796511" y="863600"/>
                  <a:pt x="5740397" y="863600"/>
                </a:cubicBezTo>
                <a:lnTo>
                  <a:pt x="101603" y="863600"/>
                </a:lnTo>
                <a:cubicBezTo>
                  <a:pt x="45527" y="863600"/>
                  <a:pt x="0" y="818073"/>
                  <a:pt x="0" y="761997"/>
                </a:cubicBezTo>
                <a:lnTo>
                  <a:pt x="0" y="101603"/>
                </a:lnTo>
                <a:cubicBezTo>
                  <a:pt x="0" y="45527"/>
                  <a:pt x="45527" y="0"/>
                  <a:pt x="101603" y="0"/>
                </a:cubicBezTo>
                <a:close/>
              </a:path>
            </a:pathLst>
          </a:custGeom>
          <a:solidFill>
            <a:srgbClr val="007BFF">
              <a:alpha val="10196"/>
            </a:srgbClr>
          </a:solidFill>
        </p:spPr>
      </p:sp>
      <p:sp>
        <p:nvSpPr>
          <p:cNvPr id="11" name="Shape 7"/>
          <p:cNvSpPr/>
          <p:nvPr/>
        </p:nvSpPr>
        <p:spPr>
          <a:xfrm>
            <a:off x="6340475" y="4165600"/>
            <a:ext cx="222250" cy="254000"/>
          </a:xfrm>
          <a:custGeom>
            <a:avLst/>
            <a:gdLst/>
            <a:ahLst/>
            <a:cxnLst/>
            <a:rect l="l" t="t" r="r" b="b"/>
            <a:pathLst>
              <a:path w="222250" h="254000">
                <a:moveTo>
                  <a:pt x="15875" y="31750"/>
                </a:moveTo>
                <a:cubicBezTo>
                  <a:pt x="15875" y="14238"/>
                  <a:pt x="30113" y="0"/>
                  <a:pt x="47625" y="0"/>
                </a:cubicBezTo>
                <a:lnTo>
                  <a:pt x="174625" y="0"/>
                </a:lnTo>
                <a:cubicBezTo>
                  <a:pt x="192137" y="0"/>
                  <a:pt x="206375" y="14238"/>
                  <a:pt x="206375" y="31750"/>
                </a:cubicBezTo>
                <a:lnTo>
                  <a:pt x="206375" y="222250"/>
                </a:lnTo>
                <a:cubicBezTo>
                  <a:pt x="215156" y="222250"/>
                  <a:pt x="222250" y="229344"/>
                  <a:pt x="222250" y="238125"/>
                </a:cubicBezTo>
                <a:cubicBezTo>
                  <a:pt x="222250" y="246906"/>
                  <a:pt x="215156" y="254000"/>
                  <a:pt x="206375" y="254000"/>
                </a:cubicBezTo>
                <a:lnTo>
                  <a:pt x="15875" y="254000"/>
                </a:lnTo>
                <a:cubicBezTo>
                  <a:pt x="7094" y="254000"/>
                  <a:pt x="0" y="246906"/>
                  <a:pt x="0" y="238125"/>
                </a:cubicBezTo>
                <a:cubicBezTo>
                  <a:pt x="0" y="229344"/>
                  <a:pt x="7094" y="222250"/>
                  <a:pt x="15875" y="222250"/>
                </a:cubicBezTo>
                <a:lnTo>
                  <a:pt x="15875" y="31750"/>
                </a:lnTo>
                <a:close/>
                <a:moveTo>
                  <a:pt x="158750" y="142875"/>
                </a:moveTo>
                <a:cubicBezTo>
                  <a:pt x="167512" y="142875"/>
                  <a:pt x="174625" y="135762"/>
                  <a:pt x="174625" y="127000"/>
                </a:cubicBezTo>
                <a:cubicBezTo>
                  <a:pt x="174625" y="118238"/>
                  <a:pt x="167512" y="111125"/>
                  <a:pt x="158750" y="111125"/>
                </a:cubicBezTo>
                <a:cubicBezTo>
                  <a:pt x="149988" y="111125"/>
                  <a:pt x="142875" y="118238"/>
                  <a:pt x="142875" y="127000"/>
                </a:cubicBezTo>
                <a:cubicBezTo>
                  <a:pt x="142875" y="135762"/>
                  <a:pt x="149988" y="142875"/>
                  <a:pt x="158750" y="142875"/>
                </a:cubicBezTo>
                <a:close/>
              </a:path>
            </a:pathLst>
          </a:custGeom>
          <a:solidFill>
            <a:srgbClr val="0056B3"/>
          </a:solidFill>
        </p:spPr>
      </p:sp>
      <p:sp>
        <p:nvSpPr>
          <p:cNvPr id="12" name="Text 8"/>
          <p:cNvSpPr/>
          <p:nvPr/>
        </p:nvSpPr>
        <p:spPr>
          <a:xfrm>
            <a:off x="6807200" y="4165600"/>
            <a:ext cx="45466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资源教室利用不充分</a:t>
            </a:r>
            <a:endParaRPr lang="en-US" sz="1600" dirty="0"/>
          </a:p>
        </p:txBody>
      </p:sp>
      <p:sp>
        <p:nvSpPr>
          <p:cNvPr id="13" name="Text 9"/>
          <p:cNvSpPr/>
          <p:nvPr/>
        </p:nvSpPr>
        <p:spPr>
          <a:xfrm>
            <a:off x="6807200" y="4470400"/>
            <a:ext cx="45339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仅用于评估，缺乏康复器材，未转化为常态化训练场所。</a:t>
            </a:r>
            <a:endParaRPr lang="en-US" sz="1600" dirty="0"/>
          </a:p>
        </p:txBody>
      </p:sp>
      <p:sp>
        <p:nvSpPr>
          <p:cNvPr id="14" name="Shape 10"/>
          <p:cNvSpPr/>
          <p:nvPr/>
        </p:nvSpPr>
        <p:spPr>
          <a:xfrm>
            <a:off x="6096000" y="5029200"/>
            <a:ext cx="5842000" cy="863600"/>
          </a:xfrm>
          <a:custGeom>
            <a:avLst/>
            <a:gdLst/>
            <a:ahLst/>
            <a:cxnLst/>
            <a:rect l="l" t="t" r="r" b="b"/>
            <a:pathLst>
              <a:path w="5842000" h="863600">
                <a:moveTo>
                  <a:pt x="101603" y="0"/>
                </a:moveTo>
                <a:lnTo>
                  <a:pt x="5740397" y="0"/>
                </a:lnTo>
                <a:cubicBezTo>
                  <a:pt x="5796511" y="0"/>
                  <a:pt x="5842000" y="45489"/>
                  <a:pt x="5842000" y="101603"/>
                </a:cubicBezTo>
                <a:lnTo>
                  <a:pt x="5842000" y="761997"/>
                </a:lnTo>
                <a:cubicBezTo>
                  <a:pt x="5842000" y="818111"/>
                  <a:pt x="5796511" y="863600"/>
                  <a:pt x="5740397" y="863600"/>
                </a:cubicBezTo>
                <a:lnTo>
                  <a:pt x="101603" y="863600"/>
                </a:lnTo>
                <a:cubicBezTo>
                  <a:pt x="45527" y="863600"/>
                  <a:pt x="0" y="818073"/>
                  <a:pt x="0" y="761997"/>
                </a:cubicBezTo>
                <a:lnTo>
                  <a:pt x="0" y="101603"/>
                </a:lnTo>
                <a:cubicBezTo>
                  <a:pt x="0" y="45527"/>
                  <a:pt x="45527" y="0"/>
                  <a:pt x="101603" y="0"/>
                </a:cubicBezTo>
                <a:close/>
              </a:path>
            </a:pathLst>
          </a:custGeom>
          <a:solidFill>
            <a:srgbClr val="007BFF">
              <a:alpha val="10196"/>
            </a:srgbClr>
          </a:solidFill>
        </p:spPr>
      </p:sp>
      <p:sp>
        <p:nvSpPr>
          <p:cNvPr id="15" name="Shape 11"/>
          <p:cNvSpPr/>
          <p:nvPr/>
        </p:nvSpPr>
        <p:spPr>
          <a:xfrm>
            <a:off x="6292850" y="5181600"/>
            <a:ext cx="317500" cy="254000"/>
          </a:xfrm>
          <a:custGeom>
            <a:avLst/>
            <a:gdLst/>
            <a:ahLst/>
            <a:cxnLst/>
            <a:rect l="l" t="t" r="r" b="b"/>
            <a:pathLst>
              <a:path w="317500" h="254000">
                <a:moveTo>
                  <a:pt x="36215" y="-12353"/>
                </a:moveTo>
                <a:cubicBezTo>
                  <a:pt x="31552" y="-17016"/>
                  <a:pt x="24011" y="-17016"/>
                  <a:pt x="19397" y="-12353"/>
                </a:cubicBezTo>
                <a:cubicBezTo>
                  <a:pt x="14784" y="-7689"/>
                  <a:pt x="14734" y="-149"/>
                  <a:pt x="19348" y="4514"/>
                </a:cubicBezTo>
                <a:lnTo>
                  <a:pt x="281285" y="266452"/>
                </a:lnTo>
                <a:cubicBezTo>
                  <a:pt x="285948" y="271115"/>
                  <a:pt x="293489" y="271115"/>
                  <a:pt x="298103" y="266452"/>
                </a:cubicBezTo>
                <a:cubicBezTo>
                  <a:pt x="302716" y="261789"/>
                  <a:pt x="302766" y="254248"/>
                  <a:pt x="298103" y="249634"/>
                </a:cubicBezTo>
                <a:lnTo>
                  <a:pt x="159643" y="111125"/>
                </a:lnTo>
                <a:cubicBezTo>
                  <a:pt x="187722" y="110629"/>
                  <a:pt x="210344" y="87709"/>
                  <a:pt x="210344" y="59531"/>
                </a:cubicBezTo>
                <a:cubicBezTo>
                  <a:pt x="210344" y="31055"/>
                  <a:pt x="187226" y="7938"/>
                  <a:pt x="158750" y="7938"/>
                </a:cubicBezTo>
                <a:cubicBezTo>
                  <a:pt x="130572" y="7938"/>
                  <a:pt x="107652" y="30559"/>
                  <a:pt x="107156" y="58638"/>
                </a:cubicBezTo>
                <a:lnTo>
                  <a:pt x="36215" y="-12353"/>
                </a:lnTo>
                <a:close/>
                <a:moveTo>
                  <a:pt x="254000" y="142875"/>
                </a:moveTo>
                <a:cubicBezTo>
                  <a:pt x="245467" y="142875"/>
                  <a:pt x="237282" y="144562"/>
                  <a:pt x="229840" y="147638"/>
                </a:cubicBezTo>
                <a:lnTo>
                  <a:pt x="314176" y="231973"/>
                </a:lnTo>
                <a:cubicBezTo>
                  <a:pt x="316260" y="229295"/>
                  <a:pt x="317500" y="225921"/>
                  <a:pt x="317500" y="222250"/>
                </a:cubicBezTo>
                <a:lnTo>
                  <a:pt x="317500" y="206375"/>
                </a:lnTo>
                <a:cubicBezTo>
                  <a:pt x="317500" y="171301"/>
                  <a:pt x="289074" y="142875"/>
                  <a:pt x="254000" y="142875"/>
                </a:cubicBezTo>
                <a:close/>
                <a:moveTo>
                  <a:pt x="29716" y="48468"/>
                </a:moveTo>
                <a:cubicBezTo>
                  <a:pt x="19050" y="54670"/>
                  <a:pt x="11906" y="66179"/>
                  <a:pt x="11906" y="79375"/>
                </a:cubicBezTo>
                <a:cubicBezTo>
                  <a:pt x="11906" y="99120"/>
                  <a:pt x="27880" y="115094"/>
                  <a:pt x="47625" y="115094"/>
                </a:cubicBezTo>
                <a:cubicBezTo>
                  <a:pt x="60821" y="115094"/>
                  <a:pt x="72330" y="107950"/>
                  <a:pt x="78532" y="97284"/>
                </a:cubicBezTo>
                <a:lnTo>
                  <a:pt x="29716" y="48468"/>
                </a:lnTo>
                <a:close/>
                <a:moveTo>
                  <a:pt x="124123" y="142875"/>
                </a:moveTo>
                <a:cubicBezTo>
                  <a:pt x="97631" y="155724"/>
                  <a:pt x="79375" y="182910"/>
                  <a:pt x="79375" y="214313"/>
                </a:cubicBezTo>
                <a:lnTo>
                  <a:pt x="79375" y="222250"/>
                </a:lnTo>
                <a:cubicBezTo>
                  <a:pt x="79375" y="231031"/>
                  <a:pt x="86469" y="238125"/>
                  <a:pt x="95250" y="238125"/>
                </a:cubicBezTo>
                <a:lnTo>
                  <a:pt x="219373" y="238125"/>
                </a:lnTo>
                <a:lnTo>
                  <a:pt x="124123" y="142875"/>
                </a:lnTo>
                <a:close/>
                <a:moveTo>
                  <a:pt x="63500" y="142875"/>
                </a:moveTo>
                <a:cubicBezTo>
                  <a:pt x="28426" y="142875"/>
                  <a:pt x="0" y="171301"/>
                  <a:pt x="0" y="206375"/>
                </a:cubicBezTo>
                <a:lnTo>
                  <a:pt x="0" y="222250"/>
                </a:lnTo>
                <a:cubicBezTo>
                  <a:pt x="0" y="231031"/>
                  <a:pt x="7094" y="238125"/>
                  <a:pt x="15875" y="238125"/>
                </a:cubicBezTo>
                <a:lnTo>
                  <a:pt x="58886" y="238125"/>
                </a:lnTo>
                <a:cubicBezTo>
                  <a:pt x="56753" y="233263"/>
                  <a:pt x="55563" y="227905"/>
                  <a:pt x="55563" y="222250"/>
                </a:cubicBezTo>
                <a:lnTo>
                  <a:pt x="55563" y="214313"/>
                </a:lnTo>
                <a:cubicBezTo>
                  <a:pt x="55563" y="187920"/>
                  <a:pt x="65484" y="163810"/>
                  <a:pt x="81806" y="145554"/>
                </a:cubicBezTo>
                <a:cubicBezTo>
                  <a:pt x="76002" y="143818"/>
                  <a:pt x="69850" y="142875"/>
                  <a:pt x="63500" y="142875"/>
                </a:cubicBezTo>
                <a:close/>
                <a:moveTo>
                  <a:pt x="305594" y="79375"/>
                </a:moveTo>
                <a:cubicBezTo>
                  <a:pt x="305594" y="59661"/>
                  <a:pt x="289589" y="43656"/>
                  <a:pt x="269875" y="43656"/>
                </a:cubicBezTo>
                <a:cubicBezTo>
                  <a:pt x="250161" y="43656"/>
                  <a:pt x="234156" y="59661"/>
                  <a:pt x="234156" y="79375"/>
                </a:cubicBezTo>
                <a:cubicBezTo>
                  <a:pt x="234156" y="99089"/>
                  <a:pt x="250161" y="115094"/>
                  <a:pt x="269875" y="115094"/>
                </a:cubicBezTo>
                <a:cubicBezTo>
                  <a:pt x="289589" y="115094"/>
                  <a:pt x="305594" y="99089"/>
                  <a:pt x="305594" y="79375"/>
                </a:cubicBezTo>
                <a:close/>
              </a:path>
            </a:pathLst>
          </a:custGeom>
          <a:solidFill>
            <a:srgbClr val="0056B3"/>
          </a:solidFill>
        </p:spPr>
      </p:sp>
      <p:sp>
        <p:nvSpPr>
          <p:cNvPr id="16" name="Text 12"/>
          <p:cNvSpPr/>
          <p:nvPr/>
        </p:nvSpPr>
        <p:spPr>
          <a:xfrm>
            <a:off x="6807200" y="5181600"/>
            <a:ext cx="42164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缺乏跨学科协作</a:t>
            </a:r>
            <a:endParaRPr lang="en-US" sz="1600" dirty="0"/>
          </a:p>
        </p:txBody>
      </p:sp>
      <p:sp>
        <p:nvSpPr>
          <p:cNvPr id="17" name="Text 13"/>
          <p:cNvSpPr/>
          <p:nvPr/>
        </p:nvSpPr>
        <p:spPr>
          <a:xfrm>
            <a:off x="6807200" y="5486400"/>
            <a:ext cx="42037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未形成“普教+特教+康复”团队，训练与教学脱节。</a:t>
            </a:r>
            <a:endParaRPr lang="en-US" sz="1600" dirty="0"/>
          </a:p>
        </p:txBody>
      </p:sp>
      <p:sp>
        <p:nvSpPr>
          <p:cNvPr id="18" name="文本框 17"/>
          <p:cNvSpPr txBox="1"/>
          <p:nvPr/>
        </p:nvSpPr>
        <p:spPr>
          <a:xfrm>
            <a:off x="1322070" y="1879600"/>
            <a:ext cx="3472815" cy="1445260"/>
          </a:xfrm>
          <a:prstGeom prst="rect">
            <a:avLst/>
          </a:prstGeom>
          <a:noFill/>
        </p:spPr>
        <p:txBody>
          <a:bodyPr wrap="square" rtlCol="0">
            <a:spAutoFit/>
            <a:scene3d>
              <a:camera prst="orthographicFront"/>
              <a:lightRig rig="threePt" dir="t"/>
            </a:scene3d>
          </a:bodyPr>
          <a:p>
            <a:r>
              <a:rPr lang="zh-CN" altLang="en-US" sz="4400">
                <a:ln w="12700">
                  <a:solidFill>
                    <a:schemeClr val="accent5"/>
                  </a:solidFill>
                  <a:prstDash val="solid"/>
                </a:ln>
                <a:pattFill prst="ltDnDiag">
                  <a:fgClr>
                    <a:schemeClr val="accent5">
                      <a:lumMod val="60000"/>
                      <a:lumOff val="40000"/>
                    </a:schemeClr>
                  </a:fgClr>
                  <a:bgClr>
                    <a:schemeClr val="bg1"/>
                  </a:bgClr>
                </a:pattFill>
                <a:effectLst/>
              </a:rPr>
              <a:t>具体如下：</a:t>
            </a:r>
            <a:endParaRPr lang="zh-CN" altLang="en-US" sz="4400">
              <a:ln w="12700">
                <a:solidFill>
                  <a:schemeClr val="accent5"/>
                </a:solidFill>
                <a:prstDash val="solid"/>
              </a:ln>
              <a:pattFill prst="ltDnDiag">
                <a:fgClr>
                  <a:schemeClr val="accent5">
                    <a:lumMod val="60000"/>
                    <a:lumOff val="40000"/>
                  </a:schemeClr>
                </a:fgClr>
                <a:bgClr>
                  <a:schemeClr val="bg1"/>
                </a:bgClr>
              </a:pattFill>
              <a:effectLst/>
            </a:endParaRPr>
          </a:p>
          <a:p>
            <a:endParaRPr lang="zh-CN" altLang="en-US" sz="4400">
              <a:ln w="12700">
                <a:solidFill>
                  <a:schemeClr val="accent5"/>
                </a:solidFill>
                <a:prstDash val="solid"/>
              </a:ln>
              <a:pattFill prst="ltDnDiag">
                <a:fgClr>
                  <a:schemeClr val="accent5">
                    <a:lumMod val="60000"/>
                    <a:lumOff val="40000"/>
                  </a:schemeClr>
                </a:fgClr>
                <a:bgClr>
                  <a:schemeClr val="bg1"/>
                </a:bgClr>
              </a:pattFill>
              <a:effectLst/>
            </a:endParaRPr>
          </a:p>
        </p:txBody>
      </p:sp>
      <p:sp>
        <p:nvSpPr>
          <p:cNvPr id="19" name="下箭头 18"/>
          <p:cNvSpPr/>
          <p:nvPr/>
        </p:nvSpPr>
        <p:spPr>
          <a:xfrm>
            <a:off x="2553970" y="3149600"/>
            <a:ext cx="637540" cy="296418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17550" y="305435"/>
            <a:ext cx="11252835" cy="5939155"/>
          </a:xfrm>
          <a:prstGeom prst="rect">
            <a:avLst/>
          </a:prstGeom>
          <a:noFill/>
        </p:spPr>
        <p:txBody>
          <a:bodyPr wrap="square" rtlCol="0">
            <a:spAutoFit/>
          </a:bodyPr>
          <a:p>
            <a:r>
              <a:rPr lang="en-US" altLang="zh-CN" sz="2000"/>
              <a:t>The school has </a:t>
            </a:r>
            <a:r>
              <a:rPr lang="en-US" altLang="zh-CN" sz="2000">
                <a:solidFill>
                  <a:schemeClr val="accent6"/>
                </a:solidFill>
              </a:rPr>
              <a:t>not developed an IEP </a:t>
            </a:r>
            <a:r>
              <a:rPr lang="en-US" altLang="zh-CN" sz="2000"/>
              <a:t>for Xiaoxu as required by the "Regulations on Education for Persons with Disabilities". All current support is a temporary arrangement.</a:t>
            </a:r>
            <a:endParaRPr lang="en-US" altLang="zh-CN" sz="2000"/>
          </a:p>
          <a:p>
            <a:endParaRPr lang="en-US" altLang="zh-CN" sz="2000"/>
          </a:p>
          <a:p>
            <a:r>
              <a:rPr lang="en-US" altLang="zh-CN" sz="2000"/>
              <a:t>Fragmentation of academic support In the first grade, students relied on their mothers to accompany them throughout their studies. After their mothers left (in the second grade),</a:t>
            </a:r>
            <a:r>
              <a:rPr lang="en-US" altLang="zh-CN" sz="2000">
                <a:solidFill>
                  <a:schemeClr val="accent6"/>
                </a:solidFill>
              </a:rPr>
              <a:t> they only maintained their learning by the teacher's occasional hints</a:t>
            </a:r>
            <a:r>
              <a:rPr lang="en-US" altLang="zh-CN" sz="2000"/>
              <a:t>. In Chinese class, "when reading short passages, words were omitted and the teacher had to remind them word by word to correct them", and for math application problems, "the teacher had to read the questions three times to understand the meaning". However,</a:t>
            </a:r>
            <a:r>
              <a:rPr lang="en-US" altLang="zh-CN" sz="2000">
                <a:solidFill>
                  <a:schemeClr val="accent6"/>
                </a:solidFill>
              </a:rPr>
              <a:t> the teacher did not design a transitional plan of "gradually reducing prompts and fostering independent learning", which led to Xiaoxu's tendency to "avoid difficult problems"</a:t>
            </a:r>
            <a:r>
              <a:rPr lang="en-US" altLang="zh-CN" sz="2000"/>
              <a:t>. For instance, when asked "How to solve the problem of getting lost" in an intelligence test, he replied "I want to avoid it", and his ability to solve problems independently could not be improved.</a:t>
            </a:r>
            <a:endParaRPr lang="en-US" altLang="zh-CN" sz="2000"/>
          </a:p>
          <a:p>
            <a:endParaRPr lang="en-US" altLang="zh-CN" sz="2000"/>
          </a:p>
          <a:p>
            <a:endParaRPr lang="en-US" altLang="zh-CN" sz="2000"/>
          </a:p>
          <a:p>
            <a:endParaRPr lang="en-US" altLang="zh-CN" sz="2000"/>
          </a:p>
          <a:p>
            <a:endParaRPr lang="en-US" altLang="zh-CN" sz="2000"/>
          </a:p>
          <a:p>
            <a:r>
              <a:rPr lang="en-US" altLang="zh-CN" sz="2000"/>
              <a:t>Rehabilitation support is blank: The resource classroom is only used for "assessment" (such as conducting sensory integration tests and intelligence screenings), and has not been transformed into a compatible place to provide regular rehabilitation assistance.</a:t>
            </a:r>
            <a:endParaRPr lang="en-US" altLang="zh-CN"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31140" y="118745"/>
            <a:ext cx="11863705" cy="6546850"/>
          </a:xfrm>
          <a:prstGeom prst="rect">
            <a:avLst/>
          </a:prstGeom>
          <a:noFill/>
        </p:spPr>
        <p:txBody>
          <a:bodyPr wrap="square" rtlCol="0">
            <a:noAutofit/>
          </a:bodyPr>
          <a:p>
            <a:r>
              <a:rPr lang="en-US" altLang="zh-CN" sz="2400"/>
              <a:t>The collaboration between</a:t>
            </a:r>
            <a:r>
              <a:rPr lang="en-US" altLang="zh-CN" sz="2400">
                <a:solidFill>
                  <a:schemeClr val="accent6"/>
                </a:solidFill>
              </a:rPr>
              <a:t> schools and families</a:t>
            </a:r>
            <a:r>
              <a:rPr lang="en-US" altLang="zh-CN" sz="2400"/>
              <a:t> merely remains at the level of "</a:t>
            </a:r>
            <a:r>
              <a:rPr lang="en-US" altLang="zh-CN" sz="2400">
                <a:solidFill>
                  <a:schemeClr val="accent6"/>
                </a:solidFill>
              </a:rPr>
              <a:t>information dissemination</a:t>
            </a:r>
            <a:r>
              <a:rPr lang="en-US" altLang="zh-CN" sz="2400"/>
              <a:t>",</a:t>
            </a:r>
            <a:r>
              <a:rPr lang="en-US" altLang="zh-CN" sz="2400">
                <a:solidFill>
                  <a:schemeClr val="accent6"/>
                </a:solidFill>
              </a:rPr>
              <a:t> failing </a:t>
            </a:r>
            <a:r>
              <a:rPr lang="en-US" altLang="zh-CN" sz="2400"/>
              <a:t>to transform family resources into training advantages.</a:t>
            </a:r>
            <a:endParaRPr lang="en-US" altLang="zh-CN" sz="2400"/>
          </a:p>
          <a:p>
            <a:endParaRPr lang="en-US" altLang="zh-CN" sz="2400"/>
          </a:p>
          <a:p>
            <a:r>
              <a:rPr lang="en-US" altLang="zh-CN" sz="2400"/>
              <a:t>Unguided family extended rehabilitation training: The case mentioned that "parents take Xiaoxu to the park and supermarket every weekend", but the</a:t>
            </a:r>
            <a:r>
              <a:rPr lang="en-US" altLang="zh-CN" sz="2400">
                <a:solidFill>
                  <a:schemeClr val="accent6"/>
                </a:solidFill>
              </a:rPr>
              <a:t> school did not provide a "family rehabilitation task list</a:t>
            </a:r>
            <a:r>
              <a:rPr lang="en-US" altLang="zh-CN" sz="2400"/>
              <a:t>", such as "touching different materials of goods in the supermarket (to relieve tactile defense)" and "practicing standing on one foot in the park (to enhance proprioception)", which led to the family's outdoor activities being merely "leisure and entertainment" and not realizing their rehabilitation value.</a:t>
            </a:r>
            <a:endParaRPr lang="en-US" altLang="zh-CN" sz="2400"/>
          </a:p>
          <a:p>
            <a:endParaRPr lang="en-US" altLang="zh-CN" sz="2400"/>
          </a:p>
          <a:p>
            <a:r>
              <a:rPr lang="en-US" altLang="zh-CN" sz="2400">
                <a:solidFill>
                  <a:schemeClr val="accent6"/>
                </a:solidFill>
              </a:rPr>
              <a:t>No intervention in excessive family protection and upbringing</a:t>
            </a:r>
            <a:r>
              <a:rPr lang="en-US" altLang="zh-CN" sz="2400"/>
              <a:t>: The mother "took care of washing the face, taking a bath and doing the dishes", and Xiaoxu "lost all the ability to wash in self-care". The school did not communicate with the parents about the "</a:t>
            </a:r>
            <a:r>
              <a:rPr lang="en-US" altLang="zh-CN" sz="2400">
                <a:solidFill>
                  <a:schemeClr val="accent6"/>
                </a:solidFill>
              </a:rPr>
              <a:t>task decomposition training method</a:t>
            </a:r>
            <a:r>
              <a:rPr lang="en-US" altLang="zh-CN" sz="2400"/>
              <a:t>" (such as breaking down </a:t>
            </a:r>
            <a:r>
              <a:rPr lang="en-US" altLang="zh-CN" sz="2400">
                <a:solidFill>
                  <a:schemeClr val="accent6"/>
                </a:solidFill>
              </a:rPr>
              <a:t>bathing</a:t>
            </a:r>
            <a:r>
              <a:rPr lang="en-US" altLang="zh-CN" sz="2400"/>
              <a:t> into "</a:t>
            </a:r>
            <a:r>
              <a:rPr lang="en-US" altLang="zh-CN" sz="2400">
                <a:solidFill>
                  <a:schemeClr val="accent6"/>
                </a:solidFill>
              </a:rPr>
              <a:t>undressing </a:t>
            </a:r>
            <a:r>
              <a:rPr lang="en-US" altLang="en-US" sz="2400">
                <a:solidFill>
                  <a:schemeClr val="accent6"/>
                </a:solidFill>
              </a:rPr>
              <a:t>→</a:t>
            </a:r>
            <a:r>
              <a:rPr lang="en-US" altLang="zh-CN" sz="2400">
                <a:solidFill>
                  <a:schemeClr val="accent6"/>
                </a:solidFill>
              </a:rPr>
              <a:t> adjusting the water temperature </a:t>
            </a:r>
            <a:r>
              <a:rPr lang="en-US" altLang="en-US" sz="2400">
                <a:solidFill>
                  <a:schemeClr val="accent6"/>
                </a:solidFill>
              </a:rPr>
              <a:t>→</a:t>
            </a:r>
            <a:r>
              <a:rPr lang="en-US" altLang="zh-CN" sz="2400">
                <a:solidFill>
                  <a:schemeClr val="accent6"/>
                </a:solidFill>
              </a:rPr>
              <a:t> scrubbing </a:t>
            </a:r>
            <a:r>
              <a:rPr lang="en-US" altLang="en-US" sz="2400">
                <a:solidFill>
                  <a:schemeClr val="accent6"/>
                </a:solidFill>
              </a:rPr>
              <a:t>→</a:t>
            </a:r>
            <a:r>
              <a:rPr lang="en-US" altLang="zh-CN" sz="2400">
                <a:solidFill>
                  <a:schemeClr val="accent6"/>
                </a:solidFill>
              </a:rPr>
              <a:t> rinsing </a:t>
            </a:r>
            <a:r>
              <a:rPr lang="en-US" altLang="en-US" sz="2400">
                <a:solidFill>
                  <a:schemeClr val="accent6"/>
                </a:solidFill>
              </a:rPr>
              <a:t>→</a:t>
            </a:r>
            <a:r>
              <a:rPr lang="en-US" altLang="zh-CN" sz="2400">
                <a:solidFill>
                  <a:schemeClr val="accent6"/>
                </a:solidFill>
              </a:rPr>
              <a:t> getting dressed</a:t>
            </a:r>
            <a:r>
              <a:rPr lang="en-US" altLang="zh-CN" sz="2400"/>
              <a:t>"), but instead tacitly accepted the "mother-assisted" mode, reinforcing Xiaoxu's dependence. The educational goal of making them "wash their faces independently" has long been unachievable.</a:t>
            </a:r>
            <a:endParaRPr lang="en-US" altLang="zh-CN"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36270" y="259080"/>
            <a:ext cx="11381740" cy="6320790"/>
          </a:xfrm>
          <a:prstGeom prst="rect">
            <a:avLst/>
          </a:prstGeom>
          <a:noFill/>
        </p:spPr>
        <p:txBody>
          <a:bodyPr wrap="square" rtlCol="0">
            <a:noAutofit/>
          </a:bodyPr>
          <a:p>
            <a:r>
              <a:rPr lang="en-US" altLang="zh-CN" sz="2400">
                <a:solidFill>
                  <a:schemeClr val="accent6"/>
                </a:solidFill>
              </a:rPr>
              <a:t>Lack of appropriate teaching skills</a:t>
            </a:r>
            <a:r>
              <a:rPr lang="en-US" altLang="zh-CN" sz="2400"/>
              <a:t>: Teachers have</a:t>
            </a:r>
            <a:r>
              <a:rPr lang="en-US" altLang="zh-CN" sz="2400">
                <a:solidFill>
                  <a:schemeClr val="accent6"/>
                </a:solidFill>
              </a:rPr>
              <a:t> not mastered </a:t>
            </a:r>
            <a:r>
              <a:rPr lang="en-US" altLang="zh-CN" sz="2400"/>
              <a:t>the teaching methods for dual disabilities and still adopt the ordinary teaching mode of "uniform progress and uniform requirements". In Chinese language teaching, "It</a:t>
            </a:r>
            <a:r>
              <a:rPr lang="en-US" altLang="zh-CN" sz="2400">
                <a:solidFill>
                  <a:schemeClr val="accent6"/>
                </a:solidFill>
              </a:rPr>
              <a:t> only took two weeks</a:t>
            </a:r>
            <a:r>
              <a:rPr lang="en-US" altLang="zh-CN" sz="2400"/>
              <a:t> to </a:t>
            </a:r>
            <a:r>
              <a:rPr lang="en-US" altLang="zh-CN" sz="2400">
                <a:solidFill>
                  <a:schemeClr val="accent6"/>
                </a:solidFill>
              </a:rPr>
              <a:t>complete</a:t>
            </a:r>
            <a:r>
              <a:rPr lang="en-US" altLang="zh-CN" sz="2400"/>
              <a:t> the overall recognition of </a:t>
            </a:r>
            <a:r>
              <a:rPr lang="en-US" altLang="zh-CN" sz="2400">
                <a:solidFill>
                  <a:srgbClr val="FF0000"/>
                </a:solidFill>
              </a:rPr>
              <a:t>syllables</a:t>
            </a:r>
            <a:r>
              <a:rPr lang="en-US" altLang="zh-CN" sz="2400"/>
              <a:t> in pinyin teaching". Due to the weak working memory of Xiaoxu with ADHD, "he didn't recognize 6 out of 16 overall recognition syllables (such as'</a:t>
            </a:r>
            <a:r>
              <a:rPr lang="en-US" altLang="zh-CN" sz="2400">
                <a:solidFill>
                  <a:srgbClr val="FF0000"/>
                </a:solidFill>
              </a:rPr>
              <a:t> zhi 'and' chi '</a:t>
            </a:r>
            <a:r>
              <a:rPr lang="en-US" altLang="zh-CN" sz="2400"/>
              <a:t>)". The teacher still strengthened it through </a:t>
            </a:r>
            <a:r>
              <a:rPr lang="en-US" altLang="zh-CN" sz="2400">
                <a:solidFill>
                  <a:schemeClr val="accent6"/>
                </a:solidFill>
              </a:rPr>
              <a:t>"repeated dictation" and did not adopt "multi-sensory teaching </a:t>
            </a:r>
            <a:r>
              <a:rPr lang="en-US" altLang="zh-CN" sz="2400"/>
              <a:t>(mouth shape movements + touching pinyin cards)". In mathematics teaching, "the recognition of a cylinder is only based on picture explanations". Due to</a:t>
            </a:r>
            <a:r>
              <a:rPr lang="en-US" altLang="zh-CN" sz="2400">
                <a:solidFill>
                  <a:schemeClr val="accent6"/>
                </a:solidFill>
              </a:rPr>
              <a:t> insufficient spatial perception</a:t>
            </a:r>
            <a:r>
              <a:rPr lang="en-US" altLang="zh-CN" sz="2400"/>
              <a:t> caused by </a:t>
            </a:r>
            <a:r>
              <a:rPr lang="en-US" altLang="zh-CN" sz="2400">
                <a:solidFill>
                  <a:schemeClr val="accent6"/>
                </a:solidFill>
              </a:rPr>
              <a:t>sensory integration dysfunction</a:t>
            </a:r>
            <a:r>
              <a:rPr lang="en-US" altLang="zh-CN" sz="2400"/>
              <a:t>, Xiaoxu "described the cylinder as a 'long circle'". The teacher did </a:t>
            </a:r>
            <a:r>
              <a:rPr lang="en-US" altLang="zh-CN" sz="2400">
                <a:solidFill>
                  <a:schemeClr val="accent6"/>
                </a:solidFill>
              </a:rPr>
              <a:t>not</a:t>
            </a:r>
            <a:r>
              <a:rPr lang="en-US" altLang="zh-CN" sz="2400"/>
              <a:t> provide a</a:t>
            </a:r>
            <a:r>
              <a:rPr lang="en-US" altLang="zh-CN" sz="2400">
                <a:solidFill>
                  <a:schemeClr val="accent6"/>
                </a:solidFill>
              </a:rPr>
              <a:t> three-dimensional model</a:t>
            </a:r>
            <a:r>
              <a:rPr lang="en-US" altLang="zh-CN" sz="2400"/>
              <a:t> to assist and</a:t>
            </a:r>
            <a:r>
              <a:rPr lang="en-US" altLang="zh-CN" sz="2400">
                <a:solidFill>
                  <a:schemeClr val="accent6"/>
                </a:solidFill>
              </a:rPr>
              <a:t> only repeatedly corrected</a:t>
            </a:r>
            <a:r>
              <a:rPr lang="en-US" altLang="zh-CN" sz="2400"/>
              <a:t> "this is a cylinder, not a long circle", which led to Xiaoxu's inability to understand all the time.</a:t>
            </a:r>
            <a:endParaRPr lang="en-US" altLang="zh-CN"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04775" y="64770"/>
            <a:ext cx="12086590" cy="6675120"/>
          </a:xfrm>
          <a:prstGeom prst="rect">
            <a:avLst/>
          </a:prstGeom>
          <a:noFill/>
        </p:spPr>
        <p:txBody>
          <a:bodyPr wrap="square" rtlCol="0">
            <a:noAutofit/>
          </a:bodyPr>
          <a:p>
            <a:r>
              <a:rPr lang="en-US" altLang="zh-CN" sz="2400"/>
              <a:t>The </a:t>
            </a:r>
            <a:r>
              <a:rPr lang="en-US" altLang="zh-CN" sz="2400">
                <a:solidFill>
                  <a:schemeClr val="accent6"/>
                </a:solidFill>
              </a:rPr>
              <a:t>resource classroom</a:t>
            </a:r>
            <a:r>
              <a:rPr lang="en-US" altLang="zh-CN" sz="2400"/>
              <a:t> was</a:t>
            </a:r>
            <a:r>
              <a:rPr lang="en-US" altLang="zh-CN" sz="2400">
                <a:solidFill>
                  <a:schemeClr val="accent6"/>
                </a:solidFill>
              </a:rPr>
              <a:t> not equipped with facilities</a:t>
            </a:r>
            <a:r>
              <a:rPr lang="en-US" altLang="zh-CN" sz="2400"/>
              <a:t> and planned for use in accordance with the "Guidelines for the Construction of Special Education Resource Classrooms", and thus </a:t>
            </a:r>
            <a:r>
              <a:rPr lang="en-US" altLang="zh-CN" sz="2400">
                <a:solidFill>
                  <a:schemeClr val="accent6"/>
                </a:solidFill>
              </a:rPr>
              <a:t>became an "assessment site</a:t>
            </a:r>
            <a:r>
              <a:rPr lang="en-US" altLang="zh-CN" sz="2400"/>
              <a:t>".</a:t>
            </a:r>
            <a:endParaRPr lang="en-US" altLang="zh-CN" sz="2400"/>
          </a:p>
          <a:p>
            <a:r>
              <a:rPr lang="en-US" altLang="zh-CN" sz="2400">
                <a:solidFill>
                  <a:schemeClr val="accent6"/>
                </a:solidFill>
              </a:rPr>
              <a:t>Lack of rehabilitation equipment</a:t>
            </a:r>
            <a:r>
              <a:rPr lang="en-US" altLang="zh-CN" sz="2400"/>
              <a:t>: There is no "vestibular balance training equipment (balance board, rotating disc)" or "proprioceptive training equipment (jump box, tactile pad)". Xiaoxu's problem of "difficulty in walking 3 meters with the heel and doing 10 consecutive backward jumps" makes it impossible to train on campus.</a:t>
            </a:r>
            <a:endParaRPr lang="en-US" altLang="zh-CN" sz="2400"/>
          </a:p>
          <a:p>
            <a:r>
              <a:rPr lang="en-US" altLang="zh-CN" sz="2400"/>
              <a:t>Insufficient academic support tools: Without "pinyin magnetic teaching AIDS, stroke decomposition cards, and math application problem illustration cards", Xiaoxu's academic shortcomings such as "writing in reverse stroke order (like 'out', 'fruit', 'inside')" and "not understanding application problem concepts like 'total'" cannot be assisted through the resource classroom and can only rely on his mother's after-school tutoring.</a:t>
            </a:r>
            <a:endParaRPr lang="en-US" altLang="zh-CN" sz="2400"/>
          </a:p>
          <a:p>
            <a:endParaRPr lang="en-US" altLang="zh-CN" sz="2400"/>
          </a:p>
          <a:p>
            <a:endParaRPr lang="en-US" altLang="zh-CN" sz="2400"/>
          </a:p>
          <a:p>
            <a:r>
              <a:rPr lang="en-US" altLang="zh-CN" sz="2400">
                <a:solidFill>
                  <a:schemeClr val="accent6"/>
                </a:solidFill>
              </a:rPr>
              <a:t>There is no full-time special education teacher</a:t>
            </a:r>
            <a:r>
              <a:rPr lang="en-US" altLang="zh-CN" sz="2400"/>
              <a:t>: The school does not have a full-time special education teacher, and thus </a:t>
            </a:r>
            <a:r>
              <a:rPr lang="en-US" altLang="zh-CN" sz="2400">
                <a:solidFill>
                  <a:schemeClr val="accent6"/>
                </a:solidFill>
              </a:rPr>
              <a:t>cannot provide personalized academic and behavioral support </a:t>
            </a:r>
            <a:r>
              <a:rPr lang="en-US" altLang="zh-CN" sz="2400"/>
              <a:t>for Xiaoxu. It only relies on the "spare time guidance" of ordinary teachers, and the frequency and professionalism of support are both insufficient.</a:t>
            </a:r>
            <a:endParaRPr lang="en-US" altLang="zh-CN"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Text 0"/>
          <p:cNvSpPr/>
          <p:nvPr/>
        </p:nvSpPr>
        <p:spPr>
          <a:xfrm>
            <a:off x="158750" y="1270000"/>
            <a:ext cx="11874500" cy="457200"/>
          </a:xfrm>
          <a:prstGeom prst="rect">
            <a:avLst/>
          </a:prstGeom>
          <a:noFill/>
        </p:spPr>
        <p:txBody>
          <a:bodyPr wrap="square" lIns="0" tIns="0" rIns="0" bIns="0" rtlCol="0" anchor="ctr"/>
          <a:lstStyle/>
          <a:p>
            <a:pPr algn="ctr">
              <a:lnSpc>
                <a:spcPct val="100000"/>
              </a:lnSpc>
            </a:pPr>
            <a:endParaRPr lang="en-US" sz="1600" dirty="0"/>
          </a:p>
        </p:txBody>
      </p:sp>
      <p:sp>
        <p:nvSpPr>
          <p:cNvPr id="4" name="Text 1"/>
          <p:cNvSpPr/>
          <p:nvPr/>
        </p:nvSpPr>
        <p:spPr>
          <a:xfrm>
            <a:off x="1381125" y="1513840"/>
            <a:ext cx="10005695" cy="962025"/>
          </a:xfrm>
          <a:prstGeom prst="rect">
            <a:avLst/>
          </a:prstGeom>
          <a:noFill/>
        </p:spPr>
        <p:txBody>
          <a:bodyPr wrap="square" lIns="0" tIns="0" rIns="0" bIns="0" rtlCol="0" anchor="ctr"/>
          <a:lstStyle/>
          <a:p>
            <a:pPr algn="l">
              <a:lnSpc>
                <a:spcPct val="130000"/>
              </a:lnSpc>
            </a:pPr>
            <a:r>
              <a:rPr lang="en-US" altLang="zh-CN" dirty="0"/>
              <a:t>The course and evaluation methods</a:t>
            </a:r>
            <a:r>
              <a:rPr lang="en-US" altLang="zh-CN" dirty="0">
                <a:solidFill>
                  <a:schemeClr val="accent6"/>
                </a:solidFill>
              </a:rPr>
              <a:t> failed to be adjusted in accordance </a:t>
            </a:r>
            <a:r>
              <a:rPr lang="en-US" altLang="zh-CN" dirty="0"/>
              <a:t>with Xiaoxu's cognitive characteristics, resulting in "difficult teaching - tiring learning - worse performance in exams", and a continuous decline in self-efficacy.</a:t>
            </a:r>
            <a:endParaRPr lang="en-US" altLang="zh-CN" dirty="0"/>
          </a:p>
        </p:txBody>
      </p:sp>
      <p:sp>
        <p:nvSpPr>
          <p:cNvPr id="5" name="Shape 2"/>
          <p:cNvSpPr/>
          <p:nvPr/>
        </p:nvSpPr>
        <p:spPr>
          <a:xfrm>
            <a:off x="2048986" y="2946400"/>
            <a:ext cx="3898900" cy="0"/>
          </a:xfrm>
          <a:prstGeom prst="line">
            <a:avLst/>
          </a:prstGeom>
          <a:noFill/>
          <a:ln w="50800">
            <a:solidFill>
              <a:srgbClr val="DC3545"/>
            </a:solidFill>
            <a:prstDash val="solid"/>
            <a:headEnd type="none"/>
            <a:tailEnd type="none"/>
          </a:ln>
        </p:spPr>
      </p:sp>
      <p:sp>
        <p:nvSpPr>
          <p:cNvPr id="6" name="Shape 3"/>
          <p:cNvSpPr/>
          <p:nvPr/>
        </p:nvSpPr>
        <p:spPr>
          <a:xfrm>
            <a:off x="3589814" y="32004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DC3545">
              <a:alpha val="20000"/>
            </a:srgbClr>
          </a:solidFill>
        </p:spPr>
      </p:sp>
      <p:sp>
        <p:nvSpPr>
          <p:cNvPr id="7" name="Shape 4"/>
          <p:cNvSpPr/>
          <p:nvPr/>
        </p:nvSpPr>
        <p:spPr>
          <a:xfrm>
            <a:off x="3808889" y="3416300"/>
            <a:ext cx="381000" cy="381000"/>
          </a:xfrm>
          <a:custGeom>
            <a:avLst/>
            <a:gdLst/>
            <a:ahLst/>
            <a:cxnLst/>
            <a:rect l="l" t="t" r="r" b="b"/>
            <a:pathLst>
              <a:path w="381000" h="381000">
                <a:moveTo>
                  <a:pt x="190500" y="105147"/>
                </a:moveTo>
                <a:lnTo>
                  <a:pt x="190500" y="335310"/>
                </a:lnTo>
                <a:lnTo>
                  <a:pt x="190872" y="335161"/>
                </a:lnTo>
                <a:cubicBezTo>
                  <a:pt x="231502" y="318269"/>
                  <a:pt x="275109" y="309563"/>
                  <a:pt x="319088" y="309563"/>
                </a:cubicBezTo>
                <a:lnTo>
                  <a:pt x="333375" y="309563"/>
                </a:lnTo>
                <a:lnTo>
                  <a:pt x="333375" y="71438"/>
                </a:lnTo>
                <a:lnTo>
                  <a:pt x="319088" y="71438"/>
                </a:lnTo>
                <a:cubicBezTo>
                  <a:pt x="287685" y="71438"/>
                  <a:pt x="256505" y="77688"/>
                  <a:pt x="227484" y="89743"/>
                </a:cubicBezTo>
                <a:cubicBezTo>
                  <a:pt x="214982" y="94952"/>
                  <a:pt x="202629" y="100087"/>
                  <a:pt x="190500" y="105147"/>
                </a:cubicBezTo>
                <a:close/>
                <a:moveTo>
                  <a:pt x="171822" y="45765"/>
                </a:moveTo>
                <a:lnTo>
                  <a:pt x="190500" y="53578"/>
                </a:lnTo>
                <a:lnTo>
                  <a:pt x="209178" y="45765"/>
                </a:lnTo>
                <a:cubicBezTo>
                  <a:pt x="244004" y="31254"/>
                  <a:pt x="281360" y="23812"/>
                  <a:pt x="319088" y="23812"/>
                </a:cubicBezTo>
                <a:lnTo>
                  <a:pt x="345281" y="23812"/>
                </a:lnTo>
                <a:cubicBezTo>
                  <a:pt x="365001" y="23812"/>
                  <a:pt x="381000" y="39812"/>
                  <a:pt x="381000" y="59531"/>
                </a:cubicBezTo>
                <a:lnTo>
                  <a:pt x="381000" y="321469"/>
                </a:lnTo>
                <a:cubicBezTo>
                  <a:pt x="381000" y="341188"/>
                  <a:pt x="365001" y="357188"/>
                  <a:pt x="345281" y="357188"/>
                </a:cubicBezTo>
                <a:lnTo>
                  <a:pt x="319088" y="357188"/>
                </a:lnTo>
                <a:cubicBezTo>
                  <a:pt x="281360" y="357188"/>
                  <a:pt x="244004" y="364629"/>
                  <a:pt x="209178" y="379140"/>
                </a:cubicBezTo>
                <a:lnTo>
                  <a:pt x="199653" y="383084"/>
                </a:lnTo>
                <a:cubicBezTo>
                  <a:pt x="193774" y="385539"/>
                  <a:pt x="187226" y="385539"/>
                  <a:pt x="181347" y="383084"/>
                </a:cubicBezTo>
                <a:lnTo>
                  <a:pt x="171822" y="379140"/>
                </a:lnTo>
                <a:cubicBezTo>
                  <a:pt x="136996" y="364629"/>
                  <a:pt x="99640" y="357188"/>
                  <a:pt x="61913" y="357188"/>
                </a:cubicBezTo>
                <a:lnTo>
                  <a:pt x="35719" y="357188"/>
                </a:lnTo>
                <a:cubicBezTo>
                  <a:pt x="15999" y="357188"/>
                  <a:pt x="0" y="341188"/>
                  <a:pt x="0" y="321469"/>
                </a:cubicBezTo>
                <a:lnTo>
                  <a:pt x="0" y="59531"/>
                </a:lnTo>
                <a:cubicBezTo>
                  <a:pt x="0" y="39812"/>
                  <a:pt x="15999" y="23812"/>
                  <a:pt x="35719" y="23812"/>
                </a:cubicBezTo>
                <a:lnTo>
                  <a:pt x="61913" y="23812"/>
                </a:lnTo>
                <a:cubicBezTo>
                  <a:pt x="99640" y="23812"/>
                  <a:pt x="136996" y="31254"/>
                  <a:pt x="171822" y="45765"/>
                </a:cubicBezTo>
                <a:close/>
              </a:path>
            </a:pathLst>
          </a:custGeom>
          <a:solidFill>
            <a:srgbClr val="DC3545"/>
          </a:solidFill>
        </p:spPr>
      </p:sp>
      <p:sp>
        <p:nvSpPr>
          <p:cNvPr id="8" name="Text 5"/>
          <p:cNvSpPr/>
          <p:nvPr/>
        </p:nvSpPr>
        <p:spPr>
          <a:xfrm>
            <a:off x="2195036" y="4165600"/>
            <a:ext cx="3606800" cy="355600"/>
          </a:xfrm>
          <a:prstGeom prst="rect">
            <a:avLst/>
          </a:prstGeom>
          <a:noFill/>
        </p:spPr>
        <p:txBody>
          <a:bodyPr wrap="square" lIns="0" tIns="0" rIns="0" bIns="0" rtlCol="0" anchor="ctr"/>
          <a:lstStyle/>
          <a:p>
            <a:pPr algn="ctr">
              <a:lnSpc>
                <a:spcPct val="130000"/>
              </a:lnSpc>
            </a:pPr>
            <a:r>
              <a:rPr lang="en-US" sz="18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课程适配性不足</a:t>
            </a:r>
            <a:endParaRPr lang="en-US" sz="1600" dirty="0"/>
          </a:p>
        </p:txBody>
      </p:sp>
      <p:sp>
        <p:nvSpPr>
          <p:cNvPr id="9" name="Text 6"/>
          <p:cNvSpPr/>
          <p:nvPr/>
        </p:nvSpPr>
        <p:spPr>
          <a:xfrm>
            <a:off x="2207736" y="4622800"/>
            <a:ext cx="3581400" cy="762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语文拼音、数学应用题仍按统一进度教学，未针对其视觉记忆薄弱、顺序概念混乱进行多感官、具象化设计。</a:t>
            </a:r>
            <a:endParaRPr lang="en-US" sz="1600" dirty="0"/>
          </a:p>
        </p:txBody>
      </p:sp>
      <p:sp>
        <p:nvSpPr>
          <p:cNvPr id="10" name="Shape 7"/>
          <p:cNvSpPr/>
          <p:nvPr/>
        </p:nvSpPr>
        <p:spPr>
          <a:xfrm>
            <a:off x="6248400" y="3073400"/>
            <a:ext cx="3898900" cy="0"/>
          </a:xfrm>
          <a:prstGeom prst="line">
            <a:avLst/>
          </a:prstGeom>
          <a:noFill/>
          <a:ln w="50800">
            <a:solidFill>
              <a:srgbClr val="DC3545"/>
            </a:solidFill>
            <a:prstDash val="solid"/>
            <a:headEnd type="none"/>
            <a:tailEnd type="none"/>
          </a:ln>
        </p:spPr>
      </p:sp>
      <p:sp>
        <p:nvSpPr>
          <p:cNvPr id="11" name="Shape 8"/>
          <p:cNvSpPr/>
          <p:nvPr/>
        </p:nvSpPr>
        <p:spPr>
          <a:xfrm>
            <a:off x="7789228" y="33274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DC3545">
              <a:alpha val="20000"/>
            </a:srgbClr>
          </a:solidFill>
        </p:spPr>
      </p:sp>
      <p:sp>
        <p:nvSpPr>
          <p:cNvPr id="12" name="Shape 9"/>
          <p:cNvSpPr/>
          <p:nvPr/>
        </p:nvSpPr>
        <p:spPr>
          <a:xfrm>
            <a:off x="8055928" y="3543300"/>
            <a:ext cx="285750" cy="381000"/>
          </a:xfrm>
          <a:custGeom>
            <a:avLst/>
            <a:gdLst/>
            <a:ahLst/>
            <a:cxnLst/>
            <a:rect l="l" t="t" r="r" b="b"/>
            <a:pathLst>
              <a:path w="285750" h="381000">
                <a:moveTo>
                  <a:pt x="231725" y="23812"/>
                </a:moveTo>
                <a:lnTo>
                  <a:pt x="238125" y="23812"/>
                </a:lnTo>
                <a:cubicBezTo>
                  <a:pt x="264393" y="23812"/>
                  <a:pt x="285750" y="45169"/>
                  <a:pt x="285750" y="71438"/>
                </a:cubicBezTo>
                <a:lnTo>
                  <a:pt x="285750" y="333375"/>
                </a:lnTo>
                <a:cubicBezTo>
                  <a:pt x="285750" y="359643"/>
                  <a:pt x="264393" y="381000"/>
                  <a:pt x="238125" y="381000"/>
                </a:cubicBezTo>
                <a:lnTo>
                  <a:pt x="47625" y="381000"/>
                </a:lnTo>
                <a:cubicBezTo>
                  <a:pt x="21357" y="381000"/>
                  <a:pt x="0" y="359643"/>
                  <a:pt x="0" y="333375"/>
                </a:cubicBezTo>
                <a:lnTo>
                  <a:pt x="0" y="71438"/>
                </a:lnTo>
                <a:cubicBezTo>
                  <a:pt x="0" y="45169"/>
                  <a:pt x="21357" y="23812"/>
                  <a:pt x="47625" y="23812"/>
                </a:cubicBezTo>
                <a:lnTo>
                  <a:pt x="54025" y="23812"/>
                </a:lnTo>
                <a:cubicBezTo>
                  <a:pt x="62210" y="9599"/>
                  <a:pt x="77614" y="0"/>
                  <a:pt x="95250" y="0"/>
                </a:cubicBezTo>
                <a:lnTo>
                  <a:pt x="190500" y="0"/>
                </a:lnTo>
                <a:cubicBezTo>
                  <a:pt x="208136" y="0"/>
                  <a:pt x="223540" y="9599"/>
                  <a:pt x="231725" y="23812"/>
                </a:cubicBezTo>
                <a:close/>
                <a:moveTo>
                  <a:pt x="184547" y="83344"/>
                </a:moveTo>
                <a:cubicBezTo>
                  <a:pt x="194444" y="83344"/>
                  <a:pt x="202406" y="75381"/>
                  <a:pt x="202406" y="65484"/>
                </a:cubicBezTo>
                <a:cubicBezTo>
                  <a:pt x="202406" y="55587"/>
                  <a:pt x="194444" y="47625"/>
                  <a:pt x="184547" y="47625"/>
                </a:cubicBezTo>
                <a:lnTo>
                  <a:pt x="101203" y="47625"/>
                </a:lnTo>
                <a:cubicBezTo>
                  <a:pt x="91306" y="47625"/>
                  <a:pt x="83344" y="55587"/>
                  <a:pt x="83344" y="65484"/>
                </a:cubicBezTo>
                <a:cubicBezTo>
                  <a:pt x="83344" y="75381"/>
                  <a:pt x="91306" y="83344"/>
                  <a:pt x="101203" y="83344"/>
                </a:cubicBezTo>
                <a:lnTo>
                  <a:pt x="184547" y="83344"/>
                </a:lnTo>
                <a:close/>
                <a:moveTo>
                  <a:pt x="205680" y="193997"/>
                </a:moveTo>
                <a:cubicBezTo>
                  <a:pt x="210889" y="185663"/>
                  <a:pt x="208359" y="174650"/>
                  <a:pt x="200025" y="169366"/>
                </a:cubicBezTo>
                <a:cubicBezTo>
                  <a:pt x="191691" y="164083"/>
                  <a:pt x="180677" y="166688"/>
                  <a:pt x="175394" y="175022"/>
                </a:cubicBezTo>
                <a:lnTo>
                  <a:pt x="129704" y="248171"/>
                </a:lnTo>
                <a:lnTo>
                  <a:pt x="109612" y="221382"/>
                </a:lnTo>
                <a:cubicBezTo>
                  <a:pt x="103659" y="213494"/>
                  <a:pt x="92497" y="211857"/>
                  <a:pt x="84609" y="217810"/>
                </a:cubicBezTo>
                <a:cubicBezTo>
                  <a:pt x="76721" y="223763"/>
                  <a:pt x="75084" y="234925"/>
                  <a:pt x="81037" y="242813"/>
                </a:cubicBezTo>
                <a:lnTo>
                  <a:pt x="116756" y="290438"/>
                </a:lnTo>
                <a:cubicBezTo>
                  <a:pt x="120253" y="295126"/>
                  <a:pt x="125909" y="297805"/>
                  <a:pt x="131787" y="297582"/>
                </a:cubicBezTo>
                <a:cubicBezTo>
                  <a:pt x="137666" y="297359"/>
                  <a:pt x="143024" y="294233"/>
                  <a:pt x="146149" y="289173"/>
                </a:cubicBezTo>
                <a:lnTo>
                  <a:pt x="205680" y="193923"/>
                </a:lnTo>
                <a:close/>
              </a:path>
            </a:pathLst>
          </a:custGeom>
          <a:solidFill>
            <a:srgbClr val="DC3545"/>
          </a:solidFill>
        </p:spPr>
      </p:sp>
      <p:sp>
        <p:nvSpPr>
          <p:cNvPr id="13" name="Text 10"/>
          <p:cNvSpPr/>
          <p:nvPr/>
        </p:nvSpPr>
        <p:spPr>
          <a:xfrm>
            <a:off x="6394450" y="4292600"/>
            <a:ext cx="3606800" cy="355600"/>
          </a:xfrm>
          <a:prstGeom prst="rect">
            <a:avLst/>
          </a:prstGeom>
          <a:noFill/>
        </p:spPr>
        <p:txBody>
          <a:bodyPr wrap="square" lIns="0" tIns="0" rIns="0" bIns="0" rtlCol="0" anchor="ctr"/>
          <a:lstStyle/>
          <a:p>
            <a:pPr algn="ctr">
              <a:lnSpc>
                <a:spcPct val="130000"/>
              </a:lnSpc>
            </a:pPr>
            <a:r>
              <a:rPr lang="en-US" sz="18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教学评价单一</a:t>
            </a:r>
            <a:endParaRPr lang="en-US" sz="1600" dirty="0"/>
          </a:p>
        </p:txBody>
      </p:sp>
      <p:sp>
        <p:nvSpPr>
          <p:cNvPr id="14" name="Text 11"/>
          <p:cNvSpPr/>
          <p:nvPr/>
        </p:nvSpPr>
        <p:spPr>
          <a:xfrm>
            <a:off x="6407150" y="4749800"/>
            <a:ext cx="3581400" cy="508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仍以纸笔测试为主，忽视过程性评价，其努力和微小进步无法被看见，影响学习动机。</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635"/>
            <a:ext cx="12192000" cy="6858635"/>
          </a:xfrm>
          <a:prstGeom prst="rect">
            <a:avLst/>
          </a:prstGeom>
        </p:spPr>
      </p:pic>
      <p:sp>
        <p:nvSpPr>
          <p:cNvPr id="3" name="Text 0"/>
          <p:cNvSpPr/>
          <p:nvPr/>
        </p:nvSpPr>
        <p:spPr>
          <a:xfrm>
            <a:off x="457200" y="605155"/>
            <a:ext cx="9966960" cy="914400"/>
          </a:xfrm>
          <a:prstGeom prst="rect">
            <a:avLst/>
          </a:prstGeom>
          <a:noFill/>
        </p:spPr>
        <p:txBody>
          <a:bodyPr wrap="square" lIns="0" tIns="0" rIns="0" bIns="0" rtlCol="0" anchor="ctr"/>
          <a:lstStyle/>
          <a:p>
            <a:pPr>
              <a:lnSpc>
                <a:spcPct val="100000"/>
              </a:lnSpc>
            </a:pPr>
            <a:r>
              <a:rPr lang="en-US" altLang="zh-CN" sz="2800" dirty="0">
                <a:ln/>
                <a:solidFill>
                  <a:schemeClr val="accent1"/>
                </a:solidFill>
                <a:effectLst>
                  <a:outerShdw blurRad="38100" dist="25400" dir="5400000" algn="ctr" rotWithShape="0">
                    <a:srgbClr val="6E747A">
                      <a:alpha val="43000"/>
                    </a:srgbClr>
                  </a:outerShdw>
                </a:effectLst>
              </a:rPr>
              <a:t>Peers and Society: Risks of misunderstanding, Exclusion and stigmatization</a:t>
            </a:r>
            <a:endParaRPr lang="en-US" altLang="zh-CN" sz="2800" dirty="0">
              <a:ln/>
              <a:solidFill>
                <a:schemeClr val="accent1"/>
              </a:solidFill>
              <a:effectLst>
                <a:outerShdw blurRad="38100" dist="25400" dir="5400000" algn="ctr" rotWithShape="0">
                  <a:srgbClr val="6E747A">
                    <a:alpha val="43000"/>
                  </a:srgbClr>
                </a:outerShdw>
              </a:effectLst>
            </a:endParaRPr>
          </a:p>
        </p:txBody>
      </p:sp>
      <p:sp>
        <p:nvSpPr>
          <p:cNvPr id="4" name="Text 1"/>
          <p:cNvSpPr/>
          <p:nvPr/>
        </p:nvSpPr>
        <p:spPr>
          <a:xfrm>
            <a:off x="254000" y="2209800"/>
            <a:ext cx="8315960" cy="609600"/>
          </a:xfrm>
          <a:prstGeom prst="rect">
            <a:avLst/>
          </a:prstGeom>
          <a:noFill/>
        </p:spPr>
        <p:txBody>
          <a:bodyPr wrap="square" lIns="0" tIns="0" rIns="0" bIns="0" rtlCol="0" anchor="ctr"/>
          <a:lstStyle/>
          <a:p>
            <a:pPr>
              <a:lnSpc>
                <a:spcPct val="130000"/>
              </a:lnSpc>
            </a:pPr>
            <a:r>
              <a:rPr 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文化认知与支持资源的双重缺失，进一步压缩了小煦的社交空间与家庭韧性。</a:t>
            </a:r>
            <a:endParaRPr 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30000"/>
              </a:lnSpc>
            </a:pPr>
            <a:r>
              <a:rPr lang="en-US" altLang="zh-CN" sz="1600" dirty="0"/>
              <a:t>The dual lack of cultural awareness and support resources has further compressed Xiaoxu's social space and family resilience.</a:t>
            </a:r>
            <a:endParaRPr lang="en-US" altLang="zh-CN" sz="1600" dirty="0"/>
          </a:p>
        </p:txBody>
      </p:sp>
      <p:sp>
        <p:nvSpPr>
          <p:cNvPr id="5" name="Shape 2"/>
          <p:cNvSpPr/>
          <p:nvPr>
            <p:custDataLst>
              <p:tags r:id="rId2"/>
            </p:custDataLst>
          </p:nvPr>
        </p:nvSpPr>
        <p:spPr>
          <a:xfrm>
            <a:off x="254000" y="3124200"/>
            <a:ext cx="5435600" cy="1219200"/>
          </a:xfrm>
          <a:custGeom>
            <a:avLst/>
            <a:gdLst/>
            <a:ahLst/>
            <a:cxnLst/>
            <a:rect l="l" t="t" r="r" b="b"/>
            <a:pathLst>
              <a:path w="5435600" h="1219200">
                <a:moveTo>
                  <a:pt x="101596" y="0"/>
                </a:moveTo>
                <a:lnTo>
                  <a:pt x="5334004" y="0"/>
                </a:lnTo>
                <a:cubicBezTo>
                  <a:pt x="5390114" y="0"/>
                  <a:pt x="5435600" y="45486"/>
                  <a:pt x="5435600" y="101596"/>
                </a:cubicBezTo>
                <a:lnTo>
                  <a:pt x="5435600" y="1117604"/>
                </a:lnTo>
                <a:cubicBezTo>
                  <a:pt x="5435600" y="1173714"/>
                  <a:pt x="5390114" y="1219200"/>
                  <a:pt x="5334004" y="1219200"/>
                </a:cubicBezTo>
                <a:lnTo>
                  <a:pt x="101596" y="1219200"/>
                </a:lnTo>
                <a:cubicBezTo>
                  <a:pt x="45486" y="1219200"/>
                  <a:pt x="0" y="1173714"/>
                  <a:pt x="0" y="1117604"/>
                </a:cubicBezTo>
                <a:lnTo>
                  <a:pt x="0" y="101596"/>
                </a:lnTo>
                <a:cubicBezTo>
                  <a:pt x="0" y="45486"/>
                  <a:pt x="45486" y="0"/>
                  <a:pt x="101596" y="0"/>
                </a:cubicBezTo>
                <a:close/>
              </a:path>
            </a:pathLst>
          </a:custGeom>
          <a:solidFill>
            <a:srgbClr val="007BFF">
              <a:alpha val="10196"/>
            </a:srgbClr>
          </a:solidFill>
        </p:spPr>
      </p:sp>
      <p:sp>
        <p:nvSpPr>
          <p:cNvPr id="6" name="Text 3"/>
          <p:cNvSpPr/>
          <p:nvPr>
            <p:custDataLst>
              <p:tags r:id="rId3"/>
            </p:custDataLst>
          </p:nvPr>
        </p:nvSpPr>
        <p:spPr>
          <a:xfrm>
            <a:off x="457200" y="3327400"/>
            <a:ext cx="5130800" cy="304800"/>
          </a:xfrm>
          <a:prstGeom prst="rect">
            <a:avLst/>
          </a:prstGeom>
          <a:noFill/>
        </p:spPr>
        <p:txBody>
          <a:bodyPr wrap="square" lIns="0" tIns="0" rIns="0" bIns="0" rtlCol="0" anchor="ctr"/>
          <a:lstStyle/>
          <a:p>
            <a:pPr>
              <a:lnSpc>
                <a:spcPct val="130000"/>
              </a:lnSpc>
            </a:pPr>
            <a:r>
              <a:rPr lang="en-US" sz="1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同伴支持不足</a:t>
            </a:r>
            <a:endParaRPr lang="en-US" sz="1600" dirty="0"/>
          </a:p>
        </p:txBody>
      </p:sp>
      <p:sp>
        <p:nvSpPr>
          <p:cNvPr id="7" name="Text 4"/>
          <p:cNvSpPr/>
          <p:nvPr>
            <p:custDataLst>
              <p:tags r:id="rId4"/>
            </p:custDataLst>
          </p:nvPr>
        </p:nvSpPr>
        <p:spPr>
          <a:xfrm>
            <a:off x="457200" y="3632200"/>
            <a:ext cx="5118100" cy="508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同学缺乏认知教育，易误解其特殊行为；无结构化社交支持，社交技能训练空白。</a:t>
            </a:r>
            <a:endParaRPr lang="en-US" sz="1600" dirty="0"/>
          </a:p>
        </p:txBody>
      </p:sp>
      <p:sp>
        <p:nvSpPr>
          <p:cNvPr id="8" name="Shape 5"/>
          <p:cNvSpPr/>
          <p:nvPr>
            <p:custDataLst>
              <p:tags r:id="rId5"/>
            </p:custDataLst>
          </p:nvPr>
        </p:nvSpPr>
        <p:spPr>
          <a:xfrm>
            <a:off x="254000" y="4546600"/>
            <a:ext cx="5435600" cy="1219200"/>
          </a:xfrm>
          <a:custGeom>
            <a:avLst/>
            <a:gdLst/>
            <a:ahLst/>
            <a:cxnLst/>
            <a:rect l="l" t="t" r="r" b="b"/>
            <a:pathLst>
              <a:path w="5435600" h="1219200">
                <a:moveTo>
                  <a:pt x="101596" y="0"/>
                </a:moveTo>
                <a:lnTo>
                  <a:pt x="5334004" y="0"/>
                </a:lnTo>
                <a:cubicBezTo>
                  <a:pt x="5390114" y="0"/>
                  <a:pt x="5435600" y="45486"/>
                  <a:pt x="5435600" y="101596"/>
                </a:cubicBezTo>
                <a:lnTo>
                  <a:pt x="5435600" y="1117604"/>
                </a:lnTo>
                <a:cubicBezTo>
                  <a:pt x="5435600" y="1173714"/>
                  <a:pt x="5390114" y="1219200"/>
                  <a:pt x="5334004" y="1219200"/>
                </a:cubicBezTo>
                <a:lnTo>
                  <a:pt x="101596" y="1219200"/>
                </a:lnTo>
                <a:cubicBezTo>
                  <a:pt x="45486" y="1219200"/>
                  <a:pt x="0" y="1173714"/>
                  <a:pt x="0" y="1117604"/>
                </a:cubicBezTo>
                <a:lnTo>
                  <a:pt x="0" y="101596"/>
                </a:lnTo>
                <a:cubicBezTo>
                  <a:pt x="0" y="45486"/>
                  <a:pt x="45486" y="0"/>
                  <a:pt x="101596" y="0"/>
                </a:cubicBezTo>
                <a:close/>
              </a:path>
            </a:pathLst>
          </a:custGeom>
          <a:solidFill>
            <a:srgbClr val="007BFF">
              <a:alpha val="10196"/>
            </a:srgbClr>
          </a:solidFill>
        </p:spPr>
      </p:sp>
      <p:sp>
        <p:nvSpPr>
          <p:cNvPr id="9" name="Text 6"/>
          <p:cNvSpPr/>
          <p:nvPr>
            <p:custDataLst>
              <p:tags r:id="rId6"/>
            </p:custDataLst>
          </p:nvPr>
        </p:nvSpPr>
        <p:spPr>
          <a:xfrm>
            <a:off x="457200" y="4749800"/>
            <a:ext cx="5130800" cy="304800"/>
          </a:xfrm>
          <a:prstGeom prst="rect">
            <a:avLst/>
          </a:prstGeom>
          <a:noFill/>
        </p:spPr>
        <p:txBody>
          <a:bodyPr wrap="square" lIns="0" tIns="0" rIns="0" bIns="0" rtlCol="0" anchor="ctr"/>
          <a:lstStyle/>
          <a:p>
            <a:pPr>
              <a:lnSpc>
                <a:spcPct val="130000"/>
              </a:lnSpc>
            </a:pPr>
            <a:r>
              <a:rPr lang="en-US" sz="1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社会文化困境</a:t>
            </a:r>
            <a:endParaRPr lang="en-US" sz="1600" dirty="0"/>
          </a:p>
        </p:txBody>
      </p:sp>
      <p:sp>
        <p:nvSpPr>
          <p:cNvPr id="10" name="Text 7"/>
          <p:cNvSpPr/>
          <p:nvPr>
            <p:custDataLst>
              <p:tags r:id="rId7"/>
            </p:custDataLst>
          </p:nvPr>
        </p:nvSpPr>
        <p:spPr>
          <a:xfrm>
            <a:off x="457200" y="5054600"/>
            <a:ext cx="5118100" cy="508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社会</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群体</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对ADHD认知存在污名化</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，认为是教养</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问题</a:t>
            </a:r>
            <a:endPar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p:txBody>
      </p:sp>
      <p:pic>
        <p:nvPicPr>
          <p:cNvPr id="11" name="Image 1" descr="https://kimi-web-img.moonshot.cn/img/www.thoughtco.com/0296f51b6bdf5511c06400c7604a4d1b199de4c3.jpg"/>
          <p:cNvPicPr>
            <a:picLocks noChangeAspect="1"/>
          </p:cNvPicPr>
          <p:nvPr/>
        </p:nvPicPr>
        <p:blipFill>
          <a:blip r:embed="rId8"/>
          <a:srcRect l="19326" r="19326"/>
          <a:stretch>
            <a:fillRect/>
          </a:stretch>
        </p:blipFill>
        <p:spPr>
          <a:xfrm>
            <a:off x="8601710" y="2668905"/>
            <a:ext cx="3061335" cy="3327400"/>
          </a:xfrm>
          <a:prstGeom prst="roundRect">
            <a:avLst>
              <a:gd name="adj" fmla="val 2609"/>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6:35:26-d3jn7jgs8jdo4os5dj50.jpg"/>
          <p:cNvPicPr>
            <a:picLocks noChangeAspect="1"/>
          </p:cNvPicPr>
          <p:nvPr/>
        </p:nvPicPr>
        <p:blipFill>
          <a:blip r:embed="rId2">
            <a:alphaModFix amt="56000"/>
          </a:blip>
          <a:stretch>
            <a:fillRect/>
          </a:stretch>
        </p:blipFill>
        <p:spPr>
          <a:xfrm>
            <a:off x="0" y="0"/>
            <a:ext cx="12191365" cy="6858000"/>
          </a:xfrm>
          <a:prstGeom prst="rect">
            <a:avLst/>
          </a:prstGeom>
        </p:spPr>
      </p:pic>
      <p:pic>
        <p:nvPicPr>
          <p:cNvPr id="3" name="Image 1" descr="https://kimi-img.moonshot.cn/pub/slides/slides_tmpl/image/25-10-09-16:35:24-d3jn7j0s8jdo4os5divg.jpg"/>
          <p:cNvPicPr>
            <a:picLocks noChangeAspect="1"/>
          </p:cNvPicPr>
          <p:nvPr/>
        </p:nvPicPr>
        <p:blipFill>
          <a:blip r:embed="rId3"/>
          <a:stretch>
            <a:fillRect/>
          </a:stretch>
        </p:blipFill>
        <p:spPr>
          <a:xfrm>
            <a:off x="2897505" y="3536315"/>
            <a:ext cx="6823710" cy="736600"/>
          </a:xfrm>
          <a:prstGeom prst="rect">
            <a:avLst/>
          </a:prstGeom>
        </p:spPr>
      </p:pic>
      <p:sp>
        <p:nvSpPr>
          <p:cNvPr id="5" name="Text 0"/>
          <p:cNvSpPr/>
          <p:nvPr/>
        </p:nvSpPr>
        <p:spPr>
          <a:xfrm>
            <a:off x="5499889" y="2317433"/>
            <a:ext cx="1618942" cy="1307465"/>
          </a:xfrm>
          <a:prstGeom prst="rect">
            <a:avLst/>
          </a:prstGeom>
          <a:noFill/>
        </p:spPr>
        <p:txBody>
          <a:bodyPr wrap="square" lIns="0" tIns="0" rIns="0" bIns="0" rtlCol="0" anchor="t">
            <a:spAutoFit/>
          </a:bodyPr>
          <a:lstStyle/>
          <a:p>
            <a:pPr algn="ctr">
              <a:lnSpc>
                <a:spcPct val="100000"/>
              </a:lnSpc>
            </a:pPr>
            <a:r>
              <a:rPr lang="en-US" sz="8500" dirty="0">
                <a:solidFill>
                  <a:srgbClr val="0439E1"/>
                </a:solidFill>
                <a:latin typeface="MiSans" pitchFamily="34" charset="0"/>
                <a:ea typeface="MiSans" pitchFamily="34" charset="-122"/>
                <a:cs typeface="MiSans" pitchFamily="34" charset="-120"/>
              </a:rPr>
              <a:t>03</a:t>
            </a:r>
            <a:endParaRPr lang="en-US" sz="1600" dirty="0"/>
          </a:p>
        </p:txBody>
      </p:sp>
      <p:sp>
        <p:nvSpPr>
          <p:cNvPr id="6" name="Text 1"/>
          <p:cNvSpPr/>
          <p:nvPr/>
        </p:nvSpPr>
        <p:spPr>
          <a:xfrm>
            <a:off x="3005773" y="3625215"/>
            <a:ext cx="6607175" cy="521970"/>
          </a:xfrm>
          <a:prstGeom prst="rect">
            <a:avLst/>
          </a:prstGeom>
          <a:noFill/>
        </p:spPr>
        <p:txBody>
          <a:bodyPr wrap="square" lIns="0" tIns="0" rIns="0" bIns="0" rtlCol="0" anchor="t"/>
          <a:lstStyle/>
          <a:p>
            <a:pPr algn="ctr">
              <a:lnSpc>
                <a:spcPct val="100000"/>
              </a:lnSpc>
            </a:pPr>
            <a:r>
              <a:rPr lang="en-US" sz="3400" dirty="0">
                <a:solidFill>
                  <a:srgbClr val="0D0D0D"/>
                </a:solidFill>
                <a:latin typeface="MiSans" pitchFamily="34" charset="0"/>
                <a:ea typeface="MiSans" pitchFamily="34" charset="-122"/>
                <a:cs typeface="MiSans" pitchFamily="34" charset="-120"/>
              </a:rPr>
              <a:t>立法与工具：底线与杠杆</a:t>
            </a:r>
            <a:endParaRPr lang="en-US" sz="3400" dirty="0">
              <a:solidFill>
                <a:srgbClr val="0D0D0D"/>
              </a:solidFill>
              <a:latin typeface="MiSans" pitchFamily="34" charset="0"/>
              <a:ea typeface="MiSans" pitchFamily="34" charset="-122"/>
              <a:cs typeface="MiSans" pitchFamily="34" charset="-120"/>
            </a:endParaRPr>
          </a:p>
          <a:p>
            <a:pPr algn="ctr">
              <a:lnSpc>
                <a:spcPct val="100000"/>
              </a:lnSpc>
            </a:pPr>
            <a:r>
              <a:rPr lang="en-US" altLang="zh-CN" sz="2400" dirty="0"/>
              <a:t>Legislation and Tools: Bottom Line and Leverage</a:t>
            </a:r>
            <a:endParaRPr lang="en-US" altLang="zh-CN" sz="2400" dirty="0"/>
          </a:p>
        </p:txBody>
      </p:sp>
      <p:sp>
        <p:nvSpPr>
          <p:cNvPr id="7" name="Shape 2"/>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8" name="Shape 3"/>
          <p:cNvSpPr/>
          <p:nvPr/>
        </p:nvSpPr>
        <p:spPr>
          <a:xfrm>
            <a:off x="11459749" y="6039741"/>
            <a:ext cx="209306" cy="42231"/>
          </a:xfrm>
          <a:prstGeom prst="rect">
            <a:avLst/>
          </a:prstGeom>
          <a:solidFill>
            <a:srgbClr val="000000"/>
          </a:solidFill>
          <a:ln w="19050">
            <a:solidFill>
              <a:srgbClr val="000000"/>
            </a:solidFill>
            <a:prstDash val="solid"/>
          </a:ln>
        </p:spPr>
      </p:sp>
      <p:sp>
        <p:nvSpPr>
          <p:cNvPr id="9" name="Text 4"/>
          <p:cNvSpPr/>
          <p:nvPr/>
        </p:nvSpPr>
        <p:spPr>
          <a:xfrm>
            <a:off x="11459749" y="603974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5"/>
          <p:cNvSpPr/>
          <p:nvPr/>
        </p:nvSpPr>
        <p:spPr>
          <a:xfrm>
            <a:off x="11459749" y="6136715"/>
            <a:ext cx="209306" cy="42231"/>
          </a:xfrm>
          <a:prstGeom prst="rect">
            <a:avLst/>
          </a:prstGeom>
          <a:solidFill>
            <a:srgbClr val="000000"/>
          </a:solidFill>
          <a:ln w="19050">
            <a:solidFill>
              <a:srgbClr val="000000"/>
            </a:solidFill>
            <a:prstDash val="solid"/>
          </a:ln>
        </p:spPr>
      </p:sp>
      <p:sp>
        <p:nvSpPr>
          <p:cNvPr id="11" name="Text 6"/>
          <p:cNvSpPr/>
          <p:nvPr/>
        </p:nvSpPr>
        <p:spPr>
          <a:xfrm>
            <a:off x="11459749" y="613671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7"/>
          <p:cNvSpPr/>
          <p:nvPr/>
        </p:nvSpPr>
        <p:spPr>
          <a:xfrm>
            <a:off x="11459749" y="6233689"/>
            <a:ext cx="209306" cy="42231"/>
          </a:xfrm>
          <a:prstGeom prst="rect">
            <a:avLst/>
          </a:prstGeom>
          <a:solidFill>
            <a:srgbClr val="000000"/>
          </a:solidFill>
          <a:ln w="19050">
            <a:solidFill>
              <a:srgbClr val="000000"/>
            </a:solidFill>
            <a:prstDash val="solid"/>
          </a:ln>
        </p:spPr>
      </p:sp>
      <p:sp>
        <p:nvSpPr>
          <p:cNvPr id="13" name="Text 8"/>
          <p:cNvSpPr/>
          <p:nvPr/>
        </p:nvSpPr>
        <p:spPr>
          <a:xfrm>
            <a:off x="11459749" y="6233689"/>
            <a:ext cx="209306" cy="42231"/>
          </a:xfrm>
          <a:prstGeom prst="rect">
            <a:avLst/>
          </a:prstGeom>
          <a:noFill/>
        </p:spPr>
        <p:txBody>
          <a:bodyPr wrap="square" lIns="45720" tIns="91440" rIns="91440" bIns="45720" rtlCol="0" anchor="ctr"/>
          <a:lstStyle/>
          <a:p>
            <a:pPr>
              <a:lnSpc>
                <a:spcPct val="100000"/>
              </a:lnSpc>
            </a:pPr>
            <a:endParaRPr lang="en-US" sz="1600" dirty="0"/>
          </a:p>
        </p:txBody>
      </p:sp>
      <p:pic>
        <p:nvPicPr>
          <p:cNvPr id="14" name="Image 3" descr="https://kimi-img.moonshot.cn/pub/slides/slides_tmpl/image/25-10-09-16:35:24-d3jn7j0s8jdo4os5div0.png"/>
          <p:cNvPicPr>
            <a:picLocks noChangeAspect="1"/>
          </p:cNvPicPr>
          <p:nvPr/>
        </p:nvPicPr>
        <p:blipFill>
          <a:blip r:embed="rId4">
            <a:alphaModFix amt="40000"/>
          </a:blip>
          <a:stretch>
            <a:fillRect/>
          </a:stretch>
        </p:blipFill>
        <p:spPr>
          <a:xfrm flipV="1">
            <a:off x="851535" y="630555"/>
            <a:ext cx="762000" cy="76200"/>
          </a:xfrm>
          <a:prstGeom prst="rect">
            <a:avLst/>
          </a:prstGeom>
        </p:spPr>
      </p:pic>
      <p:pic>
        <p:nvPicPr>
          <p:cNvPr id="15" name="Image 4" descr="https://kimi-img.moonshot.cn/pub/slides/slides_tmpl/image/25-10-09-16:35:24-d3jn7j0s8jdo4os5div0.png"/>
          <p:cNvPicPr>
            <a:picLocks noChangeAspect="1"/>
          </p:cNvPicPr>
          <p:nvPr/>
        </p:nvPicPr>
        <p:blipFill>
          <a:blip r:embed="rId4">
            <a:alphaModFix amt="40000"/>
          </a:blip>
          <a:stretch>
            <a:fillRect/>
          </a:stretch>
        </p:blipFill>
        <p:spPr>
          <a:xfrm flipV="1">
            <a:off x="851535" y="761365"/>
            <a:ext cx="762000" cy="76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Shape 0"/>
          <p:cNvSpPr/>
          <p:nvPr/>
        </p:nvSpPr>
        <p:spPr>
          <a:xfrm>
            <a:off x="5753100" y="1244600"/>
            <a:ext cx="685800" cy="609600"/>
          </a:xfrm>
          <a:custGeom>
            <a:avLst/>
            <a:gdLst/>
            <a:ahLst/>
            <a:cxnLst/>
            <a:rect l="l" t="t" r="r" b="b"/>
            <a:pathLst>
              <a:path w="685800" h="609600">
                <a:moveTo>
                  <a:pt x="201930" y="182642"/>
                </a:moveTo>
                <a:lnTo>
                  <a:pt x="179665" y="160377"/>
                </a:lnTo>
                <a:cubicBezTo>
                  <a:pt x="164783" y="145494"/>
                  <a:pt x="164783" y="121325"/>
                  <a:pt x="179665" y="106442"/>
                </a:cubicBezTo>
                <a:lnTo>
                  <a:pt x="316230" y="-30242"/>
                </a:lnTo>
                <a:cubicBezTo>
                  <a:pt x="331113" y="-45125"/>
                  <a:pt x="355283" y="-45125"/>
                  <a:pt x="370165" y="-30242"/>
                </a:cubicBezTo>
                <a:lnTo>
                  <a:pt x="392430" y="-7858"/>
                </a:lnTo>
                <a:cubicBezTo>
                  <a:pt x="407313" y="7025"/>
                  <a:pt x="407313" y="31194"/>
                  <a:pt x="392430" y="46077"/>
                </a:cubicBezTo>
                <a:lnTo>
                  <a:pt x="255865" y="182642"/>
                </a:lnTo>
                <a:cubicBezTo>
                  <a:pt x="240983" y="197525"/>
                  <a:pt x="216813" y="197525"/>
                  <a:pt x="201930" y="182642"/>
                </a:cubicBezTo>
                <a:close/>
                <a:moveTo>
                  <a:pt x="328613" y="252055"/>
                </a:moveTo>
                <a:lnTo>
                  <a:pt x="291227" y="214670"/>
                </a:lnTo>
                <a:lnTo>
                  <a:pt x="424577" y="81320"/>
                </a:lnTo>
                <a:lnTo>
                  <a:pt x="566738" y="223480"/>
                </a:lnTo>
                <a:lnTo>
                  <a:pt x="433388" y="356830"/>
                </a:lnTo>
                <a:lnTo>
                  <a:pt x="396002" y="319445"/>
                </a:lnTo>
                <a:lnTo>
                  <a:pt x="119777" y="595670"/>
                </a:lnTo>
                <a:cubicBezTo>
                  <a:pt x="101203" y="614243"/>
                  <a:pt x="71080" y="614243"/>
                  <a:pt x="52388" y="595670"/>
                </a:cubicBezTo>
                <a:cubicBezTo>
                  <a:pt x="33695" y="577096"/>
                  <a:pt x="33814" y="546973"/>
                  <a:pt x="52388" y="528280"/>
                </a:cubicBezTo>
                <a:lnTo>
                  <a:pt x="328613" y="252055"/>
                </a:lnTo>
                <a:close/>
                <a:moveTo>
                  <a:pt x="465415" y="446008"/>
                </a:moveTo>
                <a:cubicBezTo>
                  <a:pt x="450533" y="431125"/>
                  <a:pt x="450533" y="406956"/>
                  <a:pt x="465415" y="392073"/>
                </a:cubicBezTo>
                <a:lnTo>
                  <a:pt x="601980" y="255508"/>
                </a:lnTo>
                <a:cubicBezTo>
                  <a:pt x="616863" y="240625"/>
                  <a:pt x="641033" y="240625"/>
                  <a:pt x="655915" y="255508"/>
                </a:cubicBezTo>
                <a:lnTo>
                  <a:pt x="678180" y="277773"/>
                </a:lnTo>
                <a:cubicBezTo>
                  <a:pt x="693063" y="292656"/>
                  <a:pt x="693063" y="316825"/>
                  <a:pt x="678180" y="331708"/>
                </a:cubicBezTo>
                <a:lnTo>
                  <a:pt x="541615" y="468392"/>
                </a:lnTo>
                <a:cubicBezTo>
                  <a:pt x="526732" y="483275"/>
                  <a:pt x="502563" y="483275"/>
                  <a:pt x="487680" y="468392"/>
                </a:cubicBezTo>
                <a:lnTo>
                  <a:pt x="465415" y="446127"/>
                </a:lnTo>
                <a:close/>
              </a:path>
            </a:pathLst>
          </a:custGeom>
          <a:solidFill>
            <a:srgbClr val="007BFF"/>
          </a:solidFill>
        </p:spPr>
      </p:sp>
      <p:sp>
        <p:nvSpPr>
          <p:cNvPr id="4" name="Text 1"/>
          <p:cNvSpPr/>
          <p:nvPr/>
        </p:nvSpPr>
        <p:spPr>
          <a:xfrm>
            <a:off x="1727200" y="2061210"/>
            <a:ext cx="9205595" cy="457200"/>
          </a:xfrm>
          <a:prstGeom prst="rect">
            <a:avLst/>
          </a:prstGeom>
          <a:noFill/>
        </p:spPr>
        <p:txBody>
          <a:bodyPr wrap="square" lIns="0" tIns="0" rIns="0" bIns="0" rtlCol="0" anchor="ctr"/>
          <a:lstStyle/>
          <a:p>
            <a:pPr>
              <a:lnSpc>
                <a:spcPct val="100000"/>
              </a:lnSpc>
            </a:pPr>
            <a:r>
              <a:rPr lang="en-US" altLang="zh-CN" sz="2000" dirty="0">
                <a:ln/>
                <a:solidFill>
                  <a:schemeClr val="accent1"/>
                </a:solidFill>
                <a:effectLst>
                  <a:outerShdw blurRad="38100" dist="25400" dir="5400000" algn="ctr" rotWithShape="0">
                    <a:srgbClr val="6E747A">
                      <a:alpha val="43000"/>
                    </a:srgbClr>
                  </a:outerShdw>
                </a:effectLst>
              </a:rPr>
              <a:t>Regulatory red line: In-school rehabilitation and IEP are mandatory requirements</a:t>
            </a:r>
            <a:endParaRPr lang="en-US" altLang="zh-CN" sz="2000" dirty="0">
              <a:ln/>
              <a:solidFill>
                <a:schemeClr val="accent1"/>
              </a:solidFill>
              <a:effectLst>
                <a:outerShdw blurRad="38100" dist="25400" dir="5400000" algn="ctr" rotWithShape="0">
                  <a:srgbClr val="6E747A">
                    <a:alpha val="43000"/>
                  </a:srgbClr>
                </a:outerShdw>
              </a:effectLst>
            </a:endParaRPr>
          </a:p>
        </p:txBody>
      </p:sp>
      <p:sp>
        <p:nvSpPr>
          <p:cNvPr id="5" name="Shape 2"/>
          <p:cNvSpPr/>
          <p:nvPr/>
        </p:nvSpPr>
        <p:spPr>
          <a:xfrm>
            <a:off x="1219200" y="2921000"/>
            <a:ext cx="9753600" cy="2794000"/>
          </a:xfrm>
          <a:custGeom>
            <a:avLst/>
            <a:gdLst/>
            <a:ahLst/>
            <a:cxnLst/>
            <a:rect l="l" t="t" r="r" b="b"/>
            <a:pathLst>
              <a:path w="9753600" h="2794000">
                <a:moveTo>
                  <a:pt x="101590" y="0"/>
                </a:moveTo>
                <a:lnTo>
                  <a:pt x="9652010" y="0"/>
                </a:lnTo>
                <a:cubicBezTo>
                  <a:pt x="9708117" y="0"/>
                  <a:pt x="9753600" y="45483"/>
                  <a:pt x="9753600" y="101590"/>
                </a:cubicBezTo>
                <a:lnTo>
                  <a:pt x="9753600" y="2692410"/>
                </a:lnTo>
                <a:cubicBezTo>
                  <a:pt x="9753600" y="2748517"/>
                  <a:pt x="9708117" y="2794000"/>
                  <a:pt x="9652010" y="2794000"/>
                </a:cubicBezTo>
                <a:lnTo>
                  <a:pt x="101590" y="2794000"/>
                </a:lnTo>
                <a:cubicBezTo>
                  <a:pt x="45483" y="2794000"/>
                  <a:pt x="0" y="2748517"/>
                  <a:pt x="0" y="2692410"/>
                </a:cubicBezTo>
                <a:lnTo>
                  <a:pt x="0" y="101590"/>
                </a:lnTo>
                <a:cubicBezTo>
                  <a:pt x="0" y="45521"/>
                  <a:pt x="45521" y="0"/>
                  <a:pt x="101590" y="0"/>
                </a:cubicBezTo>
                <a:close/>
              </a:path>
            </a:pathLst>
          </a:custGeom>
          <a:solidFill>
            <a:srgbClr val="007BFF">
              <a:alpha val="10196"/>
            </a:srgbClr>
          </a:solidFill>
          <a:effectLst>
            <a:outerShdw blurRad="190500" dist="127000" dir="5400000" algn="bl" rotWithShape="0">
              <a:srgbClr val="000000">
                <a:alpha val="10196"/>
              </a:srgbClr>
            </a:outerShdw>
          </a:effectLst>
        </p:spPr>
      </p:sp>
      <p:sp>
        <p:nvSpPr>
          <p:cNvPr id="6" name="Text 3"/>
          <p:cNvSpPr/>
          <p:nvPr/>
        </p:nvSpPr>
        <p:spPr>
          <a:xfrm>
            <a:off x="1422400" y="2973705"/>
            <a:ext cx="9245600" cy="304800"/>
          </a:xfrm>
          <a:prstGeom prst="rect">
            <a:avLst/>
          </a:prstGeom>
          <a:noFill/>
        </p:spPr>
        <p:txBody>
          <a:bodyPr wrap="square" lIns="0" tIns="0" rIns="0" bIns="0" rtlCol="0" anchor="ctr"/>
          <a:lstStyle/>
          <a:p>
            <a:pPr algn="ctr">
              <a:lnSpc>
                <a:spcPct val="130000"/>
              </a:lnSpc>
            </a:pPr>
            <a:r>
              <a:rPr 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《残疾人保障法》、《义务教育法》及《残疾人教育条例》明确规定：</a:t>
            </a:r>
            <a:endParaRPr 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gn="l">
              <a:lnSpc>
                <a:spcPct val="130000"/>
              </a:lnSpc>
            </a:pPr>
            <a:r>
              <a:rPr lang="en-US" altLang="zh-CN" sz="1600" dirty="0"/>
              <a:t>The Law on the Protection of Persons with Disabilities, the Compulsory Education Law and the Regulations on Education for Persons with Disabilities clearly stipulate:</a:t>
            </a:r>
            <a:endParaRPr lang="en-US" altLang="zh-CN" sz="1600" dirty="0"/>
          </a:p>
        </p:txBody>
      </p:sp>
      <p:sp>
        <p:nvSpPr>
          <p:cNvPr id="7" name="Shape 4"/>
          <p:cNvSpPr/>
          <p:nvPr/>
        </p:nvSpPr>
        <p:spPr>
          <a:xfrm>
            <a:off x="1524000" y="3733800"/>
            <a:ext cx="4470400" cy="1168400"/>
          </a:xfrm>
          <a:custGeom>
            <a:avLst/>
            <a:gdLst/>
            <a:ahLst/>
            <a:cxnLst/>
            <a:rect l="l" t="t" r="r" b="b"/>
            <a:pathLst>
              <a:path w="4470400" h="1168400">
                <a:moveTo>
                  <a:pt x="76203" y="0"/>
                </a:moveTo>
                <a:lnTo>
                  <a:pt x="4394197" y="0"/>
                </a:lnTo>
                <a:cubicBezTo>
                  <a:pt x="4436283" y="0"/>
                  <a:pt x="4470400" y="34117"/>
                  <a:pt x="4470400" y="76203"/>
                </a:cubicBezTo>
                <a:lnTo>
                  <a:pt x="4470400" y="1092197"/>
                </a:lnTo>
                <a:cubicBezTo>
                  <a:pt x="4470400" y="1134283"/>
                  <a:pt x="4436283" y="1168400"/>
                  <a:pt x="4394197" y="1168400"/>
                </a:cubicBezTo>
                <a:lnTo>
                  <a:pt x="76203" y="1168400"/>
                </a:lnTo>
                <a:cubicBezTo>
                  <a:pt x="34117" y="1168400"/>
                  <a:pt x="0" y="1134283"/>
                  <a:pt x="0" y="1092197"/>
                </a:cubicBezTo>
                <a:lnTo>
                  <a:pt x="0" y="76203"/>
                </a:lnTo>
                <a:cubicBezTo>
                  <a:pt x="0" y="34145"/>
                  <a:pt x="34145" y="0"/>
                  <a:pt x="76203" y="0"/>
                </a:cubicBezTo>
                <a:close/>
              </a:path>
            </a:pathLst>
          </a:custGeom>
          <a:solidFill>
            <a:srgbClr val="FFFFFF"/>
          </a:solidFill>
          <a:effectLst>
            <a:outerShdw blurRad="38100" dist="12700" dir="5400000" algn="bl" rotWithShape="0">
              <a:srgbClr val="000000">
                <a:alpha val="10196"/>
              </a:srgbClr>
            </a:outerShdw>
          </a:effectLst>
        </p:spPr>
      </p:sp>
      <p:sp>
        <p:nvSpPr>
          <p:cNvPr id="8" name="Text 5"/>
          <p:cNvSpPr/>
          <p:nvPr/>
        </p:nvSpPr>
        <p:spPr>
          <a:xfrm>
            <a:off x="1727200" y="3937000"/>
            <a:ext cx="4152900" cy="254000"/>
          </a:xfrm>
          <a:prstGeom prst="rect">
            <a:avLst/>
          </a:prstGeom>
          <a:noFill/>
        </p:spPr>
        <p:txBody>
          <a:bodyPr wrap="square" lIns="0" tIns="0" rIns="0" bIns="0" rtlCol="0" anchor="ctr"/>
          <a:lstStyle/>
          <a:p>
            <a:pPr>
              <a:lnSpc>
                <a:spcPct val="120000"/>
              </a:lnSpc>
            </a:pPr>
            <a:r>
              <a:rPr lang="en-US" sz="14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普通学校义务</a:t>
            </a:r>
            <a:endParaRPr lang="en-US" sz="1600" dirty="0"/>
          </a:p>
        </p:txBody>
      </p:sp>
      <p:sp>
        <p:nvSpPr>
          <p:cNvPr id="9" name="Text 6"/>
          <p:cNvSpPr/>
          <p:nvPr/>
        </p:nvSpPr>
        <p:spPr>
          <a:xfrm>
            <a:off x="1727200" y="4191000"/>
            <a:ext cx="4152900" cy="508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必须为具备随班就读能力的残障学生提供</a:t>
            </a:r>
            <a:r>
              <a:rPr lang="en-US" sz="1400" dirty="0">
                <a:solidFill>
                  <a:srgbClr val="333333"/>
                </a:solidFill>
                <a:highlight>
                  <a:srgbClr val="FFC107">
                    <a:alpha val="100000"/>
                  </a:srgbClr>
                </a:highlight>
                <a:latin typeface="Noto Sans SC" panose="020B0200000000000000" pitchFamily="34" charset="-122"/>
                <a:ea typeface="Noto Sans SC" panose="020B0200000000000000" pitchFamily="34" charset="-122"/>
                <a:cs typeface="Noto Sans SC" panose="020B0200000000000000" pitchFamily="34" charset="-120"/>
              </a:rPr>
              <a:t> “学习—康复”一体化支持 </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10" name="Shape 7"/>
          <p:cNvSpPr/>
          <p:nvPr/>
        </p:nvSpPr>
        <p:spPr>
          <a:xfrm>
            <a:off x="6197600" y="3733800"/>
            <a:ext cx="4470400" cy="1168400"/>
          </a:xfrm>
          <a:custGeom>
            <a:avLst/>
            <a:gdLst/>
            <a:ahLst/>
            <a:cxnLst/>
            <a:rect l="l" t="t" r="r" b="b"/>
            <a:pathLst>
              <a:path w="4470400" h="1168400">
                <a:moveTo>
                  <a:pt x="76203" y="0"/>
                </a:moveTo>
                <a:lnTo>
                  <a:pt x="4394197" y="0"/>
                </a:lnTo>
                <a:cubicBezTo>
                  <a:pt x="4436283" y="0"/>
                  <a:pt x="4470400" y="34117"/>
                  <a:pt x="4470400" y="76203"/>
                </a:cubicBezTo>
                <a:lnTo>
                  <a:pt x="4470400" y="1092197"/>
                </a:lnTo>
                <a:cubicBezTo>
                  <a:pt x="4470400" y="1134283"/>
                  <a:pt x="4436283" y="1168400"/>
                  <a:pt x="4394197" y="1168400"/>
                </a:cubicBezTo>
                <a:lnTo>
                  <a:pt x="76203" y="1168400"/>
                </a:lnTo>
                <a:cubicBezTo>
                  <a:pt x="34117" y="1168400"/>
                  <a:pt x="0" y="1134283"/>
                  <a:pt x="0" y="1092197"/>
                </a:cubicBezTo>
                <a:lnTo>
                  <a:pt x="0" y="76203"/>
                </a:lnTo>
                <a:cubicBezTo>
                  <a:pt x="0" y="34145"/>
                  <a:pt x="34145" y="0"/>
                  <a:pt x="76203" y="0"/>
                </a:cubicBezTo>
                <a:close/>
              </a:path>
            </a:pathLst>
          </a:custGeom>
          <a:solidFill>
            <a:srgbClr val="FFFFFF"/>
          </a:solidFill>
          <a:effectLst>
            <a:outerShdw blurRad="38100" dist="12700" dir="5400000" algn="bl" rotWithShape="0">
              <a:srgbClr val="000000">
                <a:alpha val="10196"/>
              </a:srgbClr>
            </a:outerShdw>
          </a:effectLst>
        </p:spPr>
      </p:sp>
      <p:sp>
        <p:nvSpPr>
          <p:cNvPr id="11" name="Text 8"/>
          <p:cNvSpPr/>
          <p:nvPr/>
        </p:nvSpPr>
        <p:spPr>
          <a:xfrm>
            <a:off x="6400800" y="3937000"/>
            <a:ext cx="4152900" cy="254000"/>
          </a:xfrm>
          <a:prstGeom prst="rect">
            <a:avLst/>
          </a:prstGeom>
          <a:noFill/>
        </p:spPr>
        <p:txBody>
          <a:bodyPr wrap="square" lIns="0" tIns="0" rIns="0" bIns="0" rtlCol="0" anchor="ctr"/>
          <a:lstStyle/>
          <a:p>
            <a:pPr>
              <a:lnSpc>
                <a:spcPct val="120000"/>
              </a:lnSpc>
            </a:pPr>
            <a:r>
              <a:rPr lang="en-US" sz="14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IEP是强制规定</a:t>
            </a:r>
            <a:endParaRPr lang="en-US" sz="1600" dirty="0"/>
          </a:p>
        </p:txBody>
      </p:sp>
      <p:sp>
        <p:nvSpPr>
          <p:cNvPr id="12" name="Text 9"/>
          <p:cNvSpPr/>
          <p:nvPr/>
        </p:nvSpPr>
        <p:spPr>
          <a:xfrm>
            <a:off x="6400800" y="4191000"/>
            <a:ext cx="4152900" cy="508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必须制定</a:t>
            </a:r>
            <a:r>
              <a:rPr lang="en-US" sz="1400" dirty="0">
                <a:solidFill>
                  <a:srgbClr val="333333"/>
                </a:solidFill>
                <a:highlight>
                  <a:srgbClr val="FFC107">
                    <a:alpha val="100000"/>
                  </a:srgbClr>
                </a:highlight>
                <a:latin typeface="Noto Sans SC" panose="020B0200000000000000" pitchFamily="34" charset="-122"/>
                <a:ea typeface="Noto Sans SC" panose="020B0200000000000000" pitchFamily="34" charset="-122"/>
                <a:cs typeface="Noto Sans SC" panose="020B0200000000000000" pitchFamily="34" charset="-120"/>
              </a:rPr>
              <a:t> 个别化教育计划(IEP) </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，明确目标与支持策略。</a:t>
            </a:r>
            <a:endParaRPr lang="en-US" sz="1600" dirty="0"/>
          </a:p>
        </p:txBody>
      </p:sp>
      <p:sp>
        <p:nvSpPr>
          <p:cNvPr id="13" name="Text 10"/>
          <p:cNvSpPr/>
          <p:nvPr/>
        </p:nvSpPr>
        <p:spPr>
          <a:xfrm>
            <a:off x="1473200" y="5105400"/>
            <a:ext cx="9245600" cy="304800"/>
          </a:xfrm>
          <a:prstGeom prst="rect">
            <a:avLst/>
          </a:prstGeom>
          <a:noFill/>
        </p:spPr>
        <p:txBody>
          <a:bodyPr wrap="square" lIns="0" tIns="0" rIns="0" bIns="0" rtlCol="0" anchor="ctr"/>
          <a:lstStyle/>
          <a:p>
            <a:pPr algn="ctr">
              <a:lnSpc>
                <a:spcPct val="130000"/>
              </a:lnSpc>
            </a:pPr>
            <a:r>
              <a:rPr lang="en-US" sz="1600" b="1" dirty="0">
                <a:solidFill>
                  <a:srgbClr val="DC3545"/>
                </a:solidFill>
                <a:latin typeface="Noto Sans SC" panose="020B0200000000000000" pitchFamily="34" charset="-122"/>
                <a:ea typeface="Noto Sans SC" panose="020B0200000000000000" pitchFamily="34" charset="-122"/>
                <a:cs typeface="Noto Sans SC" panose="020B0200000000000000" pitchFamily="34" charset="-120"/>
              </a:rPr>
              <a:t>现状与法规存在显著差距，亟需依法改进。</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Text 0"/>
          <p:cNvSpPr/>
          <p:nvPr/>
        </p:nvSpPr>
        <p:spPr>
          <a:xfrm>
            <a:off x="158750" y="254000"/>
            <a:ext cx="11874500" cy="457200"/>
          </a:xfrm>
          <a:prstGeom prst="rect">
            <a:avLst/>
          </a:prstGeom>
          <a:noFill/>
        </p:spPr>
        <p:txBody>
          <a:bodyPr wrap="square" lIns="0" tIns="0" rIns="0" bIns="0" rtlCol="0" anchor="ctr"/>
          <a:lstStyle/>
          <a:p>
            <a:pPr algn="ctr">
              <a:lnSpc>
                <a:spcPct val="100000"/>
              </a:lnSpc>
            </a:pPr>
            <a:r>
              <a:rPr lang="en-US" altLang="zh-CN" sz="2800" dirty="0">
                <a:solidFill>
                  <a:schemeClr val="accent1"/>
                </a:solidFill>
                <a:effectLst>
                  <a:outerShdw blurRad="38100" dist="25400" dir="5400000" algn="ctr" rotWithShape="0">
                    <a:srgbClr val="6E747A">
                      <a:alpha val="43000"/>
                    </a:srgbClr>
                  </a:outerShdw>
                </a:effectLst>
              </a:rPr>
              <a:t>List of assistive technologies: From attention to fine motor skills</a:t>
            </a:r>
            <a:endParaRPr lang="en-US" altLang="zh-CN" sz="2800" dirty="0">
              <a:solidFill>
                <a:schemeClr val="accent1"/>
              </a:solidFill>
              <a:effectLst>
                <a:outerShdw blurRad="38100" dist="25400" dir="5400000" algn="ctr" rotWithShape="0">
                  <a:srgbClr val="6E747A">
                    <a:alpha val="43000"/>
                  </a:srgbClr>
                </a:outerShdw>
              </a:effectLst>
            </a:endParaRPr>
          </a:p>
        </p:txBody>
      </p:sp>
      <p:sp>
        <p:nvSpPr>
          <p:cNvPr id="4" name="Shape 1"/>
          <p:cNvSpPr/>
          <p:nvPr/>
        </p:nvSpPr>
        <p:spPr>
          <a:xfrm>
            <a:off x="254000" y="1016000"/>
            <a:ext cx="3695700" cy="5588000"/>
          </a:xfrm>
          <a:custGeom>
            <a:avLst/>
            <a:gdLst/>
            <a:ahLst/>
            <a:cxnLst/>
            <a:rect l="l" t="t" r="r" b="b"/>
            <a:pathLst>
              <a:path w="3695700" h="5588000">
                <a:moveTo>
                  <a:pt x="101595" y="0"/>
                </a:moveTo>
                <a:lnTo>
                  <a:pt x="3594105" y="0"/>
                </a:lnTo>
                <a:cubicBezTo>
                  <a:pt x="3650214" y="0"/>
                  <a:pt x="3695700" y="45486"/>
                  <a:pt x="3695700" y="101595"/>
                </a:cubicBezTo>
                <a:lnTo>
                  <a:pt x="3695700" y="5486405"/>
                </a:lnTo>
                <a:cubicBezTo>
                  <a:pt x="3695700" y="5542514"/>
                  <a:pt x="3650214" y="5588000"/>
                  <a:pt x="3594105" y="5588000"/>
                </a:cubicBezTo>
                <a:lnTo>
                  <a:pt x="101595" y="5588000"/>
                </a:lnTo>
                <a:cubicBezTo>
                  <a:pt x="45486" y="5588000"/>
                  <a:pt x="0" y="5542514"/>
                  <a:pt x="0" y="5486405"/>
                </a:cubicBezTo>
                <a:lnTo>
                  <a:pt x="0" y="101595"/>
                </a:lnTo>
                <a:cubicBezTo>
                  <a:pt x="0" y="45523"/>
                  <a:pt x="45523" y="0"/>
                  <a:pt x="101595" y="0"/>
                </a:cubicBezTo>
                <a:close/>
              </a:path>
            </a:pathLst>
          </a:custGeom>
          <a:solidFill>
            <a:srgbClr val="007BFF">
              <a:alpha val="10196"/>
            </a:srgbClr>
          </a:solidFill>
        </p:spPr>
      </p:sp>
      <p:sp>
        <p:nvSpPr>
          <p:cNvPr id="5" name="Text 2"/>
          <p:cNvSpPr/>
          <p:nvPr/>
        </p:nvSpPr>
        <p:spPr>
          <a:xfrm>
            <a:off x="406400" y="1219200"/>
            <a:ext cx="3390900" cy="304800"/>
          </a:xfrm>
          <a:prstGeom prst="rect">
            <a:avLst/>
          </a:prstGeom>
          <a:noFill/>
        </p:spPr>
        <p:txBody>
          <a:bodyPr wrap="square" lIns="0" tIns="0" rIns="0" bIns="0" rtlCol="0" anchor="ctr"/>
          <a:lstStyle/>
          <a:p>
            <a:pPr algn="ctr">
              <a:lnSpc>
                <a:spcPct val="130000"/>
              </a:lnSpc>
            </a:pPr>
            <a:r>
              <a:rPr lang="en-US" sz="1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ADHD 支持类</a:t>
            </a:r>
            <a:endParaRPr lang="en-US" sz="1600" dirty="0"/>
          </a:p>
        </p:txBody>
      </p:sp>
      <p:sp>
        <p:nvSpPr>
          <p:cNvPr id="6" name="Text 3"/>
          <p:cNvSpPr/>
          <p:nvPr/>
        </p:nvSpPr>
        <p:spPr>
          <a:xfrm>
            <a:off x="457200" y="16764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注意力训练APP (番茄钟)</a:t>
            </a:r>
            <a:endParaRPr lang="en-US" sz="1600" dirty="0"/>
          </a:p>
        </p:txBody>
      </p:sp>
      <p:sp>
        <p:nvSpPr>
          <p:cNvPr id="7" name="Text 4"/>
          <p:cNvSpPr/>
          <p:nvPr/>
        </p:nvSpPr>
        <p:spPr>
          <a:xfrm>
            <a:off x="457200" y="20320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视觉提示工具 (彩色日程表)</a:t>
            </a:r>
            <a:endParaRPr lang="en-US" sz="1600" dirty="0"/>
          </a:p>
        </p:txBody>
      </p:sp>
      <p:sp>
        <p:nvSpPr>
          <p:cNvPr id="8" name="Text 5"/>
          <p:cNvSpPr/>
          <p:nvPr/>
        </p:nvSpPr>
        <p:spPr>
          <a:xfrm>
            <a:off x="457200" y="23876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降噪耳机 (减少刺激)</a:t>
            </a:r>
            <a:endParaRPr lang="en-US" sz="1600" dirty="0"/>
          </a:p>
        </p:txBody>
      </p:sp>
      <p:sp>
        <p:nvSpPr>
          <p:cNvPr id="9" name="Text 6"/>
          <p:cNvSpPr/>
          <p:nvPr/>
        </p:nvSpPr>
        <p:spPr>
          <a:xfrm>
            <a:off x="457200" y="27432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正面强化工具 (积分奖励表)</a:t>
            </a:r>
            <a:endParaRPr lang="en-US" sz="1600" dirty="0"/>
          </a:p>
        </p:txBody>
      </p:sp>
      <p:sp>
        <p:nvSpPr>
          <p:cNvPr id="10" name="Shape 7"/>
          <p:cNvSpPr/>
          <p:nvPr/>
        </p:nvSpPr>
        <p:spPr>
          <a:xfrm>
            <a:off x="4250214" y="1016000"/>
            <a:ext cx="3695700" cy="5588000"/>
          </a:xfrm>
          <a:custGeom>
            <a:avLst/>
            <a:gdLst/>
            <a:ahLst/>
            <a:cxnLst/>
            <a:rect l="l" t="t" r="r" b="b"/>
            <a:pathLst>
              <a:path w="3695700" h="5588000">
                <a:moveTo>
                  <a:pt x="101595" y="0"/>
                </a:moveTo>
                <a:lnTo>
                  <a:pt x="3594105" y="0"/>
                </a:lnTo>
                <a:cubicBezTo>
                  <a:pt x="3650214" y="0"/>
                  <a:pt x="3695700" y="45486"/>
                  <a:pt x="3695700" y="101595"/>
                </a:cubicBezTo>
                <a:lnTo>
                  <a:pt x="3695700" y="5486405"/>
                </a:lnTo>
                <a:cubicBezTo>
                  <a:pt x="3695700" y="5542514"/>
                  <a:pt x="3650214" y="5588000"/>
                  <a:pt x="3594105" y="5588000"/>
                </a:cubicBezTo>
                <a:lnTo>
                  <a:pt x="101595" y="5588000"/>
                </a:lnTo>
                <a:cubicBezTo>
                  <a:pt x="45486" y="5588000"/>
                  <a:pt x="0" y="5542514"/>
                  <a:pt x="0" y="5486405"/>
                </a:cubicBezTo>
                <a:lnTo>
                  <a:pt x="0" y="101595"/>
                </a:lnTo>
                <a:cubicBezTo>
                  <a:pt x="0" y="45523"/>
                  <a:pt x="45523" y="0"/>
                  <a:pt x="101595" y="0"/>
                </a:cubicBezTo>
                <a:close/>
              </a:path>
            </a:pathLst>
          </a:custGeom>
          <a:solidFill>
            <a:srgbClr val="007BFF">
              <a:alpha val="10196"/>
            </a:srgbClr>
          </a:solidFill>
        </p:spPr>
      </p:sp>
      <p:sp>
        <p:nvSpPr>
          <p:cNvPr id="11" name="Text 8"/>
          <p:cNvSpPr/>
          <p:nvPr/>
        </p:nvSpPr>
        <p:spPr>
          <a:xfrm>
            <a:off x="4402614" y="1219200"/>
            <a:ext cx="3390900" cy="304800"/>
          </a:xfrm>
          <a:prstGeom prst="rect">
            <a:avLst/>
          </a:prstGeom>
          <a:noFill/>
        </p:spPr>
        <p:txBody>
          <a:bodyPr wrap="square" lIns="0" tIns="0" rIns="0" bIns="0" rtlCol="0" anchor="ctr"/>
          <a:lstStyle/>
          <a:p>
            <a:pPr algn="ctr">
              <a:lnSpc>
                <a:spcPct val="130000"/>
              </a:lnSpc>
            </a:pPr>
            <a:r>
              <a:rPr lang="en-US" sz="1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感统训练类</a:t>
            </a:r>
            <a:endParaRPr lang="en-US" sz="1600" dirty="0"/>
          </a:p>
        </p:txBody>
      </p:sp>
      <p:sp>
        <p:nvSpPr>
          <p:cNvPr id="12" name="Text 9"/>
          <p:cNvSpPr/>
          <p:nvPr/>
        </p:nvSpPr>
        <p:spPr>
          <a:xfrm>
            <a:off x="4453414" y="16764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平衡板 (改善前庭平衡)</a:t>
            </a:r>
            <a:endParaRPr lang="en-US" sz="1600" dirty="0"/>
          </a:p>
        </p:txBody>
      </p:sp>
      <p:sp>
        <p:nvSpPr>
          <p:cNvPr id="13" name="Text 10"/>
          <p:cNvSpPr/>
          <p:nvPr/>
        </p:nvSpPr>
        <p:spPr>
          <a:xfrm>
            <a:off x="4453414" y="20320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触觉垫 (缓解触觉防御)</a:t>
            </a:r>
            <a:endParaRPr lang="en-US" sz="1600" dirty="0"/>
          </a:p>
        </p:txBody>
      </p:sp>
      <p:sp>
        <p:nvSpPr>
          <p:cNvPr id="14" name="Text 11"/>
          <p:cNvSpPr/>
          <p:nvPr/>
        </p:nvSpPr>
        <p:spPr>
          <a:xfrm>
            <a:off x="4453414" y="23876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握笔器 (矫正书写姿势)</a:t>
            </a:r>
            <a:endParaRPr lang="en-US" sz="1600" dirty="0"/>
          </a:p>
        </p:txBody>
      </p:sp>
      <p:sp>
        <p:nvSpPr>
          <p:cNvPr id="15" name="Text 12"/>
          <p:cNvSpPr/>
          <p:nvPr/>
        </p:nvSpPr>
        <p:spPr>
          <a:xfrm>
            <a:off x="4453414" y="27432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剪纸模板 (辅助精细动作)</a:t>
            </a:r>
            <a:endParaRPr lang="en-US" sz="1600" dirty="0"/>
          </a:p>
        </p:txBody>
      </p:sp>
      <p:sp>
        <p:nvSpPr>
          <p:cNvPr id="16" name="Shape 13"/>
          <p:cNvSpPr/>
          <p:nvPr/>
        </p:nvSpPr>
        <p:spPr>
          <a:xfrm>
            <a:off x="8246428" y="1016000"/>
            <a:ext cx="3695700" cy="5588000"/>
          </a:xfrm>
          <a:custGeom>
            <a:avLst/>
            <a:gdLst/>
            <a:ahLst/>
            <a:cxnLst/>
            <a:rect l="l" t="t" r="r" b="b"/>
            <a:pathLst>
              <a:path w="3695700" h="5588000">
                <a:moveTo>
                  <a:pt x="101595" y="0"/>
                </a:moveTo>
                <a:lnTo>
                  <a:pt x="3594105" y="0"/>
                </a:lnTo>
                <a:cubicBezTo>
                  <a:pt x="3650214" y="0"/>
                  <a:pt x="3695700" y="45486"/>
                  <a:pt x="3695700" y="101595"/>
                </a:cubicBezTo>
                <a:lnTo>
                  <a:pt x="3695700" y="5486405"/>
                </a:lnTo>
                <a:cubicBezTo>
                  <a:pt x="3695700" y="5542514"/>
                  <a:pt x="3650214" y="5588000"/>
                  <a:pt x="3594105" y="5588000"/>
                </a:cubicBezTo>
                <a:lnTo>
                  <a:pt x="101595" y="5588000"/>
                </a:lnTo>
                <a:cubicBezTo>
                  <a:pt x="45486" y="5588000"/>
                  <a:pt x="0" y="5542514"/>
                  <a:pt x="0" y="5486405"/>
                </a:cubicBezTo>
                <a:lnTo>
                  <a:pt x="0" y="101595"/>
                </a:lnTo>
                <a:cubicBezTo>
                  <a:pt x="0" y="45523"/>
                  <a:pt x="45523" y="0"/>
                  <a:pt x="101595" y="0"/>
                </a:cubicBezTo>
                <a:close/>
              </a:path>
            </a:pathLst>
          </a:custGeom>
          <a:solidFill>
            <a:srgbClr val="007BFF">
              <a:alpha val="10196"/>
            </a:srgbClr>
          </a:solidFill>
        </p:spPr>
      </p:sp>
      <p:sp>
        <p:nvSpPr>
          <p:cNvPr id="17" name="Text 14"/>
          <p:cNvSpPr/>
          <p:nvPr/>
        </p:nvSpPr>
        <p:spPr>
          <a:xfrm>
            <a:off x="8398828" y="1219200"/>
            <a:ext cx="3390900" cy="304800"/>
          </a:xfrm>
          <a:prstGeom prst="rect">
            <a:avLst/>
          </a:prstGeom>
          <a:noFill/>
        </p:spPr>
        <p:txBody>
          <a:bodyPr wrap="square" lIns="0" tIns="0" rIns="0" bIns="0" rtlCol="0" anchor="ctr"/>
          <a:lstStyle/>
          <a:p>
            <a:pPr algn="ctr">
              <a:lnSpc>
                <a:spcPct val="130000"/>
              </a:lnSpc>
            </a:pPr>
            <a:r>
              <a:rPr lang="en-US" sz="1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学业支持类</a:t>
            </a:r>
            <a:endParaRPr lang="en-US" sz="1600" dirty="0"/>
          </a:p>
        </p:txBody>
      </p:sp>
      <p:sp>
        <p:nvSpPr>
          <p:cNvPr id="18" name="Text 15"/>
          <p:cNvSpPr/>
          <p:nvPr/>
        </p:nvSpPr>
        <p:spPr>
          <a:xfrm>
            <a:off x="8449628" y="16764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拼音学习卡片 (图文结合)</a:t>
            </a:r>
            <a:endParaRPr lang="en-US" sz="1600" dirty="0"/>
          </a:p>
        </p:txBody>
      </p:sp>
      <p:sp>
        <p:nvSpPr>
          <p:cNvPr id="19" name="Text 16"/>
          <p:cNvSpPr/>
          <p:nvPr/>
        </p:nvSpPr>
        <p:spPr>
          <a:xfrm>
            <a:off x="8449628" y="20320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笔画部首磁性教具</a:t>
            </a:r>
            <a:endParaRPr lang="en-US" sz="1600" dirty="0"/>
          </a:p>
        </p:txBody>
      </p:sp>
      <p:sp>
        <p:nvSpPr>
          <p:cNvPr id="20" name="Text 17"/>
          <p:cNvSpPr/>
          <p:nvPr/>
        </p:nvSpPr>
        <p:spPr>
          <a:xfrm>
            <a:off x="8449628" y="2387600"/>
            <a:ext cx="33782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应用题具象化图示卡</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6:35:26-d3jn7jgs8jdo4os5dj50.jpg"/>
          <p:cNvPicPr>
            <a:picLocks noChangeAspect="1"/>
          </p:cNvPicPr>
          <p:nvPr/>
        </p:nvPicPr>
        <p:blipFill>
          <a:blip r:embed="rId2">
            <a:alphaModFix amt="56000"/>
          </a:blip>
          <a:stretch>
            <a:fillRect/>
          </a:stretch>
        </p:blipFill>
        <p:spPr>
          <a:xfrm>
            <a:off x="0" y="0"/>
            <a:ext cx="12191365" cy="6858000"/>
          </a:xfrm>
          <a:prstGeom prst="rect">
            <a:avLst/>
          </a:prstGeom>
        </p:spPr>
      </p:pic>
      <p:pic>
        <p:nvPicPr>
          <p:cNvPr id="3" name="Image 1" descr="https://kimi-img.moonshot.cn/pub/slides/slides_tmpl/image/25-10-09-16:35:24-d3jn7j0s8jdo4os5divg.jpg"/>
          <p:cNvPicPr>
            <a:picLocks noChangeAspect="1"/>
          </p:cNvPicPr>
          <p:nvPr/>
        </p:nvPicPr>
        <p:blipFill>
          <a:blip r:embed="rId3"/>
          <a:stretch>
            <a:fillRect/>
          </a:stretch>
        </p:blipFill>
        <p:spPr>
          <a:xfrm>
            <a:off x="2897505" y="3536315"/>
            <a:ext cx="6823710" cy="736600"/>
          </a:xfrm>
          <a:prstGeom prst="rect">
            <a:avLst/>
          </a:prstGeom>
        </p:spPr>
      </p:pic>
      <p:sp>
        <p:nvSpPr>
          <p:cNvPr id="5" name="Text 0"/>
          <p:cNvSpPr/>
          <p:nvPr/>
        </p:nvSpPr>
        <p:spPr>
          <a:xfrm>
            <a:off x="5499889" y="2317433"/>
            <a:ext cx="1618942" cy="1307465"/>
          </a:xfrm>
          <a:prstGeom prst="rect">
            <a:avLst/>
          </a:prstGeom>
          <a:noFill/>
        </p:spPr>
        <p:txBody>
          <a:bodyPr wrap="square" lIns="0" tIns="0" rIns="0" bIns="0" rtlCol="0" anchor="t">
            <a:spAutoFit/>
          </a:bodyPr>
          <a:lstStyle/>
          <a:p>
            <a:pPr algn="ctr">
              <a:lnSpc>
                <a:spcPct val="100000"/>
              </a:lnSpc>
            </a:pPr>
            <a:r>
              <a:rPr lang="en-US" sz="8500" dirty="0">
                <a:solidFill>
                  <a:srgbClr val="0439E1"/>
                </a:solidFill>
                <a:latin typeface="MiSans" pitchFamily="34" charset="0"/>
                <a:ea typeface="MiSans" pitchFamily="34" charset="-122"/>
                <a:cs typeface="MiSans" pitchFamily="34" charset="-120"/>
              </a:rPr>
              <a:t>04</a:t>
            </a:r>
            <a:endParaRPr lang="en-US" sz="1600" dirty="0"/>
          </a:p>
        </p:txBody>
      </p:sp>
      <p:sp>
        <p:nvSpPr>
          <p:cNvPr id="6" name="Text 1"/>
          <p:cNvSpPr/>
          <p:nvPr/>
        </p:nvSpPr>
        <p:spPr>
          <a:xfrm>
            <a:off x="2607310" y="3643630"/>
            <a:ext cx="7005955" cy="521970"/>
          </a:xfrm>
          <a:prstGeom prst="rect">
            <a:avLst/>
          </a:prstGeom>
          <a:noFill/>
        </p:spPr>
        <p:txBody>
          <a:bodyPr wrap="square" lIns="0" tIns="0" rIns="0" bIns="0" rtlCol="0" anchor="t"/>
          <a:lstStyle/>
          <a:p>
            <a:pPr algn="ctr">
              <a:lnSpc>
                <a:spcPct val="100000"/>
              </a:lnSpc>
            </a:pPr>
            <a:r>
              <a:rPr lang="en-US" sz="3400" dirty="0">
                <a:solidFill>
                  <a:srgbClr val="0D0D0D"/>
                </a:solidFill>
                <a:latin typeface="MiSans" pitchFamily="34" charset="0"/>
                <a:ea typeface="MiSans" pitchFamily="34" charset="-122"/>
                <a:cs typeface="MiSans" pitchFamily="34" charset="-120"/>
              </a:rPr>
              <a:t>系统突围：三维度协同</a:t>
            </a:r>
            <a:endParaRPr lang="en-US" sz="3400" dirty="0">
              <a:solidFill>
                <a:srgbClr val="0D0D0D"/>
              </a:solidFill>
              <a:latin typeface="MiSans" pitchFamily="34" charset="0"/>
              <a:ea typeface="MiSans" pitchFamily="34" charset="-122"/>
              <a:cs typeface="MiSans" pitchFamily="34" charset="-120"/>
            </a:endParaRPr>
          </a:p>
          <a:p>
            <a:pPr algn="ctr">
              <a:lnSpc>
                <a:spcPct val="100000"/>
              </a:lnSpc>
            </a:pPr>
            <a:r>
              <a:rPr lang="en-US" altLang="zh-CN" sz="2400" dirty="0"/>
              <a:t>System Breakthrough: Three-dimensional Collaboration</a:t>
            </a:r>
            <a:endParaRPr lang="en-US" altLang="zh-CN" sz="2400" dirty="0"/>
          </a:p>
        </p:txBody>
      </p:sp>
      <p:sp>
        <p:nvSpPr>
          <p:cNvPr id="7" name="Shape 2"/>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sp>
      <p:sp>
        <p:nvSpPr>
          <p:cNvPr id="8" name="Shape 3"/>
          <p:cNvSpPr/>
          <p:nvPr/>
        </p:nvSpPr>
        <p:spPr>
          <a:xfrm>
            <a:off x="11459749" y="6039741"/>
            <a:ext cx="209306" cy="42231"/>
          </a:xfrm>
          <a:prstGeom prst="rect">
            <a:avLst/>
          </a:prstGeom>
          <a:solidFill>
            <a:srgbClr val="000000"/>
          </a:solidFill>
          <a:ln w="19050">
            <a:solidFill>
              <a:srgbClr val="000000"/>
            </a:solidFill>
            <a:prstDash val="solid"/>
          </a:ln>
        </p:spPr>
      </p:sp>
      <p:sp>
        <p:nvSpPr>
          <p:cNvPr id="9" name="Text 4"/>
          <p:cNvSpPr/>
          <p:nvPr/>
        </p:nvSpPr>
        <p:spPr>
          <a:xfrm>
            <a:off x="11459749" y="603974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5"/>
          <p:cNvSpPr/>
          <p:nvPr/>
        </p:nvSpPr>
        <p:spPr>
          <a:xfrm>
            <a:off x="11459749" y="6136715"/>
            <a:ext cx="209306" cy="42231"/>
          </a:xfrm>
          <a:prstGeom prst="rect">
            <a:avLst/>
          </a:prstGeom>
          <a:solidFill>
            <a:srgbClr val="000000"/>
          </a:solidFill>
          <a:ln w="19050">
            <a:solidFill>
              <a:srgbClr val="000000"/>
            </a:solidFill>
            <a:prstDash val="solid"/>
          </a:ln>
        </p:spPr>
      </p:sp>
      <p:sp>
        <p:nvSpPr>
          <p:cNvPr id="11" name="Text 6"/>
          <p:cNvSpPr/>
          <p:nvPr/>
        </p:nvSpPr>
        <p:spPr>
          <a:xfrm>
            <a:off x="11459749" y="613671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7"/>
          <p:cNvSpPr/>
          <p:nvPr/>
        </p:nvSpPr>
        <p:spPr>
          <a:xfrm>
            <a:off x="11459749" y="6233689"/>
            <a:ext cx="209306" cy="42231"/>
          </a:xfrm>
          <a:prstGeom prst="rect">
            <a:avLst/>
          </a:prstGeom>
          <a:solidFill>
            <a:srgbClr val="000000"/>
          </a:solidFill>
          <a:ln w="19050">
            <a:solidFill>
              <a:srgbClr val="000000"/>
            </a:solidFill>
            <a:prstDash val="solid"/>
          </a:ln>
        </p:spPr>
      </p:sp>
      <p:sp>
        <p:nvSpPr>
          <p:cNvPr id="13" name="Text 8"/>
          <p:cNvSpPr/>
          <p:nvPr/>
        </p:nvSpPr>
        <p:spPr>
          <a:xfrm>
            <a:off x="11459749" y="6233689"/>
            <a:ext cx="209306" cy="42231"/>
          </a:xfrm>
          <a:prstGeom prst="rect">
            <a:avLst/>
          </a:prstGeom>
          <a:noFill/>
        </p:spPr>
        <p:txBody>
          <a:bodyPr wrap="square" lIns="45720" tIns="91440" rIns="91440" bIns="45720" rtlCol="0" anchor="ctr"/>
          <a:lstStyle/>
          <a:p>
            <a:pPr>
              <a:lnSpc>
                <a:spcPct val="100000"/>
              </a:lnSpc>
            </a:pPr>
            <a:endParaRPr lang="en-US" sz="1600" dirty="0"/>
          </a:p>
        </p:txBody>
      </p:sp>
      <p:pic>
        <p:nvPicPr>
          <p:cNvPr id="14" name="Image 3" descr="https://kimi-img.moonshot.cn/pub/slides/slides_tmpl/image/25-10-09-16:35:24-d3jn7j0s8jdo4os5div0.png"/>
          <p:cNvPicPr>
            <a:picLocks noChangeAspect="1"/>
          </p:cNvPicPr>
          <p:nvPr/>
        </p:nvPicPr>
        <p:blipFill>
          <a:blip r:embed="rId4">
            <a:alphaModFix amt="40000"/>
          </a:blip>
          <a:stretch>
            <a:fillRect/>
          </a:stretch>
        </p:blipFill>
        <p:spPr>
          <a:xfrm flipV="1">
            <a:off x="851535" y="630555"/>
            <a:ext cx="762000" cy="76200"/>
          </a:xfrm>
          <a:prstGeom prst="rect">
            <a:avLst/>
          </a:prstGeom>
        </p:spPr>
      </p:pic>
      <p:pic>
        <p:nvPicPr>
          <p:cNvPr id="15" name="Image 4" descr="https://kimi-img.moonshot.cn/pub/slides/slides_tmpl/image/25-10-09-16:35:24-d3jn7j0s8jdo4os5div0.png"/>
          <p:cNvPicPr>
            <a:picLocks noChangeAspect="1"/>
          </p:cNvPicPr>
          <p:nvPr/>
        </p:nvPicPr>
        <p:blipFill>
          <a:blip r:embed="rId4">
            <a:alphaModFix amt="40000"/>
          </a:blip>
          <a:stretch>
            <a:fillRect/>
          </a:stretch>
        </p:blipFill>
        <p:spPr>
          <a:xfrm flipV="1">
            <a:off x="851535" y="761365"/>
            <a:ext cx="762000" cy="762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88265" y="-635"/>
            <a:ext cx="12192000" cy="6858635"/>
          </a:xfrm>
          <a:prstGeom prst="rect">
            <a:avLst/>
          </a:prstGeom>
        </p:spPr>
      </p:pic>
      <p:sp>
        <p:nvSpPr>
          <p:cNvPr id="3" name="Text 0"/>
          <p:cNvSpPr/>
          <p:nvPr/>
        </p:nvSpPr>
        <p:spPr>
          <a:xfrm>
            <a:off x="895350" y="1193800"/>
            <a:ext cx="9312275" cy="914400"/>
          </a:xfrm>
          <a:prstGeom prst="rect">
            <a:avLst/>
          </a:prstGeom>
          <a:noFill/>
        </p:spPr>
        <p:txBody>
          <a:bodyPr wrap="square" lIns="0" tIns="0" rIns="0" bIns="0" rtlCol="0" anchor="ctr"/>
          <a:lstStyle/>
          <a:p>
            <a:pPr>
              <a:lnSpc>
                <a:spcPct val="100000"/>
              </a:lnSpc>
            </a:pPr>
            <a:r>
              <a:rPr lang="en-US" altLang="zh-CN" sz="3200" dirty="0">
                <a:solidFill>
                  <a:schemeClr val="accent1"/>
                </a:solidFill>
                <a:effectLst>
                  <a:outerShdw blurRad="38100" dist="25400" dir="5400000" algn="ctr" rotWithShape="0">
                    <a:srgbClr val="6E747A">
                      <a:alpha val="43000"/>
                    </a:srgbClr>
                  </a:outerShdw>
                </a:effectLst>
              </a:rPr>
              <a:t>School Action 1</a:t>
            </a:r>
            <a:endParaRPr lang="en-US" altLang="zh-CN" sz="3200" dirty="0">
              <a:solidFill>
                <a:schemeClr val="accent1"/>
              </a:solidFill>
              <a:effectLst>
                <a:outerShdw blurRad="38100" dist="25400" dir="5400000" algn="ctr" rotWithShape="0">
                  <a:srgbClr val="6E747A">
                    <a:alpha val="43000"/>
                  </a:srgbClr>
                </a:outerShdw>
              </a:effectLst>
            </a:endParaRPr>
          </a:p>
        </p:txBody>
      </p:sp>
      <p:sp>
        <p:nvSpPr>
          <p:cNvPr id="4" name="Text 1"/>
          <p:cNvSpPr/>
          <p:nvPr/>
        </p:nvSpPr>
        <p:spPr>
          <a:xfrm>
            <a:off x="637540" y="1851025"/>
            <a:ext cx="5537200" cy="609600"/>
          </a:xfrm>
          <a:prstGeom prst="rect">
            <a:avLst/>
          </a:prstGeom>
          <a:noFill/>
        </p:spPr>
        <p:txBody>
          <a:bodyPr wrap="square" lIns="0" tIns="0" rIns="0" bIns="0" rtlCol="0" anchor="ctr"/>
          <a:lstStyle/>
          <a:p>
            <a:pPr>
              <a:lnSpc>
                <a:spcPct val="130000"/>
              </a:lnSpc>
            </a:pPr>
            <a:endParaRPr lang="en-US" sz="1600" dirty="0"/>
          </a:p>
        </p:txBody>
      </p:sp>
      <p:sp>
        <p:nvSpPr>
          <p:cNvPr id="5" name="Shape 2"/>
          <p:cNvSpPr/>
          <p:nvPr/>
        </p:nvSpPr>
        <p:spPr>
          <a:xfrm>
            <a:off x="280035" y="3022600"/>
            <a:ext cx="381000" cy="304800"/>
          </a:xfrm>
          <a:custGeom>
            <a:avLst/>
            <a:gdLst/>
            <a:ahLst/>
            <a:cxnLst/>
            <a:rect l="l" t="t" r="r" b="b"/>
            <a:pathLst>
              <a:path w="381000" h="304800">
                <a:moveTo>
                  <a:pt x="190500" y="9525"/>
                </a:moveTo>
                <a:cubicBezTo>
                  <a:pt x="224670" y="9525"/>
                  <a:pt x="252413" y="37267"/>
                  <a:pt x="252413" y="71438"/>
                </a:cubicBezTo>
                <a:cubicBezTo>
                  <a:pt x="252413" y="105608"/>
                  <a:pt x="224670" y="133350"/>
                  <a:pt x="190500" y="133350"/>
                </a:cubicBezTo>
                <a:cubicBezTo>
                  <a:pt x="156330" y="133350"/>
                  <a:pt x="128588" y="105608"/>
                  <a:pt x="128588" y="71438"/>
                </a:cubicBezTo>
                <a:cubicBezTo>
                  <a:pt x="128588" y="37267"/>
                  <a:pt x="156330" y="9525"/>
                  <a:pt x="190500" y="9525"/>
                </a:cubicBezTo>
                <a:close/>
                <a:moveTo>
                  <a:pt x="57150" y="52388"/>
                </a:moveTo>
                <a:cubicBezTo>
                  <a:pt x="80806" y="52388"/>
                  <a:pt x="100013" y="71594"/>
                  <a:pt x="100013" y="95250"/>
                </a:cubicBezTo>
                <a:cubicBezTo>
                  <a:pt x="100013" y="118906"/>
                  <a:pt x="80806" y="138113"/>
                  <a:pt x="57150" y="138113"/>
                </a:cubicBezTo>
                <a:cubicBezTo>
                  <a:pt x="33494" y="138113"/>
                  <a:pt x="14288" y="118906"/>
                  <a:pt x="14288" y="95250"/>
                </a:cubicBezTo>
                <a:cubicBezTo>
                  <a:pt x="14288" y="71594"/>
                  <a:pt x="33494" y="52388"/>
                  <a:pt x="57150" y="52388"/>
                </a:cubicBezTo>
                <a:close/>
                <a:moveTo>
                  <a:pt x="0" y="247650"/>
                </a:moveTo>
                <a:cubicBezTo>
                  <a:pt x="0" y="205561"/>
                  <a:pt x="34111" y="171450"/>
                  <a:pt x="76200" y="171450"/>
                </a:cubicBezTo>
                <a:cubicBezTo>
                  <a:pt x="83820" y="171450"/>
                  <a:pt x="91202" y="172581"/>
                  <a:pt x="98167" y="174665"/>
                </a:cubicBezTo>
                <a:cubicBezTo>
                  <a:pt x="78581" y="196572"/>
                  <a:pt x="66675" y="225504"/>
                  <a:pt x="66675" y="257175"/>
                </a:cubicBezTo>
                <a:lnTo>
                  <a:pt x="66675" y="266700"/>
                </a:lnTo>
                <a:cubicBezTo>
                  <a:pt x="66675" y="273487"/>
                  <a:pt x="68104" y="279916"/>
                  <a:pt x="70664" y="285750"/>
                </a:cubicBezTo>
                <a:lnTo>
                  <a:pt x="19050" y="285750"/>
                </a:lnTo>
                <a:cubicBezTo>
                  <a:pt x="8513" y="285750"/>
                  <a:pt x="0" y="277237"/>
                  <a:pt x="0" y="266700"/>
                </a:cubicBezTo>
                <a:lnTo>
                  <a:pt x="0" y="247650"/>
                </a:lnTo>
                <a:close/>
                <a:moveTo>
                  <a:pt x="310336" y="285750"/>
                </a:moveTo>
                <a:cubicBezTo>
                  <a:pt x="312896" y="279916"/>
                  <a:pt x="314325" y="273487"/>
                  <a:pt x="314325" y="266700"/>
                </a:cubicBezTo>
                <a:lnTo>
                  <a:pt x="314325" y="257175"/>
                </a:lnTo>
                <a:cubicBezTo>
                  <a:pt x="314325" y="225504"/>
                  <a:pt x="302419" y="196572"/>
                  <a:pt x="282833" y="174665"/>
                </a:cubicBezTo>
                <a:cubicBezTo>
                  <a:pt x="289798" y="172581"/>
                  <a:pt x="297180" y="171450"/>
                  <a:pt x="304800" y="171450"/>
                </a:cubicBezTo>
                <a:cubicBezTo>
                  <a:pt x="346889" y="171450"/>
                  <a:pt x="381000" y="205561"/>
                  <a:pt x="381000" y="247650"/>
                </a:cubicBezTo>
                <a:lnTo>
                  <a:pt x="381000" y="266700"/>
                </a:lnTo>
                <a:cubicBezTo>
                  <a:pt x="381000" y="277237"/>
                  <a:pt x="372487" y="285750"/>
                  <a:pt x="361950" y="285750"/>
                </a:cubicBezTo>
                <a:lnTo>
                  <a:pt x="310336" y="285750"/>
                </a:lnTo>
                <a:close/>
                <a:moveTo>
                  <a:pt x="280987" y="95250"/>
                </a:moveTo>
                <a:cubicBezTo>
                  <a:pt x="280987" y="71594"/>
                  <a:pt x="300194" y="52388"/>
                  <a:pt x="323850" y="52388"/>
                </a:cubicBezTo>
                <a:cubicBezTo>
                  <a:pt x="347506" y="52388"/>
                  <a:pt x="366712" y="71594"/>
                  <a:pt x="366712" y="95250"/>
                </a:cubicBezTo>
                <a:cubicBezTo>
                  <a:pt x="366712" y="118906"/>
                  <a:pt x="347506" y="138113"/>
                  <a:pt x="323850" y="138113"/>
                </a:cubicBezTo>
                <a:cubicBezTo>
                  <a:pt x="300194" y="138113"/>
                  <a:pt x="280987" y="118906"/>
                  <a:pt x="280987" y="95250"/>
                </a:cubicBezTo>
                <a:close/>
                <a:moveTo>
                  <a:pt x="95250" y="257175"/>
                </a:moveTo>
                <a:cubicBezTo>
                  <a:pt x="95250" y="204549"/>
                  <a:pt x="137874" y="161925"/>
                  <a:pt x="190500" y="161925"/>
                </a:cubicBezTo>
                <a:cubicBezTo>
                  <a:pt x="243126" y="161925"/>
                  <a:pt x="285750" y="204549"/>
                  <a:pt x="285750" y="257175"/>
                </a:cubicBezTo>
                <a:lnTo>
                  <a:pt x="285750" y="266700"/>
                </a:lnTo>
                <a:cubicBezTo>
                  <a:pt x="285750" y="277237"/>
                  <a:pt x="277237" y="285750"/>
                  <a:pt x="266700" y="285750"/>
                </a:cubicBezTo>
                <a:lnTo>
                  <a:pt x="114300" y="285750"/>
                </a:lnTo>
                <a:cubicBezTo>
                  <a:pt x="103763" y="285750"/>
                  <a:pt x="95250" y="277237"/>
                  <a:pt x="95250" y="266700"/>
                </a:cubicBezTo>
                <a:lnTo>
                  <a:pt x="95250" y="257175"/>
                </a:lnTo>
                <a:close/>
              </a:path>
            </a:pathLst>
          </a:custGeom>
          <a:solidFill>
            <a:srgbClr val="0056B3"/>
          </a:solidFill>
        </p:spPr>
      </p:sp>
      <p:sp>
        <p:nvSpPr>
          <p:cNvPr id="6" name="Text 3"/>
          <p:cNvSpPr/>
          <p:nvPr/>
        </p:nvSpPr>
        <p:spPr>
          <a:xfrm>
            <a:off x="839470" y="3022600"/>
            <a:ext cx="49530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组建四方IEP团队</a:t>
            </a:r>
            <a:endParaRPr lang="en-US" sz="1600" dirty="0"/>
          </a:p>
        </p:txBody>
      </p:sp>
      <p:sp>
        <p:nvSpPr>
          <p:cNvPr id="7" name="Text 4"/>
          <p:cNvSpPr/>
          <p:nvPr/>
        </p:nvSpPr>
        <p:spPr>
          <a:xfrm>
            <a:off x="839470" y="3327400"/>
            <a:ext cx="4940300" cy="508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普教、特教、康复、家长共同参与，设定可测量目标，每季度评估调整。</a:t>
            </a:r>
            <a:endParaRPr lang="en-US" sz="1600" dirty="0"/>
          </a:p>
        </p:txBody>
      </p:sp>
      <p:sp>
        <p:nvSpPr>
          <p:cNvPr id="8" name="Shape 5"/>
          <p:cNvSpPr/>
          <p:nvPr/>
        </p:nvSpPr>
        <p:spPr>
          <a:xfrm>
            <a:off x="307975" y="4038600"/>
            <a:ext cx="381000" cy="304800"/>
          </a:xfrm>
          <a:custGeom>
            <a:avLst/>
            <a:gdLst/>
            <a:ahLst/>
            <a:cxnLst/>
            <a:rect l="l" t="t" r="r" b="b"/>
            <a:pathLst>
              <a:path w="381000" h="304800">
                <a:moveTo>
                  <a:pt x="76200" y="57150"/>
                </a:moveTo>
                <a:cubicBezTo>
                  <a:pt x="76200" y="36135"/>
                  <a:pt x="93285" y="19050"/>
                  <a:pt x="114300" y="19050"/>
                </a:cubicBezTo>
                <a:lnTo>
                  <a:pt x="323850" y="19050"/>
                </a:lnTo>
                <a:cubicBezTo>
                  <a:pt x="344865" y="19050"/>
                  <a:pt x="361950" y="36135"/>
                  <a:pt x="361950" y="57150"/>
                </a:cubicBezTo>
                <a:lnTo>
                  <a:pt x="361950" y="200025"/>
                </a:lnTo>
                <a:lnTo>
                  <a:pt x="304800" y="200025"/>
                </a:lnTo>
                <a:lnTo>
                  <a:pt x="304800" y="190500"/>
                </a:lnTo>
                <a:cubicBezTo>
                  <a:pt x="304800" y="179963"/>
                  <a:pt x="296287" y="171450"/>
                  <a:pt x="285750" y="171450"/>
                </a:cubicBezTo>
                <a:lnTo>
                  <a:pt x="247650" y="171450"/>
                </a:lnTo>
                <a:cubicBezTo>
                  <a:pt x="237113" y="171450"/>
                  <a:pt x="228600" y="179963"/>
                  <a:pt x="228600" y="190500"/>
                </a:cubicBezTo>
                <a:lnTo>
                  <a:pt x="228600" y="200025"/>
                </a:lnTo>
                <a:lnTo>
                  <a:pt x="151745" y="200025"/>
                </a:lnTo>
                <a:cubicBezTo>
                  <a:pt x="158234" y="188833"/>
                  <a:pt x="161925" y="175796"/>
                  <a:pt x="161925" y="161925"/>
                </a:cubicBezTo>
                <a:cubicBezTo>
                  <a:pt x="161925" y="119836"/>
                  <a:pt x="127814" y="85725"/>
                  <a:pt x="85725" y="85725"/>
                </a:cubicBezTo>
                <a:cubicBezTo>
                  <a:pt x="82510" y="85725"/>
                  <a:pt x="79296" y="85904"/>
                  <a:pt x="76200" y="86320"/>
                </a:cubicBezTo>
                <a:lnTo>
                  <a:pt x="76200" y="57150"/>
                </a:lnTo>
                <a:close/>
                <a:moveTo>
                  <a:pt x="198239" y="266700"/>
                </a:moveTo>
                <a:cubicBezTo>
                  <a:pt x="195203" y="252293"/>
                  <a:pt x="188535" y="239256"/>
                  <a:pt x="179130" y="228600"/>
                </a:cubicBezTo>
                <a:lnTo>
                  <a:pt x="361950" y="228600"/>
                </a:lnTo>
                <a:cubicBezTo>
                  <a:pt x="361950" y="249615"/>
                  <a:pt x="344865" y="266700"/>
                  <a:pt x="323850" y="266700"/>
                </a:cubicBezTo>
                <a:lnTo>
                  <a:pt x="198239" y="266700"/>
                </a:lnTo>
                <a:close/>
                <a:moveTo>
                  <a:pt x="38100" y="161925"/>
                </a:moveTo>
                <a:cubicBezTo>
                  <a:pt x="38100" y="135640"/>
                  <a:pt x="59440" y="114300"/>
                  <a:pt x="85725" y="114300"/>
                </a:cubicBezTo>
                <a:cubicBezTo>
                  <a:pt x="112010" y="114300"/>
                  <a:pt x="133350" y="135640"/>
                  <a:pt x="133350" y="161925"/>
                </a:cubicBezTo>
                <a:cubicBezTo>
                  <a:pt x="133350" y="188210"/>
                  <a:pt x="112010" y="209550"/>
                  <a:pt x="85725" y="209550"/>
                </a:cubicBezTo>
                <a:cubicBezTo>
                  <a:pt x="59440" y="209550"/>
                  <a:pt x="38100" y="188210"/>
                  <a:pt x="38100" y="161925"/>
                </a:cubicBezTo>
                <a:close/>
                <a:moveTo>
                  <a:pt x="0" y="285750"/>
                </a:moveTo>
                <a:cubicBezTo>
                  <a:pt x="0" y="254198"/>
                  <a:pt x="25598" y="228600"/>
                  <a:pt x="57150" y="228600"/>
                </a:cubicBezTo>
                <a:lnTo>
                  <a:pt x="114300" y="228600"/>
                </a:lnTo>
                <a:cubicBezTo>
                  <a:pt x="145852" y="228600"/>
                  <a:pt x="171450" y="254198"/>
                  <a:pt x="171450" y="285750"/>
                </a:cubicBezTo>
                <a:cubicBezTo>
                  <a:pt x="171450" y="296287"/>
                  <a:pt x="162937" y="304800"/>
                  <a:pt x="152400" y="304800"/>
                </a:cubicBezTo>
                <a:lnTo>
                  <a:pt x="19050" y="304800"/>
                </a:lnTo>
                <a:cubicBezTo>
                  <a:pt x="8513" y="304800"/>
                  <a:pt x="0" y="296287"/>
                  <a:pt x="0" y="285750"/>
                </a:cubicBezTo>
                <a:close/>
              </a:path>
            </a:pathLst>
          </a:custGeom>
          <a:solidFill>
            <a:srgbClr val="0056B3"/>
          </a:solidFill>
        </p:spPr>
      </p:sp>
      <p:sp>
        <p:nvSpPr>
          <p:cNvPr id="9" name="Text 6"/>
          <p:cNvSpPr/>
          <p:nvPr/>
        </p:nvSpPr>
        <p:spPr>
          <a:xfrm>
            <a:off x="895509" y="4038600"/>
            <a:ext cx="48895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加强师资专业发展</a:t>
            </a:r>
            <a:endParaRPr lang="en-US" sz="1600" dirty="0"/>
          </a:p>
        </p:txBody>
      </p:sp>
      <p:sp>
        <p:nvSpPr>
          <p:cNvPr id="10" name="Text 7"/>
          <p:cNvSpPr/>
          <p:nvPr/>
        </p:nvSpPr>
        <p:spPr>
          <a:xfrm>
            <a:off x="895509" y="4343400"/>
            <a:ext cx="4876800" cy="508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组织专项培训，邀请康复治疗师进校示范，提升教师实操能力。</a:t>
            </a:r>
            <a:endParaRPr lang="en-US" sz="1600" dirty="0"/>
          </a:p>
        </p:txBody>
      </p:sp>
      <p:sp>
        <p:nvSpPr>
          <p:cNvPr id="11" name="Shape 8"/>
          <p:cNvSpPr/>
          <p:nvPr/>
        </p:nvSpPr>
        <p:spPr>
          <a:xfrm>
            <a:off x="294323" y="5054600"/>
            <a:ext cx="342900" cy="304800"/>
          </a:xfrm>
          <a:custGeom>
            <a:avLst/>
            <a:gdLst/>
            <a:ahLst/>
            <a:cxnLst/>
            <a:rect l="l" t="t" r="r" b="b"/>
            <a:pathLst>
              <a:path w="342900" h="304800">
                <a:moveTo>
                  <a:pt x="0" y="114300"/>
                </a:moveTo>
                <a:cubicBezTo>
                  <a:pt x="0" y="93285"/>
                  <a:pt x="17085" y="76200"/>
                  <a:pt x="38100" y="76200"/>
                </a:cubicBezTo>
                <a:lnTo>
                  <a:pt x="76200" y="76200"/>
                </a:lnTo>
                <a:lnTo>
                  <a:pt x="152340" y="7680"/>
                </a:lnTo>
                <a:cubicBezTo>
                  <a:pt x="163235" y="-2084"/>
                  <a:pt x="179725" y="-2084"/>
                  <a:pt x="190560" y="7680"/>
                </a:cubicBezTo>
                <a:lnTo>
                  <a:pt x="266700" y="76200"/>
                </a:lnTo>
                <a:lnTo>
                  <a:pt x="304800" y="76200"/>
                </a:lnTo>
                <a:cubicBezTo>
                  <a:pt x="325815" y="76200"/>
                  <a:pt x="342900" y="93285"/>
                  <a:pt x="342900" y="114300"/>
                </a:cubicBezTo>
                <a:lnTo>
                  <a:pt x="342900" y="266700"/>
                </a:lnTo>
                <a:cubicBezTo>
                  <a:pt x="342900" y="287715"/>
                  <a:pt x="325815" y="304800"/>
                  <a:pt x="304800" y="304800"/>
                </a:cubicBezTo>
                <a:lnTo>
                  <a:pt x="38100" y="304800"/>
                </a:lnTo>
                <a:cubicBezTo>
                  <a:pt x="17085" y="304800"/>
                  <a:pt x="0" y="287715"/>
                  <a:pt x="0" y="266700"/>
                </a:cubicBezTo>
                <a:lnTo>
                  <a:pt x="0" y="114300"/>
                </a:lnTo>
                <a:close/>
                <a:moveTo>
                  <a:pt x="133350" y="223838"/>
                </a:moveTo>
                <a:lnTo>
                  <a:pt x="133350" y="276225"/>
                </a:lnTo>
                <a:lnTo>
                  <a:pt x="209550" y="276225"/>
                </a:lnTo>
                <a:lnTo>
                  <a:pt x="209550" y="223838"/>
                </a:lnTo>
                <a:cubicBezTo>
                  <a:pt x="209550" y="210681"/>
                  <a:pt x="198894" y="200025"/>
                  <a:pt x="185738" y="200025"/>
                </a:cubicBezTo>
                <a:lnTo>
                  <a:pt x="157163" y="200025"/>
                </a:lnTo>
                <a:cubicBezTo>
                  <a:pt x="144006" y="200025"/>
                  <a:pt x="133350" y="210681"/>
                  <a:pt x="133350" y="223838"/>
                </a:cubicBezTo>
                <a:close/>
                <a:moveTo>
                  <a:pt x="66675" y="228600"/>
                </a:moveTo>
                <a:cubicBezTo>
                  <a:pt x="71914" y="228600"/>
                  <a:pt x="76200" y="224314"/>
                  <a:pt x="76200" y="219075"/>
                </a:cubicBezTo>
                <a:lnTo>
                  <a:pt x="76200" y="200025"/>
                </a:lnTo>
                <a:cubicBezTo>
                  <a:pt x="76200" y="194786"/>
                  <a:pt x="71914" y="190500"/>
                  <a:pt x="66675" y="190500"/>
                </a:cubicBezTo>
                <a:lnTo>
                  <a:pt x="47625" y="190500"/>
                </a:lnTo>
                <a:cubicBezTo>
                  <a:pt x="42386" y="190500"/>
                  <a:pt x="38100" y="194786"/>
                  <a:pt x="38100" y="200025"/>
                </a:cubicBezTo>
                <a:lnTo>
                  <a:pt x="38100" y="219075"/>
                </a:lnTo>
                <a:cubicBezTo>
                  <a:pt x="38100" y="224314"/>
                  <a:pt x="42386" y="228600"/>
                  <a:pt x="47625" y="228600"/>
                </a:cubicBezTo>
                <a:lnTo>
                  <a:pt x="66675" y="228600"/>
                </a:lnTo>
                <a:close/>
                <a:moveTo>
                  <a:pt x="76200" y="142875"/>
                </a:moveTo>
                <a:lnTo>
                  <a:pt x="76200" y="123825"/>
                </a:lnTo>
                <a:cubicBezTo>
                  <a:pt x="76200" y="118586"/>
                  <a:pt x="71914" y="114300"/>
                  <a:pt x="66675" y="114300"/>
                </a:cubicBezTo>
                <a:lnTo>
                  <a:pt x="47625" y="114300"/>
                </a:lnTo>
                <a:cubicBezTo>
                  <a:pt x="42386" y="114300"/>
                  <a:pt x="38100" y="118586"/>
                  <a:pt x="38100" y="123825"/>
                </a:cubicBezTo>
                <a:lnTo>
                  <a:pt x="38100" y="142875"/>
                </a:lnTo>
                <a:cubicBezTo>
                  <a:pt x="38100" y="148114"/>
                  <a:pt x="42386" y="152400"/>
                  <a:pt x="47625" y="152400"/>
                </a:cubicBezTo>
                <a:lnTo>
                  <a:pt x="66675" y="152400"/>
                </a:lnTo>
                <a:cubicBezTo>
                  <a:pt x="71914" y="152400"/>
                  <a:pt x="76200" y="148114"/>
                  <a:pt x="76200" y="142875"/>
                </a:cubicBezTo>
                <a:close/>
                <a:moveTo>
                  <a:pt x="295275" y="228600"/>
                </a:moveTo>
                <a:cubicBezTo>
                  <a:pt x="300514" y="228600"/>
                  <a:pt x="304800" y="224314"/>
                  <a:pt x="304800" y="219075"/>
                </a:cubicBezTo>
                <a:lnTo>
                  <a:pt x="304800" y="200025"/>
                </a:lnTo>
                <a:cubicBezTo>
                  <a:pt x="304800" y="194786"/>
                  <a:pt x="300514" y="190500"/>
                  <a:pt x="295275" y="190500"/>
                </a:cubicBezTo>
                <a:lnTo>
                  <a:pt x="276225" y="190500"/>
                </a:lnTo>
                <a:cubicBezTo>
                  <a:pt x="270986" y="190500"/>
                  <a:pt x="266700" y="194786"/>
                  <a:pt x="266700" y="200025"/>
                </a:cubicBezTo>
                <a:lnTo>
                  <a:pt x="266700" y="219075"/>
                </a:lnTo>
                <a:cubicBezTo>
                  <a:pt x="266700" y="224314"/>
                  <a:pt x="270986" y="228600"/>
                  <a:pt x="276225" y="228600"/>
                </a:cubicBezTo>
                <a:lnTo>
                  <a:pt x="295275" y="228600"/>
                </a:lnTo>
                <a:close/>
                <a:moveTo>
                  <a:pt x="304800" y="142875"/>
                </a:moveTo>
                <a:lnTo>
                  <a:pt x="304800" y="123825"/>
                </a:lnTo>
                <a:cubicBezTo>
                  <a:pt x="304800" y="118586"/>
                  <a:pt x="300514" y="114300"/>
                  <a:pt x="295275" y="114300"/>
                </a:cubicBezTo>
                <a:lnTo>
                  <a:pt x="276225" y="114300"/>
                </a:lnTo>
                <a:cubicBezTo>
                  <a:pt x="270986" y="114300"/>
                  <a:pt x="266700" y="118586"/>
                  <a:pt x="266700" y="123825"/>
                </a:cubicBezTo>
                <a:lnTo>
                  <a:pt x="266700" y="142875"/>
                </a:lnTo>
                <a:cubicBezTo>
                  <a:pt x="266700" y="148114"/>
                  <a:pt x="270986" y="152400"/>
                  <a:pt x="276225" y="152400"/>
                </a:cubicBezTo>
                <a:lnTo>
                  <a:pt x="295275" y="152400"/>
                </a:lnTo>
                <a:cubicBezTo>
                  <a:pt x="300514" y="152400"/>
                  <a:pt x="304800" y="148114"/>
                  <a:pt x="304800" y="142875"/>
                </a:cubicBezTo>
                <a:close/>
                <a:moveTo>
                  <a:pt x="171450" y="152400"/>
                </a:moveTo>
                <a:cubicBezTo>
                  <a:pt x="192478" y="152400"/>
                  <a:pt x="209550" y="135328"/>
                  <a:pt x="209550" y="114300"/>
                </a:cubicBezTo>
                <a:cubicBezTo>
                  <a:pt x="209550" y="93272"/>
                  <a:pt x="192478" y="76200"/>
                  <a:pt x="171450" y="76200"/>
                </a:cubicBezTo>
                <a:cubicBezTo>
                  <a:pt x="150422" y="76200"/>
                  <a:pt x="133350" y="93272"/>
                  <a:pt x="133350" y="114300"/>
                </a:cubicBezTo>
                <a:cubicBezTo>
                  <a:pt x="133350" y="135328"/>
                  <a:pt x="150422" y="152400"/>
                  <a:pt x="171450" y="152400"/>
                </a:cubicBezTo>
                <a:close/>
              </a:path>
            </a:pathLst>
          </a:custGeom>
          <a:solidFill>
            <a:srgbClr val="0056B3"/>
          </a:solidFill>
        </p:spPr>
      </p:sp>
      <p:sp>
        <p:nvSpPr>
          <p:cNvPr id="12" name="Text 9"/>
          <p:cNvSpPr/>
          <p:nvPr/>
        </p:nvSpPr>
        <p:spPr>
          <a:xfrm>
            <a:off x="830104" y="5054600"/>
            <a:ext cx="49657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优化资源教室功能</a:t>
            </a:r>
            <a:endParaRPr lang="en-US" sz="1600" dirty="0"/>
          </a:p>
        </p:txBody>
      </p:sp>
      <p:sp>
        <p:nvSpPr>
          <p:cNvPr id="13" name="Text 10"/>
          <p:cNvSpPr/>
          <p:nvPr/>
        </p:nvSpPr>
        <p:spPr>
          <a:xfrm>
            <a:off x="830104" y="5359400"/>
            <a:ext cx="4953000" cy="508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配备康复器材，制定使用时间表，实现每日30分钟感统+20分钟学业辅导。</a:t>
            </a:r>
            <a:endParaRPr lang="en-US" sz="1600" dirty="0"/>
          </a:p>
        </p:txBody>
      </p:sp>
      <p:pic>
        <p:nvPicPr>
          <p:cNvPr id="14" name="Image 1" descr="https://kimi-web-img.moonshot.cn/img/strategistsworld.com/403e9c22ea2c2bf3bd5cb5eba43f359cb76c2744.jpg"/>
          <p:cNvPicPr>
            <a:picLocks noChangeAspect="1"/>
          </p:cNvPicPr>
          <p:nvPr/>
        </p:nvPicPr>
        <p:blipFill>
          <a:blip r:embed="rId2"/>
          <a:srcRect l="22400" r="22400"/>
          <a:stretch>
            <a:fillRect/>
          </a:stretch>
        </p:blipFill>
        <p:spPr>
          <a:xfrm>
            <a:off x="7362190" y="3022600"/>
            <a:ext cx="3042920" cy="3307715"/>
          </a:xfrm>
          <a:prstGeom prst="roundRect">
            <a:avLst>
              <a:gd name="adj" fmla="val 2609"/>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Text 0"/>
          <p:cNvSpPr/>
          <p:nvPr/>
        </p:nvSpPr>
        <p:spPr>
          <a:xfrm>
            <a:off x="158750" y="1524000"/>
            <a:ext cx="4203700" cy="457200"/>
          </a:xfrm>
          <a:prstGeom prst="rect">
            <a:avLst/>
          </a:prstGeom>
          <a:noFill/>
        </p:spPr>
        <p:txBody>
          <a:bodyPr wrap="square" lIns="0" tIns="0" rIns="0" bIns="0" rtlCol="0" anchor="ctr"/>
          <a:lstStyle/>
          <a:p>
            <a:pPr algn="ctr">
              <a:lnSpc>
                <a:spcPct val="100000"/>
              </a:lnSpc>
            </a:pPr>
            <a:r>
              <a:rPr lang="en-US" altLang="zh-CN" sz="3000" dirty="0">
                <a:solidFill>
                  <a:schemeClr val="accent1"/>
                </a:solidFill>
                <a:effectLst>
                  <a:outerShdw blurRad="38100" dist="25400" dir="5400000" algn="ctr" rotWithShape="0">
                    <a:srgbClr val="6E747A">
                      <a:alpha val="43000"/>
                    </a:srgbClr>
                  </a:outerShdw>
                </a:effectLst>
                <a:sym typeface="+mn-ea"/>
              </a:rPr>
              <a:t>School Action 2</a:t>
            </a:r>
            <a:endParaRPr lang="en-US" sz="1600" dirty="0"/>
          </a:p>
        </p:txBody>
      </p:sp>
      <p:sp>
        <p:nvSpPr>
          <p:cNvPr id="4" name="Text 1"/>
          <p:cNvSpPr/>
          <p:nvPr/>
        </p:nvSpPr>
        <p:spPr>
          <a:xfrm>
            <a:off x="2286000" y="2286000"/>
            <a:ext cx="7620000" cy="304800"/>
          </a:xfrm>
          <a:prstGeom prst="rect">
            <a:avLst/>
          </a:prstGeom>
          <a:noFill/>
        </p:spPr>
        <p:txBody>
          <a:bodyPr wrap="square" lIns="0" tIns="0" rIns="0" bIns="0" rtlCol="0" anchor="ctr"/>
          <a:lstStyle/>
          <a:p>
            <a:pPr algn="ctr">
              <a:lnSpc>
                <a:spcPct val="130000"/>
              </a:lnSpc>
            </a:pPr>
            <a:r>
              <a:rPr lang="en-US" altLang="zh-CN" sz="2400" dirty="0">
                <a:ln/>
                <a:solidFill>
                  <a:schemeClr val="accent1"/>
                </a:solidFill>
                <a:effectLst>
                  <a:outerShdw blurRad="38100" dist="25400" dir="5400000" algn="ctr" rotWithShape="0">
                    <a:srgbClr val="6E747A">
                      <a:alpha val="43000"/>
                    </a:srgbClr>
                  </a:outerShdw>
                </a:effectLst>
              </a:rPr>
              <a:t>Multi-sensory courses and segmented teaching</a:t>
            </a:r>
            <a:endParaRPr lang="en-US" altLang="zh-CN" sz="2400" dirty="0">
              <a:ln/>
              <a:solidFill>
                <a:schemeClr val="accent1"/>
              </a:solidFill>
              <a:effectLst>
                <a:outerShdw blurRad="38100" dist="25400" dir="5400000" algn="ctr" rotWithShape="0">
                  <a:srgbClr val="6E747A">
                    <a:alpha val="43000"/>
                  </a:srgbClr>
                </a:outerShdw>
              </a:effectLst>
            </a:endParaRPr>
          </a:p>
        </p:txBody>
      </p:sp>
      <p:sp>
        <p:nvSpPr>
          <p:cNvPr id="5" name="Shape 2"/>
          <p:cNvSpPr/>
          <p:nvPr/>
        </p:nvSpPr>
        <p:spPr>
          <a:xfrm>
            <a:off x="254000" y="2997200"/>
            <a:ext cx="3759200" cy="2336800"/>
          </a:xfrm>
          <a:custGeom>
            <a:avLst/>
            <a:gdLst/>
            <a:ahLst/>
            <a:cxnLst/>
            <a:rect l="l" t="t" r="r" b="b"/>
            <a:pathLst>
              <a:path w="3759200" h="2336800">
                <a:moveTo>
                  <a:pt x="101604" y="0"/>
                </a:moveTo>
                <a:lnTo>
                  <a:pt x="3657596" y="0"/>
                </a:lnTo>
                <a:cubicBezTo>
                  <a:pt x="3713710" y="0"/>
                  <a:pt x="3759200" y="45490"/>
                  <a:pt x="3759200" y="101604"/>
                </a:cubicBezTo>
                <a:lnTo>
                  <a:pt x="3759200" y="2235196"/>
                </a:lnTo>
                <a:cubicBezTo>
                  <a:pt x="3759200" y="2291310"/>
                  <a:pt x="3713710" y="2336800"/>
                  <a:pt x="3657596" y="2336800"/>
                </a:cubicBezTo>
                <a:lnTo>
                  <a:pt x="101604" y="2336800"/>
                </a:lnTo>
                <a:cubicBezTo>
                  <a:pt x="45490" y="2336800"/>
                  <a:pt x="0" y="2291310"/>
                  <a:pt x="0" y="2235196"/>
                </a:cubicBezTo>
                <a:lnTo>
                  <a:pt x="0" y="101604"/>
                </a:lnTo>
                <a:cubicBezTo>
                  <a:pt x="0" y="45527"/>
                  <a:pt x="45527" y="0"/>
                  <a:pt x="101604" y="0"/>
                </a:cubicBezTo>
                <a:close/>
              </a:path>
            </a:pathLst>
          </a:custGeom>
          <a:solidFill>
            <a:srgbClr val="007BFF">
              <a:alpha val="10196"/>
            </a:srgbClr>
          </a:solidFill>
        </p:spPr>
      </p:sp>
      <p:sp>
        <p:nvSpPr>
          <p:cNvPr id="6" name="Shape 3"/>
          <p:cNvSpPr/>
          <p:nvPr/>
        </p:nvSpPr>
        <p:spPr>
          <a:xfrm>
            <a:off x="1727200" y="32004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007BFF">
              <a:alpha val="20000"/>
            </a:srgbClr>
          </a:solidFill>
        </p:spPr>
      </p:sp>
      <p:sp>
        <p:nvSpPr>
          <p:cNvPr id="7" name="Shape 4"/>
          <p:cNvSpPr/>
          <p:nvPr/>
        </p:nvSpPr>
        <p:spPr>
          <a:xfrm>
            <a:off x="1922462" y="3416300"/>
            <a:ext cx="428625" cy="381000"/>
          </a:xfrm>
          <a:custGeom>
            <a:avLst/>
            <a:gdLst/>
            <a:ahLst/>
            <a:cxnLst/>
            <a:rect l="l" t="t" r="r" b="b"/>
            <a:pathLst>
              <a:path w="428625" h="381000">
                <a:moveTo>
                  <a:pt x="119063" y="0"/>
                </a:moveTo>
                <a:cubicBezTo>
                  <a:pt x="132234" y="0"/>
                  <a:pt x="142875" y="10641"/>
                  <a:pt x="142875" y="23812"/>
                </a:cubicBezTo>
                <a:lnTo>
                  <a:pt x="142875" y="47625"/>
                </a:lnTo>
                <a:lnTo>
                  <a:pt x="238125" y="47625"/>
                </a:lnTo>
                <a:cubicBezTo>
                  <a:pt x="251296" y="47625"/>
                  <a:pt x="261938" y="58266"/>
                  <a:pt x="261938" y="71438"/>
                </a:cubicBezTo>
                <a:cubicBezTo>
                  <a:pt x="261938" y="84609"/>
                  <a:pt x="251296" y="95250"/>
                  <a:pt x="238125" y="95250"/>
                </a:cubicBezTo>
                <a:lnTo>
                  <a:pt x="230981" y="95250"/>
                </a:lnTo>
                <a:lnTo>
                  <a:pt x="224730" y="112440"/>
                </a:lnTo>
                <a:cubicBezTo>
                  <a:pt x="212527" y="146075"/>
                  <a:pt x="194146" y="176808"/>
                  <a:pt x="171004" y="203225"/>
                </a:cubicBezTo>
                <a:cubicBezTo>
                  <a:pt x="181570" y="209773"/>
                  <a:pt x="192584" y="215578"/>
                  <a:pt x="204043" y="220712"/>
                </a:cubicBezTo>
                <a:lnTo>
                  <a:pt x="241548" y="237381"/>
                </a:lnTo>
                <a:lnTo>
                  <a:pt x="287834" y="133201"/>
                </a:lnTo>
                <a:cubicBezTo>
                  <a:pt x="291629" y="124569"/>
                  <a:pt x="300186" y="119063"/>
                  <a:pt x="309562" y="119063"/>
                </a:cubicBezTo>
                <a:cubicBezTo>
                  <a:pt x="318939" y="119063"/>
                  <a:pt x="327496" y="124569"/>
                  <a:pt x="331291" y="133201"/>
                </a:cubicBezTo>
                <a:lnTo>
                  <a:pt x="426541" y="347514"/>
                </a:lnTo>
                <a:cubicBezTo>
                  <a:pt x="431899" y="359569"/>
                  <a:pt x="426467" y="373633"/>
                  <a:pt x="414486" y="378916"/>
                </a:cubicBezTo>
                <a:cubicBezTo>
                  <a:pt x="402506" y="384200"/>
                  <a:pt x="388367" y="378842"/>
                  <a:pt x="383084" y="366861"/>
                </a:cubicBezTo>
                <a:lnTo>
                  <a:pt x="368201" y="333375"/>
                </a:lnTo>
                <a:lnTo>
                  <a:pt x="250999" y="333375"/>
                </a:lnTo>
                <a:lnTo>
                  <a:pt x="236116" y="366861"/>
                </a:lnTo>
                <a:cubicBezTo>
                  <a:pt x="230758" y="378916"/>
                  <a:pt x="216694" y="384274"/>
                  <a:pt x="204713" y="378916"/>
                </a:cubicBezTo>
                <a:cubicBezTo>
                  <a:pt x="192732" y="373559"/>
                  <a:pt x="187300" y="359494"/>
                  <a:pt x="192658" y="347514"/>
                </a:cubicBezTo>
                <a:lnTo>
                  <a:pt x="222275" y="280913"/>
                </a:lnTo>
                <a:lnTo>
                  <a:pt x="184770" y="264244"/>
                </a:lnTo>
                <a:cubicBezTo>
                  <a:pt x="167655" y="256654"/>
                  <a:pt x="151284" y="247576"/>
                  <a:pt x="135806" y="237158"/>
                </a:cubicBezTo>
                <a:cubicBezTo>
                  <a:pt x="119955" y="249957"/>
                  <a:pt x="102617" y="261119"/>
                  <a:pt x="84088" y="270421"/>
                </a:cubicBezTo>
                <a:lnTo>
                  <a:pt x="58266" y="283220"/>
                </a:lnTo>
                <a:cubicBezTo>
                  <a:pt x="46509" y="289099"/>
                  <a:pt x="32221" y="284336"/>
                  <a:pt x="26343" y="272579"/>
                </a:cubicBezTo>
                <a:cubicBezTo>
                  <a:pt x="20464" y="260821"/>
                  <a:pt x="25226" y="246534"/>
                  <a:pt x="36984" y="240655"/>
                </a:cubicBezTo>
                <a:lnTo>
                  <a:pt x="62657" y="227781"/>
                </a:lnTo>
                <a:cubicBezTo>
                  <a:pt x="74786" y="221679"/>
                  <a:pt x="86320" y="214610"/>
                  <a:pt x="97185" y="206722"/>
                </a:cubicBezTo>
                <a:cubicBezTo>
                  <a:pt x="86916" y="197272"/>
                  <a:pt x="77242" y="187077"/>
                  <a:pt x="68238" y="176287"/>
                </a:cubicBezTo>
                <a:lnTo>
                  <a:pt x="60722" y="167208"/>
                </a:lnTo>
                <a:cubicBezTo>
                  <a:pt x="52313" y="157088"/>
                  <a:pt x="53653" y="142056"/>
                  <a:pt x="63773" y="133648"/>
                </a:cubicBezTo>
                <a:cubicBezTo>
                  <a:pt x="73893" y="125239"/>
                  <a:pt x="88925" y="126578"/>
                  <a:pt x="97334" y="136699"/>
                </a:cubicBezTo>
                <a:lnTo>
                  <a:pt x="104924" y="145777"/>
                </a:lnTo>
                <a:cubicBezTo>
                  <a:pt x="113481" y="156121"/>
                  <a:pt x="122858" y="165720"/>
                  <a:pt x="132755" y="174575"/>
                </a:cubicBezTo>
                <a:cubicBezTo>
                  <a:pt x="153219" y="151954"/>
                  <a:pt x="169366" y="125388"/>
                  <a:pt x="180008" y="96143"/>
                </a:cubicBezTo>
                <a:lnTo>
                  <a:pt x="180380" y="95250"/>
                </a:lnTo>
                <a:lnTo>
                  <a:pt x="23887" y="95250"/>
                </a:lnTo>
                <a:cubicBezTo>
                  <a:pt x="10641" y="95250"/>
                  <a:pt x="0" y="84609"/>
                  <a:pt x="0" y="71438"/>
                </a:cubicBezTo>
                <a:cubicBezTo>
                  <a:pt x="0" y="58266"/>
                  <a:pt x="10641" y="47625"/>
                  <a:pt x="23812" y="47625"/>
                </a:cubicBezTo>
                <a:lnTo>
                  <a:pt x="95250" y="47625"/>
                </a:lnTo>
                <a:lnTo>
                  <a:pt x="95250" y="23812"/>
                </a:lnTo>
                <a:cubicBezTo>
                  <a:pt x="95250" y="10641"/>
                  <a:pt x="105891" y="0"/>
                  <a:pt x="119063" y="0"/>
                </a:cubicBezTo>
                <a:close/>
                <a:moveTo>
                  <a:pt x="309563" y="201513"/>
                </a:moveTo>
                <a:lnTo>
                  <a:pt x="272132" y="285750"/>
                </a:lnTo>
                <a:lnTo>
                  <a:pt x="346993" y="285750"/>
                </a:lnTo>
                <a:lnTo>
                  <a:pt x="309563" y="201513"/>
                </a:lnTo>
                <a:close/>
              </a:path>
            </a:pathLst>
          </a:custGeom>
          <a:solidFill>
            <a:srgbClr val="007BFF"/>
          </a:solidFill>
        </p:spPr>
      </p:sp>
      <p:sp>
        <p:nvSpPr>
          <p:cNvPr id="8" name="Text 5"/>
          <p:cNvSpPr/>
          <p:nvPr/>
        </p:nvSpPr>
        <p:spPr>
          <a:xfrm>
            <a:off x="400050" y="4165600"/>
            <a:ext cx="3467100" cy="355600"/>
          </a:xfrm>
          <a:prstGeom prst="rect">
            <a:avLst/>
          </a:prstGeom>
          <a:noFill/>
        </p:spPr>
        <p:txBody>
          <a:bodyPr wrap="square" lIns="0" tIns="0" rIns="0" bIns="0" rtlCol="0" anchor="ctr"/>
          <a:lstStyle/>
          <a:p>
            <a:pPr algn="ctr">
              <a:lnSpc>
                <a:spcPct val="130000"/>
              </a:lnSpc>
            </a:pPr>
            <a:r>
              <a:rPr lang="en-US" sz="18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语文：多感官输入</a:t>
            </a:r>
            <a:endParaRPr lang="en-US" sz="1600" dirty="0"/>
          </a:p>
        </p:txBody>
      </p:sp>
      <p:sp>
        <p:nvSpPr>
          <p:cNvPr id="9" name="Text 6"/>
          <p:cNvSpPr/>
          <p:nvPr/>
        </p:nvSpPr>
        <p:spPr>
          <a:xfrm>
            <a:off x="412750" y="4622800"/>
            <a:ext cx="3441700" cy="508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拼音教学结合</a:t>
            </a:r>
            <a:r>
              <a:rPr lang="en-US" sz="1400" dirty="0">
                <a:solidFill>
                  <a:srgbClr val="333333"/>
                </a:solidFill>
                <a:highlight>
                  <a:srgbClr val="FFC107">
                    <a:alpha val="100000"/>
                  </a:srgbClr>
                </a:highlight>
                <a:latin typeface="Noto Sans SC" panose="020B0200000000000000" pitchFamily="34" charset="-122"/>
                <a:ea typeface="Noto Sans SC" panose="020B0200000000000000" pitchFamily="34" charset="-122"/>
                <a:cs typeface="Noto Sans SC" panose="020B0200000000000000" pitchFamily="34" charset="-120"/>
              </a:rPr>
              <a:t> 口型、卡片、游戏 </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；生字采用“先描红再仿写”分层模式。</a:t>
            </a:r>
            <a:endParaRPr lang="en-US" sz="1600" dirty="0"/>
          </a:p>
        </p:txBody>
      </p:sp>
      <p:sp>
        <p:nvSpPr>
          <p:cNvPr id="10" name="Shape 7"/>
          <p:cNvSpPr/>
          <p:nvPr/>
        </p:nvSpPr>
        <p:spPr>
          <a:xfrm>
            <a:off x="4216400" y="2997200"/>
            <a:ext cx="3759200" cy="2336800"/>
          </a:xfrm>
          <a:custGeom>
            <a:avLst/>
            <a:gdLst/>
            <a:ahLst/>
            <a:cxnLst/>
            <a:rect l="l" t="t" r="r" b="b"/>
            <a:pathLst>
              <a:path w="3759200" h="2336800">
                <a:moveTo>
                  <a:pt x="101604" y="0"/>
                </a:moveTo>
                <a:lnTo>
                  <a:pt x="3657596" y="0"/>
                </a:lnTo>
                <a:cubicBezTo>
                  <a:pt x="3713710" y="0"/>
                  <a:pt x="3759200" y="45490"/>
                  <a:pt x="3759200" y="101604"/>
                </a:cubicBezTo>
                <a:lnTo>
                  <a:pt x="3759200" y="2235196"/>
                </a:lnTo>
                <a:cubicBezTo>
                  <a:pt x="3759200" y="2291310"/>
                  <a:pt x="3713710" y="2336800"/>
                  <a:pt x="3657596" y="2336800"/>
                </a:cubicBezTo>
                <a:lnTo>
                  <a:pt x="101604" y="2336800"/>
                </a:lnTo>
                <a:cubicBezTo>
                  <a:pt x="45490" y="2336800"/>
                  <a:pt x="0" y="2291310"/>
                  <a:pt x="0" y="2235196"/>
                </a:cubicBezTo>
                <a:lnTo>
                  <a:pt x="0" y="101604"/>
                </a:lnTo>
                <a:cubicBezTo>
                  <a:pt x="0" y="45527"/>
                  <a:pt x="45527" y="0"/>
                  <a:pt x="101604" y="0"/>
                </a:cubicBezTo>
                <a:close/>
              </a:path>
            </a:pathLst>
          </a:custGeom>
          <a:solidFill>
            <a:srgbClr val="007BFF">
              <a:alpha val="10196"/>
            </a:srgbClr>
          </a:solidFill>
        </p:spPr>
      </p:sp>
      <p:sp>
        <p:nvSpPr>
          <p:cNvPr id="11" name="Shape 8"/>
          <p:cNvSpPr/>
          <p:nvPr/>
        </p:nvSpPr>
        <p:spPr>
          <a:xfrm>
            <a:off x="5689600" y="32004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007BFF">
              <a:alpha val="20000"/>
            </a:srgbClr>
          </a:solidFill>
        </p:spPr>
      </p:sp>
      <p:sp>
        <p:nvSpPr>
          <p:cNvPr id="12" name="Shape 9"/>
          <p:cNvSpPr/>
          <p:nvPr/>
        </p:nvSpPr>
        <p:spPr>
          <a:xfrm>
            <a:off x="5956300" y="3416300"/>
            <a:ext cx="285750" cy="381000"/>
          </a:xfrm>
          <a:custGeom>
            <a:avLst/>
            <a:gdLst/>
            <a:ahLst/>
            <a:cxnLst/>
            <a:rect l="l" t="t" r="r" b="b"/>
            <a:pathLst>
              <a:path w="285750" h="381000">
                <a:moveTo>
                  <a:pt x="47625" y="0"/>
                </a:moveTo>
                <a:cubicBezTo>
                  <a:pt x="21357" y="0"/>
                  <a:pt x="0" y="21357"/>
                  <a:pt x="0" y="47625"/>
                </a:cubicBezTo>
                <a:lnTo>
                  <a:pt x="0" y="333375"/>
                </a:lnTo>
                <a:cubicBezTo>
                  <a:pt x="0" y="359643"/>
                  <a:pt x="21357" y="381000"/>
                  <a:pt x="47625" y="381000"/>
                </a:cubicBezTo>
                <a:lnTo>
                  <a:pt x="238125" y="381000"/>
                </a:lnTo>
                <a:cubicBezTo>
                  <a:pt x="264393" y="381000"/>
                  <a:pt x="285750" y="359643"/>
                  <a:pt x="285750" y="333375"/>
                </a:cubicBezTo>
                <a:lnTo>
                  <a:pt x="285750" y="47625"/>
                </a:lnTo>
                <a:cubicBezTo>
                  <a:pt x="285750" y="21357"/>
                  <a:pt x="264393" y="0"/>
                  <a:pt x="238125" y="0"/>
                </a:cubicBezTo>
                <a:lnTo>
                  <a:pt x="47625" y="0"/>
                </a:lnTo>
                <a:close/>
                <a:moveTo>
                  <a:pt x="71438" y="47625"/>
                </a:moveTo>
                <a:lnTo>
                  <a:pt x="214313" y="47625"/>
                </a:lnTo>
                <a:cubicBezTo>
                  <a:pt x="227484" y="47625"/>
                  <a:pt x="238125" y="58266"/>
                  <a:pt x="238125" y="71438"/>
                </a:cubicBezTo>
                <a:lnTo>
                  <a:pt x="238125" y="95250"/>
                </a:lnTo>
                <a:cubicBezTo>
                  <a:pt x="238125" y="108421"/>
                  <a:pt x="227484" y="119063"/>
                  <a:pt x="214313" y="119063"/>
                </a:cubicBezTo>
                <a:lnTo>
                  <a:pt x="71438" y="119063"/>
                </a:lnTo>
                <a:cubicBezTo>
                  <a:pt x="58266" y="119063"/>
                  <a:pt x="47625" y="108421"/>
                  <a:pt x="47625" y="95250"/>
                </a:cubicBezTo>
                <a:lnTo>
                  <a:pt x="47625" y="71438"/>
                </a:lnTo>
                <a:cubicBezTo>
                  <a:pt x="47625" y="58266"/>
                  <a:pt x="58266" y="47625"/>
                  <a:pt x="71438" y="47625"/>
                </a:cubicBezTo>
                <a:close/>
                <a:moveTo>
                  <a:pt x="83344" y="172641"/>
                </a:moveTo>
                <a:cubicBezTo>
                  <a:pt x="83344" y="182497"/>
                  <a:pt x="75341" y="190500"/>
                  <a:pt x="65484" y="190500"/>
                </a:cubicBezTo>
                <a:cubicBezTo>
                  <a:pt x="55628" y="190500"/>
                  <a:pt x="47625" y="182497"/>
                  <a:pt x="47625" y="172641"/>
                </a:cubicBezTo>
                <a:cubicBezTo>
                  <a:pt x="47625" y="162784"/>
                  <a:pt x="55628" y="154781"/>
                  <a:pt x="65484" y="154781"/>
                </a:cubicBezTo>
                <a:cubicBezTo>
                  <a:pt x="75341" y="154781"/>
                  <a:pt x="83344" y="162784"/>
                  <a:pt x="83344" y="172641"/>
                </a:cubicBezTo>
                <a:close/>
                <a:moveTo>
                  <a:pt x="142875" y="190500"/>
                </a:moveTo>
                <a:cubicBezTo>
                  <a:pt x="133018" y="190500"/>
                  <a:pt x="125016" y="182497"/>
                  <a:pt x="125016" y="172641"/>
                </a:cubicBezTo>
                <a:cubicBezTo>
                  <a:pt x="125016" y="162784"/>
                  <a:pt x="133018" y="154781"/>
                  <a:pt x="142875" y="154781"/>
                </a:cubicBezTo>
                <a:cubicBezTo>
                  <a:pt x="152732" y="154781"/>
                  <a:pt x="160734" y="162784"/>
                  <a:pt x="160734" y="172641"/>
                </a:cubicBezTo>
                <a:cubicBezTo>
                  <a:pt x="160734" y="182497"/>
                  <a:pt x="152732" y="190500"/>
                  <a:pt x="142875" y="190500"/>
                </a:cubicBezTo>
                <a:close/>
                <a:moveTo>
                  <a:pt x="238125" y="172641"/>
                </a:moveTo>
                <a:cubicBezTo>
                  <a:pt x="238125" y="182497"/>
                  <a:pt x="230122" y="190500"/>
                  <a:pt x="220266" y="190500"/>
                </a:cubicBezTo>
                <a:cubicBezTo>
                  <a:pt x="210409" y="190500"/>
                  <a:pt x="202406" y="182497"/>
                  <a:pt x="202406" y="172641"/>
                </a:cubicBezTo>
                <a:cubicBezTo>
                  <a:pt x="202406" y="162784"/>
                  <a:pt x="210409" y="154781"/>
                  <a:pt x="220266" y="154781"/>
                </a:cubicBezTo>
                <a:cubicBezTo>
                  <a:pt x="230122" y="154781"/>
                  <a:pt x="238125" y="162784"/>
                  <a:pt x="238125" y="172641"/>
                </a:cubicBezTo>
                <a:close/>
                <a:moveTo>
                  <a:pt x="65484" y="261938"/>
                </a:moveTo>
                <a:cubicBezTo>
                  <a:pt x="55628" y="261938"/>
                  <a:pt x="47625" y="253935"/>
                  <a:pt x="47625" y="244078"/>
                </a:cubicBezTo>
                <a:cubicBezTo>
                  <a:pt x="47625" y="234221"/>
                  <a:pt x="55628" y="226219"/>
                  <a:pt x="65484" y="226219"/>
                </a:cubicBezTo>
                <a:cubicBezTo>
                  <a:pt x="75341" y="226219"/>
                  <a:pt x="83344" y="234221"/>
                  <a:pt x="83344" y="244078"/>
                </a:cubicBezTo>
                <a:cubicBezTo>
                  <a:pt x="83344" y="253935"/>
                  <a:pt x="75341" y="261938"/>
                  <a:pt x="65484" y="261938"/>
                </a:cubicBezTo>
                <a:close/>
                <a:moveTo>
                  <a:pt x="160734" y="244078"/>
                </a:moveTo>
                <a:cubicBezTo>
                  <a:pt x="160734" y="253935"/>
                  <a:pt x="152732" y="261938"/>
                  <a:pt x="142875" y="261938"/>
                </a:cubicBezTo>
                <a:cubicBezTo>
                  <a:pt x="133018" y="261938"/>
                  <a:pt x="125016" y="253935"/>
                  <a:pt x="125016" y="244078"/>
                </a:cubicBezTo>
                <a:cubicBezTo>
                  <a:pt x="125016" y="234221"/>
                  <a:pt x="133018" y="226219"/>
                  <a:pt x="142875" y="226219"/>
                </a:cubicBezTo>
                <a:cubicBezTo>
                  <a:pt x="152732" y="226219"/>
                  <a:pt x="160734" y="234221"/>
                  <a:pt x="160734" y="244078"/>
                </a:cubicBezTo>
                <a:close/>
                <a:moveTo>
                  <a:pt x="220266" y="261938"/>
                </a:moveTo>
                <a:cubicBezTo>
                  <a:pt x="210409" y="261938"/>
                  <a:pt x="202406" y="253935"/>
                  <a:pt x="202406" y="244078"/>
                </a:cubicBezTo>
                <a:cubicBezTo>
                  <a:pt x="202406" y="234221"/>
                  <a:pt x="210409" y="226219"/>
                  <a:pt x="220266" y="226219"/>
                </a:cubicBezTo>
                <a:cubicBezTo>
                  <a:pt x="230122" y="226219"/>
                  <a:pt x="238125" y="234221"/>
                  <a:pt x="238125" y="244078"/>
                </a:cubicBezTo>
                <a:cubicBezTo>
                  <a:pt x="238125" y="253935"/>
                  <a:pt x="230122" y="261938"/>
                  <a:pt x="220266" y="261938"/>
                </a:cubicBezTo>
                <a:close/>
                <a:moveTo>
                  <a:pt x="47625" y="315516"/>
                </a:moveTo>
                <a:cubicBezTo>
                  <a:pt x="47625" y="305619"/>
                  <a:pt x="55587" y="297656"/>
                  <a:pt x="65484" y="297656"/>
                </a:cubicBezTo>
                <a:lnTo>
                  <a:pt x="148828" y="297656"/>
                </a:lnTo>
                <a:cubicBezTo>
                  <a:pt x="158725" y="297656"/>
                  <a:pt x="166688" y="305619"/>
                  <a:pt x="166688" y="315516"/>
                </a:cubicBezTo>
                <a:cubicBezTo>
                  <a:pt x="166688" y="325413"/>
                  <a:pt x="158725" y="333375"/>
                  <a:pt x="148828" y="333375"/>
                </a:cubicBezTo>
                <a:lnTo>
                  <a:pt x="65484" y="333375"/>
                </a:lnTo>
                <a:cubicBezTo>
                  <a:pt x="55587" y="333375"/>
                  <a:pt x="47625" y="325413"/>
                  <a:pt x="47625" y="315516"/>
                </a:cubicBezTo>
                <a:close/>
                <a:moveTo>
                  <a:pt x="220266" y="297656"/>
                </a:moveTo>
                <a:cubicBezTo>
                  <a:pt x="230163" y="297656"/>
                  <a:pt x="238125" y="305619"/>
                  <a:pt x="238125" y="315516"/>
                </a:cubicBezTo>
                <a:cubicBezTo>
                  <a:pt x="238125" y="325413"/>
                  <a:pt x="230163" y="333375"/>
                  <a:pt x="220266" y="333375"/>
                </a:cubicBezTo>
                <a:cubicBezTo>
                  <a:pt x="210369" y="333375"/>
                  <a:pt x="202406" y="325413"/>
                  <a:pt x="202406" y="315516"/>
                </a:cubicBezTo>
                <a:cubicBezTo>
                  <a:pt x="202406" y="305619"/>
                  <a:pt x="210369" y="297656"/>
                  <a:pt x="220266" y="297656"/>
                </a:cubicBezTo>
                <a:close/>
              </a:path>
            </a:pathLst>
          </a:custGeom>
          <a:solidFill>
            <a:srgbClr val="007BFF"/>
          </a:solidFill>
        </p:spPr>
      </p:sp>
      <p:sp>
        <p:nvSpPr>
          <p:cNvPr id="13" name="Text 10"/>
          <p:cNvSpPr/>
          <p:nvPr/>
        </p:nvSpPr>
        <p:spPr>
          <a:xfrm>
            <a:off x="4362450" y="4165600"/>
            <a:ext cx="3467100" cy="355600"/>
          </a:xfrm>
          <a:prstGeom prst="rect">
            <a:avLst/>
          </a:prstGeom>
          <a:noFill/>
        </p:spPr>
        <p:txBody>
          <a:bodyPr wrap="square" lIns="0" tIns="0" rIns="0" bIns="0" rtlCol="0" anchor="ctr"/>
          <a:lstStyle/>
          <a:p>
            <a:pPr algn="ctr">
              <a:lnSpc>
                <a:spcPct val="130000"/>
              </a:lnSpc>
            </a:pPr>
            <a:r>
              <a:rPr lang="en-US" sz="18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数学：具象化辅助</a:t>
            </a:r>
            <a:endParaRPr lang="en-US" sz="1600" dirty="0"/>
          </a:p>
        </p:txBody>
      </p:sp>
      <p:sp>
        <p:nvSpPr>
          <p:cNvPr id="14" name="Text 11"/>
          <p:cNvSpPr/>
          <p:nvPr/>
        </p:nvSpPr>
        <p:spPr>
          <a:xfrm>
            <a:off x="4375150" y="4622800"/>
            <a:ext cx="3441700" cy="508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应用题用</a:t>
            </a:r>
            <a:r>
              <a:rPr lang="en-US" sz="1400" dirty="0">
                <a:solidFill>
                  <a:srgbClr val="333333"/>
                </a:solidFill>
                <a:highlight>
                  <a:srgbClr val="FFC107">
                    <a:alpha val="100000"/>
                  </a:srgbClr>
                </a:highlight>
                <a:latin typeface="Noto Sans SC" panose="020B0200000000000000" pitchFamily="34" charset="-122"/>
                <a:ea typeface="Noto Sans SC" panose="020B0200000000000000" pitchFamily="34" charset="-122"/>
                <a:cs typeface="Noto Sans SC" panose="020B0200000000000000" pitchFamily="34" charset="-120"/>
              </a:rPr>
              <a:t> 积木、计数器 </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演示；易混淆图形制作成立体模型。</a:t>
            </a:r>
            <a:endParaRPr lang="en-US" sz="1600" dirty="0"/>
          </a:p>
        </p:txBody>
      </p:sp>
      <p:sp>
        <p:nvSpPr>
          <p:cNvPr id="15" name="Shape 12"/>
          <p:cNvSpPr/>
          <p:nvPr/>
        </p:nvSpPr>
        <p:spPr>
          <a:xfrm>
            <a:off x="8178800" y="2997200"/>
            <a:ext cx="3759200" cy="2336800"/>
          </a:xfrm>
          <a:custGeom>
            <a:avLst/>
            <a:gdLst/>
            <a:ahLst/>
            <a:cxnLst/>
            <a:rect l="l" t="t" r="r" b="b"/>
            <a:pathLst>
              <a:path w="3759200" h="2336800">
                <a:moveTo>
                  <a:pt x="101604" y="0"/>
                </a:moveTo>
                <a:lnTo>
                  <a:pt x="3657596" y="0"/>
                </a:lnTo>
                <a:cubicBezTo>
                  <a:pt x="3713710" y="0"/>
                  <a:pt x="3759200" y="45490"/>
                  <a:pt x="3759200" y="101604"/>
                </a:cubicBezTo>
                <a:lnTo>
                  <a:pt x="3759200" y="2235196"/>
                </a:lnTo>
                <a:cubicBezTo>
                  <a:pt x="3759200" y="2291310"/>
                  <a:pt x="3713710" y="2336800"/>
                  <a:pt x="3657596" y="2336800"/>
                </a:cubicBezTo>
                <a:lnTo>
                  <a:pt x="101604" y="2336800"/>
                </a:lnTo>
                <a:cubicBezTo>
                  <a:pt x="45490" y="2336800"/>
                  <a:pt x="0" y="2291310"/>
                  <a:pt x="0" y="2235196"/>
                </a:cubicBezTo>
                <a:lnTo>
                  <a:pt x="0" y="101604"/>
                </a:lnTo>
                <a:cubicBezTo>
                  <a:pt x="0" y="45527"/>
                  <a:pt x="45527" y="0"/>
                  <a:pt x="101604" y="0"/>
                </a:cubicBezTo>
                <a:close/>
              </a:path>
            </a:pathLst>
          </a:custGeom>
          <a:solidFill>
            <a:srgbClr val="007BFF">
              <a:alpha val="10196"/>
            </a:srgbClr>
          </a:solidFill>
        </p:spPr>
      </p:sp>
      <p:sp>
        <p:nvSpPr>
          <p:cNvPr id="16" name="Shape 13"/>
          <p:cNvSpPr/>
          <p:nvPr/>
        </p:nvSpPr>
        <p:spPr>
          <a:xfrm>
            <a:off x="9652000" y="32004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007BFF">
              <a:alpha val="20000"/>
            </a:srgbClr>
          </a:solidFill>
        </p:spPr>
      </p:sp>
      <p:sp>
        <p:nvSpPr>
          <p:cNvPr id="17" name="Shape 14"/>
          <p:cNvSpPr/>
          <p:nvPr/>
        </p:nvSpPr>
        <p:spPr>
          <a:xfrm>
            <a:off x="9871075" y="3416300"/>
            <a:ext cx="381000" cy="381000"/>
          </a:xfrm>
          <a:custGeom>
            <a:avLst/>
            <a:gdLst/>
            <a:ahLst/>
            <a:cxnLst/>
            <a:rect l="l" t="t" r="r" b="b"/>
            <a:pathLst>
              <a:path w="381000" h="381000">
                <a:moveTo>
                  <a:pt x="190500" y="0"/>
                </a:moveTo>
                <a:cubicBezTo>
                  <a:pt x="295640" y="0"/>
                  <a:pt x="381000" y="85360"/>
                  <a:pt x="381000" y="190500"/>
                </a:cubicBezTo>
                <a:cubicBezTo>
                  <a:pt x="381000" y="295640"/>
                  <a:pt x="295640" y="381000"/>
                  <a:pt x="190500" y="381000"/>
                </a:cubicBezTo>
                <a:cubicBezTo>
                  <a:pt x="85360" y="381000"/>
                  <a:pt x="0" y="295640"/>
                  <a:pt x="0" y="190500"/>
                </a:cubicBezTo>
                <a:cubicBezTo>
                  <a:pt x="0" y="85360"/>
                  <a:pt x="85360" y="0"/>
                  <a:pt x="190500" y="0"/>
                </a:cubicBezTo>
                <a:close/>
                <a:moveTo>
                  <a:pt x="172641" y="89297"/>
                </a:moveTo>
                <a:lnTo>
                  <a:pt x="172641" y="190500"/>
                </a:lnTo>
                <a:cubicBezTo>
                  <a:pt x="172641" y="196453"/>
                  <a:pt x="175617" y="202034"/>
                  <a:pt x="180603" y="205383"/>
                </a:cubicBezTo>
                <a:lnTo>
                  <a:pt x="252040" y="253008"/>
                </a:lnTo>
                <a:cubicBezTo>
                  <a:pt x="260226" y="258514"/>
                  <a:pt x="271314" y="256282"/>
                  <a:pt x="276820" y="248022"/>
                </a:cubicBezTo>
                <a:cubicBezTo>
                  <a:pt x="282327" y="239762"/>
                  <a:pt x="280095" y="228749"/>
                  <a:pt x="271835" y="223242"/>
                </a:cubicBezTo>
                <a:lnTo>
                  <a:pt x="208359" y="180975"/>
                </a:lnTo>
                <a:lnTo>
                  <a:pt x="208359" y="89297"/>
                </a:lnTo>
                <a:cubicBezTo>
                  <a:pt x="208359" y="79400"/>
                  <a:pt x="200397" y="71438"/>
                  <a:pt x="190500" y="71438"/>
                </a:cubicBezTo>
                <a:cubicBezTo>
                  <a:pt x="180603" y="71438"/>
                  <a:pt x="172641" y="79400"/>
                  <a:pt x="172641" y="89297"/>
                </a:cubicBezTo>
                <a:close/>
              </a:path>
            </a:pathLst>
          </a:custGeom>
          <a:solidFill>
            <a:srgbClr val="007BFF"/>
          </a:solidFill>
        </p:spPr>
      </p:sp>
      <p:sp>
        <p:nvSpPr>
          <p:cNvPr id="18" name="Text 15"/>
          <p:cNvSpPr/>
          <p:nvPr/>
        </p:nvSpPr>
        <p:spPr>
          <a:xfrm>
            <a:off x="8324850" y="4165600"/>
            <a:ext cx="3467100" cy="355600"/>
          </a:xfrm>
          <a:prstGeom prst="rect">
            <a:avLst/>
          </a:prstGeom>
          <a:noFill/>
        </p:spPr>
        <p:txBody>
          <a:bodyPr wrap="square" lIns="0" tIns="0" rIns="0" bIns="0" rtlCol="0" anchor="ctr"/>
          <a:lstStyle/>
          <a:p>
            <a:pPr algn="ctr">
              <a:lnSpc>
                <a:spcPct val="130000"/>
              </a:lnSpc>
            </a:pPr>
            <a:r>
              <a:rPr lang="en-US" sz="18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课堂：分段与提示</a:t>
            </a:r>
            <a:endParaRPr lang="en-US" sz="1600" dirty="0"/>
          </a:p>
        </p:txBody>
      </p:sp>
      <p:sp>
        <p:nvSpPr>
          <p:cNvPr id="19" name="Text 16"/>
          <p:cNvSpPr/>
          <p:nvPr/>
        </p:nvSpPr>
        <p:spPr>
          <a:xfrm>
            <a:off x="8337550" y="4622800"/>
            <a:ext cx="3441700" cy="508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采用</a:t>
            </a:r>
            <a:r>
              <a:rPr lang="en-US" sz="1400" dirty="0">
                <a:solidFill>
                  <a:srgbClr val="333333"/>
                </a:solidFill>
                <a:highlight>
                  <a:srgbClr val="FFC107">
                    <a:alpha val="100000"/>
                  </a:srgbClr>
                </a:highlight>
                <a:latin typeface="Noto Sans SC" panose="020B0200000000000000" pitchFamily="34" charset="-122"/>
                <a:ea typeface="Noto Sans SC" panose="020B0200000000000000" pitchFamily="34" charset="-122"/>
                <a:cs typeface="Noto Sans SC" panose="020B0200000000000000" pitchFamily="34" charset="-120"/>
              </a:rPr>
              <a:t> 10分钟分段教学 </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，用视觉提示卡规范行为，即时积分奖励。</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pic>
        <p:nvPicPr>
          <p:cNvPr id="3" name="Image 1" descr="https://kimi-web-img.moonshot.cn/img/img.freepik.com/08182cd8b83e0cd94506db843977210e8d3a9b9f.jpg"/>
          <p:cNvPicPr>
            <a:picLocks noChangeAspect="1"/>
          </p:cNvPicPr>
          <p:nvPr/>
        </p:nvPicPr>
        <p:blipFill>
          <a:blip r:embed="rId2"/>
          <a:srcRect l="25553" r="25553"/>
          <a:stretch>
            <a:fillRect/>
          </a:stretch>
        </p:blipFill>
        <p:spPr>
          <a:xfrm>
            <a:off x="3102610" y="2971165"/>
            <a:ext cx="2268220" cy="2601595"/>
          </a:xfrm>
          <a:prstGeom prst="roundRect">
            <a:avLst>
              <a:gd name="adj" fmla="val 2752"/>
            </a:avLst>
          </a:prstGeom>
        </p:spPr>
      </p:pic>
      <p:sp>
        <p:nvSpPr>
          <p:cNvPr id="4" name="Text 0"/>
          <p:cNvSpPr/>
          <p:nvPr/>
        </p:nvSpPr>
        <p:spPr>
          <a:xfrm>
            <a:off x="1364615" y="1680845"/>
            <a:ext cx="6032500" cy="457200"/>
          </a:xfrm>
          <a:prstGeom prst="rect">
            <a:avLst/>
          </a:prstGeom>
          <a:noFill/>
        </p:spPr>
        <p:txBody>
          <a:bodyPr wrap="square" lIns="0" tIns="0" rIns="0" bIns="0" rtlCol="0" anchor="ctr"/>
          <a:lstStyle/>
          <a:p>
            <a:pPr>
              <a:lnSpc>
                <a:spcPct val="100000"/>
              </a:lnSpc>
            </a:pPr>
            <a:r>
              <a:rPr lang="en-US" altLang="zh-CN" sz="3000" dirty="0">
                <a:solidFill>
                  <a:schemeClr val="accent1"/>
                </a:solidFill>
                <a:effectLst>
                  <a:outerShdw blurRad="38100" dist="25400" dir="5400000" algn="ctr" rotWithShape="0">
                    <a:srgbClr val="6E747A">
                      <a:alpha val="43000"/>
                    </a:srgbClr>
                  </a:outerShdw>
                </a:effectLst>
                <a:sym typeface="+mn-ea"/>
              </a:rPr>
              <a:t>School Action 3</a:t>
            </a:r>
            <a:endParaRPr lang="zh-CN" altLang="en-US" sz="3000" b="1" dirty="0">
              <a:solidFill>
                <a:srgbClr val="007BFF"/>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5" name="Text 1"/>
          <p:cNvSpPr/>
          <p:nvPr/>
        </p:nvSpPr>
        <p:spPr>
          <a:xfrm>
            <a:off x="4403090" y="2138045"/>
            <a:ext cx="5943600" cy="609600"/>
          </a:xfrm>
          <a:prstGeom prst="rect">
            <a:avLst/>
          </a:prstGeom>
          <a:noFill/>
        </p:spPr>
        <p:txBody>
          <a:bodyPr wrap="square" lIns="0" tIns="0" rIns="0" bIns="0" rtlCol="0" anchor="ctr"/>
          <a:lstStyle/>
          <a:p>
            <a:pPr>
              <a:lnSpc>
                <a:spcPct val="130000"/>
              </a:lnSpc>
            </a:pPr>
            <a:r>
              <a:rPr lang="en-US" altLang="zh-CN" sz="2400" dirty="0">
                <a:ln/>
                <a:solidFill>
                  <a:schemeClr val="accent1"/>
                </a:solidFill>
                <a:effectLst>
                  <a:outerShdw blurRad="38100" dist="25400" dir="5400000" algn="ctr" rotWithShape="0">
                    <a:srgbClr val="6E747A">
                      <a:alpha val="43000"/>
                    </a:srgbClr>
                  </a:outerShdw>
                </a:effectLst>
              </a:rPr>
              <a:t>Mutual assistance among peers</a:t>
            </a:r>
            <a:endParaRPr lang="en-US" altLang="zh-CN" sz="2400" dirty="0">
              <a:ln/>
              <a:solidFill>
                <a:schemeClr val="accent1"/>
              </a:solidFill>
              <a:effectLst>
                <a:outerShdw blurRad="38100" dist="25400" dir="5400000" algn="ctr" rotWithShape="0">
                  <a:srgbClr val="6E747A">
                    <a:alpha val="43000"/>
                  </a:srgbClr>
                </a:outerShdw>
              </a:effectLst>
            </a:endParaRPr>
          </a:p>
        </p:txBody>
      </p:sp>
      <p:sp>
        <p:nvSpPr>
          <p:cNvPr id="6" name="Shape 2"/>
          <p:cNvSpPr/>
          <p:nvPr/>
        </p:nvSpPr>
        <p:spPr>
          <a:xfrm>
            <a:off x="6178550" y="3175000"/>
            <a:ext cx="342900" cy="304800"/>
          </a:xfrm>
          <a:custGeom>
            <a:avLst/>
            <a:gdLst/>
            <a:ahLst/>
            <a:cxnLst/>
            <a:rect l="l" t="t" r="r" b="b"/>
            <a:pathLst>
              <a:path w="342900" h="304800">
                <a:moveTo>
                  <a:pt x="228600" y="85725"/>
                </a:moveTo>
                <a:cubicBezTo>
                  <a:pt x="228600" y="143589"/>
                  <a:pt x="177403" y="190500"/>
                  <a:pt x="114300" y="190500"/>
                </a:cubicBezTo>
                <a:cubicBezTo>
                  <a:pt x="98405" y="190500"/>
                  <a:pt x="83284" y="187523"/>
                  <a:pt x="69533" y="182166"/>
                </a:cubicBezTo>
                <a:lnTo>
                  <a:pt x="20955" y="207883"/>
                </a:lnTo>
                <a:cubicBezTo>
                  <a:pt x="15419" y="210800"/>
                  <a:pt x="8632" y="209788"/>
                  <a:pt x="4167" y="205383"/>
                </a:cubicBezTo>
                <a:cubicBezTo>
                  <a:pt x="-298" y="200978"/>
                  <a:pt x="-1310" y="194131"/>
                  <a:pt x="1667" y="188595"/>
                </a:cubicBezTo>
                <a:lnTo>
                  <a:pt x="22860" y="148590"/>
                </a:lnTo>
                <a:cubicBezTo>
                  <a:pt x="8513" y="131088"/>
                  <a:pt x="0" y="109299"/>
                  <a:pt x="0" y="85725"/>
                </a:cubicBezTo>
                <a:cubicBezTo>
                  <a:pt x="0" y="27861"/>
                  <a:pt x="51197" y="-19050"/>
                  <a:pt x="114300" y="-19050"/>
                </a:cubicBezTo>
                <a:cubicBezTo>
                  <a:pt x="177403" y="-19050"/>
                  <a:pt x="228600" y="27861"/>
                  <a:pt x="228600" y="85725"/>
                </a:cubicBezTo>
                <a:close/>
                <a:moveTo>
                  <a:pt x="228600" y="304800"/>
                </a:moveTo>
                <a:cubicBezTo>
                  <a:pt x="172581" y="304800"/>
                  <a:pt x="125968" y="267831"/>
                  <a:pt x="116205" y="219075"/>
                </a:cubicBezTo>
                <a:cubicBezTo>
                  <a:pt x="187643" y="218182"/>
                  <a:pt x="249734" y="167342"/>
                  <a:pt x="256580" y="98405"/>
                </a:cubicBezTo>
                <a:cubicBezTo>
                  <a:pt x="306169" y="109835"/>
                  <a:pt x="342900" y="150971"/>
                  <a:pt x="342900" y="200025"/>
                </a:cubicBezTo>
                <a:cubicBezTo>
                  <a:pt x="342900" y="223599"/>
                  <a:pt x="334387" y="245388"/>
                  <a:pt x="320040" y="262890"/>
                </a:cubicBezTo>
                <a:lnTo>
                  <a:pt x="341233" y="302895"/>
                </a:lnTo>
                <a:cubicBezTo>
                  <a:pt x="344150" y="308431"/>
                  <a:pt x="343138" y="315218"/>
                  <a:pt x="338733" y="319683"/>
                </a:cubicBezTo>
                <a:cubicBezTo>
                  <a:pt x="334328" y="324148"/>
                  <a:pt x="327481" y="325160"/>
                  <a:pt x="321945" y="322183"/>
                </a:cubicBezTo>
                <a:lnTo>
                  <a:pt x="273368" y="296466"/>
                </a:lnTo>
                <a:cubicBezTo>
                  <a:pt x="259616" y="301823"/>
                  <a:pt x="244495" y="304800"/>
                  <a:pt x="228600" y="304800"/>
                </a:cubicBezTo>
                <a:close/>
              </a:path>
            </a:pathLst>
          </a:custGeom>
          <a:solidFill>
            <a:srgbClr val="0056B3"/>
          </a:solidFill>
        </p:spPr>
      </p:sp>
      <p:sp>
        <p:nvSpPr>
          <p:cNvPr id="7" name="Text 3"/>
          <p:cNvSpPr/>
          <p:nvPr>
            <p:custDataLst>
              <p:tags r:id="rId3"/>
            </p:custDataLst>
          </p:nvPr>
        </p:nvSpPr>
        <p:spPr>
          <a:xfrm>
            <a:off x="6756400" y="3175000"/>
            <a:ext cx="41402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开展主题班会</a:t>
            </a:r>
            <a:endParaRPr lang="en-US" sz="1600" dirty="0"/>
          </a:p>
        </p:txBody>
      </p:sp>
      <p:sp>
        <p:nvSpPr>
          <p:cNvPr id="8" name="Text 4"/>
          <p:cNvSpPr/>
          <p:nvPr>
            <p:custDataLst>
              <p:tags r:id="rId4"/>
            </p:custDataLst>
          </p:nvPr>
        </p:nvSpPr>
        <p:spPr>
          <a:xfrm>
            <a:off x="6756400" y="3479800"/>
            <a:ext cx="41275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用动画、情景剧普及ADHD与感统知识，消除误解。</a:t>
            </a:r>
            <a:endParaRPr lang="en-US" sz="1600" dirty="0"/>
          </a:p>
        </p:txBody>
      </p:sp>
      <p:sp>
        <p:nvSpPr>
          <p:cNvPr id="9" name="Shape 5"/>
          <p:cNvSpPr/>
          <p:nvPr/>
        </p:nvSpPr>
        <p:spPr>
          <a:xfrm>
            <a:off x="6178550" y="3937000"/>
            <a:ext cx="342900" cy="304800"/>
          </a:xfrm>
          <a:custGeom>
            <a:avLst/>
            <a:gdLst/>
            <a:ahLst/>
            <a:cxnLst/>
            <a:rect l="l" t="t" r="r" b="b"/>
            <a:pathLst>
              <a:path w="342900" h="304800">
                <a:moveTo>
                  <a:pt x="160080" y="31671"/>
                </a:moveTo>
                <a:lnTo>
                  <a:pt x="90666" y="108823"/>
                </a:lnTo>
                <a:cubicBezTo>
                  <a:pt x="87928" y="111859"/>
                  <a:pt x="88047" y="116562"/>
                  <a:pt x="90964" y="119479"/>
                </a:cubicBezTo>
                <a:cubicBezTo>
                  <a:pt x="109121" y="137636"/>
                  <a:pt x="138589" y="137636"/>
                  <a:pt x="156746" y="119479"/>
                </a:cubicBezTo>
                <a:lnTo>
                  <a:pt x="175677" y="100548"/>
                </a:lnTo>
                <a:cubicBezTo>
                  <a:pt x="178177" y="98048"/>
                  <a:pt x="181332" y="96679"/>
                  <a:pt x="184547" y="96441"/>
                </a:cubicBezTo>
                <a:cubicBezTo>
                  <a:pt x="188595" y="96083"/>
                  <a:pt x="192762" y="97453"/>
                  <a:pt x="195858" y="100548"/>
                </a:cubicBezTo>
                <a:lnTo>
                  <a:pt x="300990" y="204787"/>
                </a:lnTo>
                <a:lnTo>
                  <a:pt x="342900" y="171450"/>
                </a:lnTo>
                <a:lnTo>
                  <a:pt x="342900" y="0"/>
                </a:lnTo>
                <a:lnTo>
                  <a:pt x="276225" y="38100"/>
                </a:lnTo>
                <a:lnTo>
                  <a:pt x="262057" y="28635"/>
                </a:lnTo>
                <a:cubicBezTo>
                  <a:pt x="252651" y="22384"/>
                  <a:pt x="241637" y="19050"/>
                  <a:pt x="230326" y="19050"/>
                </a:cubicBezTo>
                <a:lnTo>
                  <a:pt x="188416" y="19050"/>
                </a:lnTo>
                <a:cubicBezTo>
                  <a:pt x="187762" y="19050"/>
                  <a:pt x="187047" y="19050"/>
                  <a:pt x="186392" y="19110"/>
                </a:cubicBezTo>
                <a:cubicBezTo>
                  <a:pt x="176332" y="19645"/>
                  <a:pt x="166866" y="24170"/>
                  <a:pt x="160080" y="31671"/>
                </a:cubicBezTo>
                <a:close/>
                <a:moveTo>
                  <a:pt x="69413" y="89714"/>
                </a:moveTo>
                <a:lnTo>
                  <a:pt x="132993" y="19050"/>
                </a:lnTo>
                <a:lnTo>
                  <a:pt x="109418" y="19050"/>
                </a:lnTo>
                <a:cubicBezTo>
                  <a:pt x="94238" y="19050"/>
                  <a:pt x="79712" y="25063"/>
                  <a:pt x="68997" y="35778"/>
                </a:cubicBezTo>
                <a:lnTo>
                  <a:pt x="0" y="114300"/>
                </a:lnTo>
                <a:lnTo>
                  <a:pt x="0" y="323850"/>
                </a:lnTo>
                <a:lnTo>
                  <a:pt x="85725" y="242888"/>
                </a:lnTo>
                <a:lnTo>
                  <a:pt x="93107" y="249019"/>
                </a:lnTo>
                <a:cubicBezTo>
                  <a:pt x="106799" y="260449"/>
                  <a:pt x="124063" y="266700"/>
                  <a:pt x="141863" y="266700"/>
                </a:cubicBezTo>
                <a:lnTo>
                  <a:pt x="151209" y="266700"/>
                </a:lnTo>
                <a:lnTo>
                  <a:pt x="147042" y="262533"/>
                </a:lnTo>
                <a:cubicBezTo>
                  <a:pt x="141446" y="256937"/>
                  <a:pt x="141446" y="247888"/>
                  <a:pt x="147042" y="242352"/>
                </a:cubicBezTo>
                <a:cubicBezTo>
                  <a:pt x="152638" y="236815"/>
                  <a:pt x="161687" y="236756"/>
                  <a:pt x="167223" y="242352"/>
                </a:cubicBezTo>
                <a:lnTo>
                  <a:pt x="191631" y="266760"/>
                </a:lnTo>
                <a:lnTo>
                  <a:pt x="196989" y="266760"/>
                </a:lnTo>
                <a:cubicBezTo>
                  <a:pt x="208359" y="266760"/>
                  <a:pt x="219492" y="264200"/>
                  <a:pt x="229612" y="259437"/>
                </a:cubicBezTo>
                <a:lnTo>
                  <a:pt x="213717" y="243483"/>
                </a:lnTo>
                <a:cubicBezTo>
                  <a:pt x="208121" y="237887"/>
                  <a:pt x="208121" y="228838"/>
                  <a:pt x="213717" y="223302"/>
                </a:cubicBezTo>
                <a:cubicBezTo>
                  <a:pt x="219313" y="217765"/>
                  <a:pt x="228362" y="217706"/>
                  <a:pt x="233898" y="223302"/>
                </a:cubicBezTo>
                <a:lnTo>
                  <a:pt x="252948" y="242352"/>
                </a:lnTo>
                <a:lnTo>
                  <a:pt x="263366" y="231934"/>
                </a:lnTo>
                <a:cubicBezTo>
                  <a:pt x="268665" y="226635"/>
                  <a:pt x="270212" y="218956"/>
                  <a:pt x="267891" y="212229"/>
                </a:cubicBezTo>
                <a:lnTo>
                  <a:pt x="185797" y="130790"/>
                </a:lnTo>
                <a:lnTo>
                  <a:pt x="176927" y="139660"/>
                </a:lnTo>
                <a:cubicBezTo>
                  <a:pt x="147578" y="169009"/>
                  <a:pt x="100072" y="169009"/>
                  <a:pt x="70723" y="139660"/>
                </a:cubicBezTo>
                <a:cubicBezTo>
                  <a:pt x="57031" y="125968"/>
                  <a:pt x="56495" y="104001"/>
                  <a:pt x="69413" y="89654"/>
                </a:cubicBezTo>
                <a:close/>
              </a:path>
            </a:pathLst>
          </a:custGeom>
          <a:solidFill>
            <a:srgbClr val="0056B3"/>
          </a:solidFill>
        </p:spPr>
      </p:sp>
      <p:sp>
        <p:nvSpPr>
          <p:cNvPr id="10" name="Text 6"/>
          <p:cNvSpPr/>
          <p:nvPr>
            <p:custDataLst>
              <p:tags r:id="rId5"/>
            </p:custDataLst>
          </p:nvPr>
        </p:nvSpPr>
        <p:spPr>
          <a:xfrm>
            <a:off x="6756400" y="3937000"/>
            <a:ext cx="47244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建立同伴互助小组</a:t>
            </a:r>
            <a:endParaRPr lang="en-US" sz="1600" dirty="0"/>
          </a:p>
        </p:txBody>
      </p:sp>
      <p:sp>
        <p:nvSpPr>
          <p:cNvPr id="11" name="Text 7"/>
          <p:cNvSpPr/>
          <p:nvPr>
            <p:custDataLst>
              <p:tags r:id="rId6"/>
            </p:custDataLst>
          </p:nvPr>
        </p:nvSpPr>
        <p:spPr>
          <a:xfrm>
            <a:off x="6756400" y="4241800"/>
            <a:ext cx="47117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遴选友善同学，在课堂上提醒、活动中协助、社交中示范。</a:t>
            </a:r>
            <a:endParaRPr lang="en-US" sz="1600" dirty="0"/>
          </a:p>
        </p:txBody>
      </p:sp>
      <p:sp>
        <p:nvSpPr>
          <p:cNvPr id="12" name="Shape 8"/>
          <p:cNvSpPr/>
          <p:nvPr/>
        </p:nvSpPr>
        <p:spPr>
          <a:xfrm>
            <a:off x="6216650" y="4699000"/>
            <a:ext cx="266700" cy="304800"/>
          </a:xfrm>
          <a:custGeom>
            <a:avLst/>
            <a:gdLst/>
            <a:ahLst/>
            <a:cxnLst/>
            <a:rect l="l" t="t" r="r" b="b"/>
            <a:pathLst>
              <a:path w="266700" h="304800">
                <a:moveTo>
                  <a:pt x="146387" y="-15419"/>
                </a:moveTo>
                <a:cubicBezTo>
                  <a:pt x="138410" y="-20300"/>
                  <a:pt x="128349" y="-20300"/>
                  <a:pt x="120372" y="-15419"/>
                </a:cubicBezTo>
                <a:cubicBezTo>
                  <a:pt x="105847" y="-6548"/>
                  <a:pt x="96857" y="-4167"/>
                  <a:pt x="79831" y="-4524"/>
                </a:cubicBezTo>
                <a:cubicBezTo>
                  <a:pt x="70485" y="-4762"/>
                  <a:pt x="61793" y="298"/>
                  <a:pt x="57269" y="8513"/>
                </a:cubicBezTo>
                <a:cubicBezTo>
                  <a:pt x="49113" y="23455"/>
                  <a:pt x="42505" y="30063"/>
                  <a:pt x="27563" y="38219"/>
                </a:cubicBezTo>
                <a:cubicBezTo>
                  <a:pt x="19348" y="42684"/>
                  <a:pt x="14347" y="51435"/>
                  <a:pt x="14526" y="60781"/>
                </a:cubicBezTo>
                <a:cubicBezTo>
                  <a:pt x="14942" y="77807"/>
                  <a:pt x="12502" y="86797"/>
                  <a:pt x="3631" y="101322"/>
                </a:cubicBezTo>
                <a:cubicBezTo>
                  <a:pt x="-1250" y="109299"/>
                  <a:pt x="-1250" y="119360"/>
                  <a:pt x="3631" y="127337"/>
                </a:cubicBezTo>
                <a:cubicBezTo>
                  <a:pt x="12502" y="141863"/>
                  <a:pt x="14883" y="150852"/>
                  <a:pt x="14526" y="167878"/>
                </a:cubicBezTo>
                <a:cubicBezTo>
                  <a:pt x="14287" y="177225"/>
                  <a:pt x="19348" y="185916"/>
                  <a:pt x="27563" y="190440"/>
                </a:cubicBezTo>
                <a:cubicBezTo>
                  <a:pt x="40719" y="197644"/>
                  <a:pt x="47387" y="203597"/>
                  <a:pt x="54412" y="215146"/>
                </a:cubicBezTo>
                <a:lnTo>
                  <a:pt x="25420" y="272951"/>
                </a:lnTo>
                <a:cubicBezTo>
                  <a:pt x="21908" y="280035"/>
                  <a:pt x="24765" y="288608"/>
                  <a:pt x="31790" y="292120"/>
                </a:cubicBezTo>
                <a:lnTo>
                  <a:pt x="82987" y="317718"/>
                </a:lnTo>
                <a:cubicBezTo>
                  <a:pt x="89833" y="321112"/>
                  <a:pt x="98167" y="318552"/>
                  <a:pt x="101858" y="311884"/>
                </a:cubicBezTo>
                <a:lnTo>
                  <a:pt x="133290" y="255270"/>
                </a:lnTo>
                <a:lnTo>
                  <a:pt x="164723" y="311884"/>
                </a:lnTo>
                <a:cubicBezTo>
                  <a:pt x="168414" y="318552"/>
                  <a:pt x="176748" y="321171"/>
                  <a:pt x="183594" y="317718"/>
                </a:cubicBezTo>
                <a:lnTo>
                  <a:pt x="234791" y="292120"/>
                </a:lnTo>
                <a:cubicBezTo>
                  <a:pt x="241875" y="288608"/>
                  <a:pt x="244733" y="280035"/>
                  <a:pt x="241161" y="272951"/>
                </a:cubicBezTo>
                <a:lnTo>
                  <a:pt x="212229" y="215086"/>
                </a:lnTo>
                <a:cubicBezTo>
                  <a:pt x="219194" y="203537"/>
                  <a:pt x="225921" y="197584"/>
                  <a:pt x="239078" y="190381"/>
                </a:cubicBezTo>
                <a:cubicBezTo>
                  <a:pt x="247293" y="185916"/>
                  <a:pt x="252293" y="177165"/>
                  <a:pt x="252115" y="167819"/>
                </a:cubicBezTo>
                <a:cubicBezTo>
                  <a:pt x="251698" y="150793"/>
                  <a:pt x="254139" y="141803"/>
                  <a:pt x="263009" y="127278"/>
                </a:cubicBezTo>
                <a:cubicBezTo>
                  <a:pt x="267891" y="119301"/>
                  <a:pt x="267891" y="109240"/>
                  <a:pt x="263009" y="101263"/>
                </a:cubicBezTo>
                <a:cubicBezTo>
                  <a:pt x="254139" y="86737"/>
                  <a:pt x="251758" y="77748"/>
                  <a:pt x="252115" y="60722"/>
                </a:cubicBezTo>
                <a:cubicBezTo>
                  <a:pt x="252353" y="51375"/>
                  <a:pt x="247293" y="42684"/>
                  <a:pt x="239078" y="38160"/>
                </a:cubicBezTo>
                <a:cubicBezTo>
                  <a:pt x="224135" y="30004"/>
                  <a:pt x="217527" y="23396"/>
                  <a:pt x="209371" y="8453"/>
                </a:cubicBezTo>
                <a:cubicBezTo>
                  <a:pt x="204907" y="238"/>
                  <a:pt x="196155" y="-4762"/>
                  <a:pt x="186809" y="-4584"/>
                </a:cubicBezTo>
                <a:cubicBezTo>
                  <a:pt x="169783" y="-4167"/>
                  <a:pt x="160794" y="-6608"/>
                  <a:pt x="146268" y="-15478"/>
                </a:cubicBezTo>
                <a:close/>
                <a:moveTo>
                  <a:pt x="133350" y="57150"/>
                </a:moveTo>
                <a:cubicBezTo>
                  <a:pt x="164892" y="57150"/>
                  <a:pt x="190500" y="82758"/>
                  <a:pt x="190500" y="114300"/>
                </a:cubicBezTo>
                <a:cubicBezTo>
                  <a:pt x="190500" y="145842"/>
                  <a:pt x="164892" y="171450"/>
                  <a:pt x="133350" y="171450"/>
                </a:cubicBezTo>
                <a:cubicBezTo>
                  <a:pt x="101808" y="171450"/>
                  <a:pt x="76200" y="145842"/>
                  <a:pt x="76200" y="114300"/>
                </a:cubicBezTo>
                <a:cubicBezTo>
                  <a:pt x="76200" y="82758"/>
                  <a:pt x="101808" y="57150"/>
                  <a:pt x="133350" y="57150"/>
                </a:cubicBezTo>
                <a:close/>
              </a:path>
            </a:pathLst>
          </a:custGeom>
          <a:solidFill>
            <a:srgbClr val="0056B3"/>
          </a:solidFill>
        </p:spPr>
      </p:sp>
      <p:sp>
        <p:nvSpPr>
          <p:cNvPr id="13" name="Text 9"/>
          <p:cNvSpPr/>
          <p:nvPr>
            <p:custDataLst>
              <p:tags r:id="rId7"/>
            </p:custDataLst>
          </p:nvPr>
        </p:nvSpPr>
        <p:spPr>
          <a:xfrm>
            <a:off x="6756400" y="4699000"/>
            <a:ext cx="3657600" cy="304800"/>
          </a:xfrm>
          <a:prstGeom prst="rect">
            <a:avLst/>
          </a:prstGeom>
          <a:noFill/>
        </p:spPr>
        <p:txBody>
          <a:bodyPr wrap="square" lIns="0" tIns="0" rIns="0" bIns="0" rtlCol="0" anchor="ctr"/>
          <a:lstStyle/>
          <a:p>
            <a:pPr>
              <a:lnSpc>
                <a:spcPct val="130000"/>
              </a:lnSpc>
            </a:pPr>
            <a:r>
              <a:rPr lang="en-US" sz="16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公开表扬合作行为</a:t>
            </a:r>
            <a:endParaRPr lang="en-US" sz="1600" dirty="0"/>
          </a:p>
        </p:txBody>
      </p:sp>
      <p:sp>
        <p:nvSpPr>
          <p:cNvPr id="14" name="Text 10"/>
          <p:cNvSpPr/>
          <p:nvPr>
            <p:custDataLst>
              <p:tags r:id="rId8"/>
            </p:custDataLst>
          </p:nvPr>
        </p:nvSpPr>
        <p:spPr>
          <a:xfrm>
            <a:off x="6756400" y="5003800"/>
            <a:ext cx="3644900" cy="254000"/>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将接纳与帮助差异纳入班级常规与评价体系。</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Text 0"/>
          <p:cNvSpPr/>
          <p:nvPr/>
        </p:nvSpPr>
        <p:spPr>
          <a:xfrm>
            <a:off x="158750" y="1371600"/>
            <a:ext cx="10819130" cy="457200"/>
          </a:xfrm>
          <a:prstGeom prst="rect">
            <a:avLst/>
          </a:prstGeom>
          <a:noFill/>
        </p:spPr>
        <p:txBody>
          <a:bodyPr wrap="square" lIns="0" tIns="0" rIns="0" bIns="0" rtlCol="0" anchor="ctr"/>
          <a:lstStyle/>
          <a:p>
            <a:pPr algn="ctr">
              <a:lnSpc>
                <a:spcPct val="100000"/>
              </a:lnSpc>
            </a:pPr>
            <a:r>
              <a:rPr lang="en-US" altLang="zh-CN" sz="2800" dirty="0">
                <a:solidFill>
                  <a:schemeClr val="accent1"/>
                </a:solidFill>
                <a:effectLst>
                  <a:outerShdw blurRad="38100" dist="25400" dir="5400000" algn="ctr" rotWithShape="0">
                    <a:srgbClr val="6E747A">
                      <a:alpha val="43000"/>
                    </a:srgbClr>
                  </a:outerShdw>
                </a:effectLst>
              </a:rPr>
              <a:t>Family Action: From Overprotection to Independent support</a:t>
            </a:r>
            <a:endParaRPr lang="en-US" altLang="zh-CN" sz="2800" dirty="0">
              <a:solidFill>
                <a:schemeClr val="accent1"/>
              </a:solidFill>
              <a:effectLst>
                <a:outerShdw blurRad="38100" dist="25400" dir="5400000" algn="ctr" rotWithShape="0">
                  <a:srgbClr val="6E747A">
                    <a:alpha val="43000"/>
                  </a:srgbClr>
                </a:outerShdw>
              </a:effectLst>
            </a:endParaRPr>
          </a:p>
        </p:txBody>
      </p:sp>
      <p:sp>
        <p:nvSpPr>
          <p:cNvPr id="4" name="Text 1"/>
          <p:cNvSpPr/>
          <p:nvPr/>
        </p:nvSpPr>
        <p:spPr>
          <a:xfrm>
            <a:off x="1168400" y="2133600"/>
            <a:ext cx="9855200" cy="609600"/>
          </a:xfrm>
          <a:prstGeom prst="rect">
            <a:avLst/>
          </a:prstGeom>
          <a:noFill/>
        </p:spPr>
        <p:txBody>
          <a:bodyPr wrap="square" lIns="0" tIns="0" rIns="0" bIns="0" rtlCol="0" anchor="ctr"/>
          <a:lstStyle/>
          <a:p>
            <a:pPr algn="ctr">
              <a:lnSpc>
                <a:spcPct val="130000"/>
              </a:lnSpc>
            </a:pPr>
            <a:endParaRPr lang="en-US" sz="1600" dirty="0"/>
          </a:p>
        </p:txBody>
      </p:sp>
      <p:sp>
        <p:nvSpPr>
          <p:cNvPr id="5" name="Shape 2"/>
          <p:cNvSpPr/>
          <p:nvPr>
            <p:custDataLst>
              <p:tags r:id="rId2"/>
            </p:custDataLst>
          </p:nvPr>
        </p:nvSpPr>
        <p:spPr>
          <a:xfrm>
            <a:off x="1727200" y="33528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007BFF">
              <a:alpha val="20000"/>
            </a:srgbClr>
          </a:solidFill>
        </p:spPr>
      </p:sp>
      <p:sp>
        <p:nvSpPr>
          <p:cNvPr id="6" name="Shape 3"/>
          <p:cNvSpPr/>
          <p:nvPr>
            <p:custDataLst>
              <p:tags r:id="rId3"/>
            </p:custDataLst>
          </p:nvPr>
        </p:nvSpPr>
        <p:spPr>
          <a:xfrm>
            <a:off x="2017713" y="3568700"/>
            <a:ext cx="238125" cy="381000"/>
          </a:xfrm>
          <a:custGeom>
            <a:avLst/>
            <a:gdLst/>
            <a:ahLst/>
            <a:cxnLst/>
            <a:rect l="l" t="t" r="r" b="b"/>
            <a:pathLst>
              <a:path w="238125" h="381000">
                <a:moveTo>
                  <a:pt x="71438" y="47625"/>
                </a:moveTo>
                <a:cubicBezTo>
                  <a:pt x="71438" y="21340"/>
                  <a:pt x="92778" y="0"/>
                  <a:pt x="119063" y="0"/>
                </a:cubicBezTo>
                <a:cubicBezTo>
                  <a:pt x="145347" y="0"/>
                  <a:pt x="166688" y="21340"/>
                  <a:pt x="166688" y="47625"/>
                </a:cubicBezTo>
                <a:cubicBezTo>
                  <a:pt x="166688" y="73910"/>
                  <a:pt x="145347" y="95250"/>
                  <a:pt x="119063" y="95250"/>
                </a:cubicBezTo>
                <a:cubicBezTo>
                  <a:pt x="92778" y="95250"/>
                  <a:pt x="71438" y="73910"/>
                  <a:pt x="71438" y="47625"/>
                </a:cubicBezTo>
                <a:close/>
                <a:moveTo>
                  <a:pt x="107156" y="285750"/>
                </a:moveTo>
                <a:lnTo>
                  <a:pt x="107156" y="357188"/>
                </a:lnTo>
                <a:cubicBezTo>
                  <a:pt x="107156" y="370359"/>
                  <a:pt x="96515" y="381000"/>
                  <a:pt x="83344" y="381000"/>
                </a:cubicBezTo>
                <a:cubicBezTo>
                  <a:pt x="70172" y="381000"/>
                  <a:pt x="59531" y="370359"/>
                  <a:pt x="59531" y="357188"/>
                </a:cubicBezTo>
                <a:lnTo>
                  <a:pt x="59531" y="214164"/>
                </a:lnTo>
                <a:lnTo>
                  <a:pt x="43979" y="238869"/>
                </a:lnTo>
                <a:cubicBezTo>
                  <a:pt x="36984" y="250031"/>
                  <a:pt x="22250" y="253305"/>
                  <a:pt x="11162" y="246311"/>
                </a:cubicBezTo>
                <a:cubicBezTo>
                  <a:pt x="74" y="239316"/>
                  <a:pt x="-3349" y="224656"/>
                  <a:pt x="3646" y="213568"/>
                </a:cubicBezTo>
                <a:lnTo>
                  <a:pt x="33338" y="166464"/>
                </a:lnTo>
                <a:cubicBezTo>
                  <a:pt x="51867" y="136922"/>
                  <a:pt x="84237" y="119063"/>
                  <a:pt x="119063" y="119063"/>
                </a:cubicBezTo>
                <a:cubicBezTo>
                  <a:pt x="153888" y="119063"/>
                  <a:pt x="186258" y="136922"/>
                  <a:pt x="204787" y="166390"/>
                </a:cubicBezTo>
                <a:lnTo>
                  <a:pt x="234479" y="213568"/>
                </a:lnTo>
                <a:cubicBezTo>
                  <a:pt x="241474" y="224730"/>
                  <a:pt x="238125" y="239390"/>
                  <a:pt x="227037" y="246385"/>
                </a:cubicBezTo>
                <a:cubicBezTo>
                  <a:pt x="215950" y="253380"/>
                  <a:pt x="201216" y="250031"/>
                  <a:pt x="194221" y="238944"/>
                </a:cubicBezTo>
                <a:lnTo>
                  <a:pt x="178594" y="214164"/>
                </a:lnTo>
                <a:lnTo>
                  <a:pt x="178594" y="357188"/>
                </a:lnTo>
                <a:cubicBezTo>
                  <a:pt x="178594" y="370359"/>
                  <a:pt x="167953" y="381000"/>
                  <a:pt x="154781" y="381000"/>
                </a:cubicBezTo>
                <a:cubicBezTo>
                  <a:pt x="141610" y="381000"/>
                  <a:pt x="130969" y="370359"/>
                  <a:pt x="130969" y="357188"/>
                </a:cubicBezTo>
                <a:lnTo>
                  <a:pt x="130969" y="285750"/>
                </a:lnTo>
                <a:lnTo>
                  <a:pt x="107156" y="285750"/>
                </a:lnTo>
                <a:close/>
              </a:path>
            </a:pathLst>
          </a:custGeom>
          <a:solidFill>
            <a:srgbClr val="007BFF"/>
          </a:solidFill>
        </p:spPr>
      </p:sp>
      <p:sp>
        <p:nvSpPr>
          <p:cNvPr id="7" name="Text 4"/>
          <p:cNvSpPr/>
          <p:nvPr>
            <p:custDataLst>
              <p:tags r:id="rId4"/>
            </p:custDataLst>
          </p:nvPr>
        </p:nvSpPr>
        <p:spPr>
          <a:xfrm>
            <a:off x="400050" y="4318000"/>
            <a:ext cx="3467100" cy="355600"/>
          </a:xfrm>
          <a:prstGeom prst="rect">
            <a:avLst/>
          </a:prstGeom>
          <a:noFill/>
        </p:spPr>
        <p:txBody>
          <a:bodyPr wrap="square" lIns="0" tIns="0" rIns="0" bIns="0" rtlCol="0" anchor="ctr"/>
          <a:lstStyle/>
          <a:p>
            <a:pPr algn="ctr">
              <a:lnSpc>
                <a:spcPct val="130000"/>
              </a:lnSpc>
            </a:pPr>
            <a:r>
              <a:rPr lang="en-US" sz="18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调整教养模式</a:t>
            </a:r>
            <a:endParaRPr lang="en-US" sz="1600" dirty="0"/>
          </a:p>
        </p:txBody>
      </p:sp>
      <p:sp>
        <p:nvSpPr>
          <p:cNvPr id="8" name="Text 5"/>
          <p:cNvSpPr/>
          <p:nvPr>
            <p:custDataLst>
              <p:tags r:id="rId5"/>
            </p:custDataLst>
          </p:nvPr>
        </p:nvSpPr>
        <p:spPr>
          <a:xfrm>
            <a:off x="412750" y="4775200"/>
            <a:ext cx="3441700" cy="508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采用</a:t>
            </a:r>
            <a:r>
              <a:rPr lang="en-US" sz="1400" dirty="0">
                <a:solidFill>
                  <a:srgbClr val="333333"/>
                </a:solidFill>
                <a:highlight>
                  <a:srgbClr val="FFC107">
                    <a:alpha val="100000"/>
                  </a:srgbClr>
                </a:highlight>
                <a:latin typeface="Noto Sans SC" panose="020B0200000000000000" pitchFamily="34" charset="-122"/>
                <a:ea typeface="Noto Sans SC" panose="020B0200000000000000" pitchFamily="34" charset="-122"/>
                <a:cs typeface="Noto Sans SC" panose="020B0200000000000000" pitchFamily="34" charset="-120"/>
              </a:rPr>
              <a:t> 任务分解法 </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逐步放手生活自理，鼓励独立解决问题。</a:t>
            </a:r>
            <a:endParaRPr lang="en-US" sz="1600" dirty="0"/>
          </a:p>
        </p:txBody>
      </p:sp>
      <p:sp>
        <p:nvSpPr>
          <p:cNvPr id="9" name="Shape 6"/>
          <p:cNvSpPr/>
          <p:nvPr>
            <p:custDataLst>
              <p:tags r:id="rId6"/>
            </p:custDataLst>
          </p:nvPr>
        </p:nvSpPr>
        <p:spPr>
          <a:xfrm>
            <a:off x="5689600" y="33528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007BFF">
              <a:alpha val="20000"/>
            </a:srgbClr>
          </a:solidFill>
        </p:spPr>
      </p:sp>
      <p:sp>
        <p:nvSpPr>
          <p:cNvPr id="10" name="Shape 7"/>
          <p:cNvSpPr/>
          <p:nvPr>
            <p:custDataLst>
              <p:tags r:id="rId7"/>
            </p:custDataLst>
          </p:nvPr>
        </p:nvSpPr>
        <p:spPr>
          <a:xfrm>
            <a:off x="5908675" y="3568700"/>
            <a:ext cx="381000" cy="381000"/>
          </a:xfrm>
          <a:custGeom>
            <a:avLst/>
            <a:gdLst/>
            <a:ahLst/>
            <a:cxnLst/>
            <a:rect l="l" t="t" r="r" b="b"/>
            <a:pathLst>
              <a:path w="381000" h="381000">
                <a:moveTo>
                  <a:pt x="206722" y="6400"/>
                </a:moveTo>
                <a:cubicBezTo>
                  <a:pt x="197569" y="-2084"/>
                  <a:pt x="183431" y="-2084"/>
                  <a:pt x="174352" y="6400"/>
                </a:cubicBezTo>
                <a:lnTo>
                  <a:pt x="7665" y="161181"/>
                </a:lnTo>
                <a:cubicBezTo>
                  <a:pt x="521" y="167878"/>
                  <a:pt x="-1860" y="178222"/>
                  <a:pt x="1712" y="187300"/>
                </a:cubicBezTo>
                <a:cubicBezTo>
                  <a:pt x="5283" y="196379"/>
                  <a:pt x="13990" y="202406"/>
                  <a:pt x="23812" y="202406"/>
                </a:cubicBezTo>
                <a:lnTo>
                  <a:pt x="35719" y="202406"/>
                </a:lnTo>
                <a:lnTo>
                  <a:pt x="35719" y="333375"/>
                </a:lnTo>
                <a:cubicBezTo>
                  <a:pt x="35719" y="359643"/>
                  <a:pt x="57076" y="381000"/>
                  <a:pt x="83344" y="381000"/>
                </a:cubicBezTo>
                <a:lnTo>
                  <a:pt x="297656" y="381000"/>
                </a:lnTo>
                <a:cubicBezTo>
                  <a:pt x="323924" y="381000"/>
                  <a:pt x="345281" y="359643"/>
                  <a:pt x="345281" y="333375"/>
                </a:cubicBezTo>
                <a:lnTo>
                  <a:pt x="345281" y="202406"/>
                </a:lnTo>
                <a:lnTo>
                  <a:pt x="357188" y="202406"/>
                </a:lnTo>
                <a:cubicBezTo>
                  <a:pt x="367010" y="202406"/>
                  <a:pt x="375791" y="196379"/>
                  <a:pt x="379363" y="187300"/>
                </a:cubicBezTo>
                <a:cubicBezTo>
                  <a:pt x="382935" y="178222"/>
                  <a:pt x="380554" y="167804"/>
                  <a:pt x="373410" y="161181"/>
                </a:cubicBezTo>
                <a:lnTo>
                  <a:pt x="206722" y="6400"/>
                </a:lnTo>
                <a:close/>
                <a:moveTo>
                  <a:pt x="178594" y="238125"/>
                </a:moveTo>
                <a:lnTo>
                  <a:pt x="202406" y="238125"/>
                </a:lnTo>
                <a:cubicBezTo>
                  <a:pt x="222126" y="238125"/>
                  <a:pt x="238125" y="254124"/>
                  <a:pt x="238125" y="273844"/>
                </a:cubicBezTo>
                <a:lnTo>
                  <a:pt x="238125" y="345281"/>
                </a:lnTo>
                <a:lnTo>
                  <a:pt x="142875" y="345281"/>
                </a:lnTo>
                <a:lnTo>
                  <a:pt x="142875" y="273844"/>
                </a:lnTo>
                <a:cubicBezTo>
                  <a:pt x="142875" y="254124"/>
                  <a:pt x="158874" y="238125"/>
                  <a:pt x="178594" y="238125"/>
                </a:cubicBezTo>
                <a:close/>
              </a:path>
            </a:pathLst>
          </a:custGeom>
          <a:solidFill>
            <a:srgbClr val="007BFF"/>
          </a:solidFill>
        </p:spPr>
      </p:sp>
      <p:sp>
        <p:nvSpPr>
          <p:cNvPr id="11" name="Text 8"/>
          <p:cNvSpPr/>
          <p:nvPr>
            <p:custDataLst>
              <p:tags r:id="rId8"/>
            </p:custDataLst>
          </p:nvPr>
        </p:nvSpPr>
        <p:spPr>
          <a:xfrm>
            <a:off x="4362450" y="4318000"/>
            <a:ext cx="3467100" cy="355600"/>
          </a:xfrm>
          <a:prstGeom prst="rect">
            <a:avLst/>
          </a:prstGeom>
          <a:noFill/>
        </p:spPr>
        <p:txBody>
          <a:bodyPr wrap="square" lIns="0" tIns="0" rIns="0" bIns="0" rtlCol="0" anchor="ctr"/>
          <a:lstStyle/>
          <a:p>
            <a:pPr algn="ctr">
              <a:lnSpc>
                <a:spcPct val="130000"/>
              </a:lnSpc>
            </a:pPr>
            <a:r>
              <a:rPr lang="en-US" sz="18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延伸学校训练</a:t>
            </a:r>
            <a:endParaRPr lang="en-US" sz="1600" dirty="0"/>
          </a:p>
        </p:txBody>
      </p:sp>
      <p:sp>
        <p:nvSpPr>
          <p:cNvPr id="12" name="Text 9"/>
          <p:cNvSpPr/>
          <p:nvPr>
            <p:custDataLst>
              <p:tags r:id="rId9"/>
            </p:custDataLst>
          </p:nvPr>
        </p:nvSpPr>
        <p:spPr>
          <a:xfrm>
            <a:off x="4375150" y="4775200"/>
            <a:ext cx="3441700" cy="508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在家中开展简易感统训练，使用</a:t>
            </a:r>
            <a:r>
              <a:rPr lang="en-US" sz="1400" dirty="0">
                <a:solidFill>
                  <a:srgbClr val="333333"/>
                </a:solidFill>
                <a:highlight>
                  <a:srgbClr val="FFC107">
                    <a:alpha val="100000"/>
                  </a:srgbClr>
                </a:highlight>
                <a:latin typeface="Noto Sans SC" panose="020B0200000000000000" pitchFamily="34" charset="-122"/>
                <a:ea typeface="Noto Sans SC" panose="020B0200000000000000" pitchFamily="34" charset="-122"/>
                <a:cs typeface="Noto Sans SC" panose="020B0200000000000000" pitchFamily="34" charset="-120"/>
              </a:rPr>
              <a:t> 注意力训练APP </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辅助学习。</a:t>
            </a:r>
            <a:endParaRPr lang="en-US" sz="1600" dirty="0"/>
          </a:p>
        </p:txBody>
      </p:sp>
      <p:sp>
        <p:nvSpPr>
          <p:cNvPr id="13" name="Shape 10"/>
          <p:cNvSpPr/>
          <p:nvPr>
            <p:custDataLst>
              <p:tags r:id="rId10"/>
            </p:custDataLst>
          </p:nvPr>
        </p:nvSpPr>
        <p:spPr>
          <a:xfrm>
            <a:off x="9652000" y="33528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007BFF">
              <a:alpha val="20000"/>
            </a:srgbClr>
          </a:solidFill>
        </p:spPr>
      </p:sp>
      <p:sp>
        <p:nvSpPr>
          <p:cNvPr id="14" name="Shape 11"/>
          <p:cNvSpPr/>
          <p:nvPr>
            <p:custDataLst>
              <p:tags r:id="rId11"/>
            </p:custDataLst>
          </p:nvPr>
        </p:nvSpPr>
        <p:spPr>
          <a:xfrm>
            <a:off x="9871075" y="3568700"/>
            <a:ext cx="381000" cy="381000"/>
          </a:xfrm>
          <a:custGeom>
            <a:avLst/>
            <a:gdLst/>
            <a:ahLst/>
            <a:cxnLst/>
            <a:rect l="l" t="t" r="r" b="b"/>
            <a:pathLst>
              <a:path w="381000" h="381000">
                <a:moveTo>
                  <a:pt x="179338" y="64815"/>
                </a:moveTo>
                <a:lnTo>
                  <a:pt x="190500" y="80218"/>
                </a:lnTo>
                <a:lnTo>
                  <a:pt x="201662" y="64815"/>
                </a:lnTo>
                <a:cubicBezTo>
                  <a:pt x="220266" y="39067"/>
                  <a:pt x="250180" y="23812"/>
                  <a:pt x="281955" y="23812"/>
                </a:cubicBezTo>
                <a:cubicBezTo>
                  <a:pt x="336649" y="23812"/>
                  <a:pt x="381000" y="68163"/>
                  <a:pt x="381000" y="122858"/>
                </a:cubicBezTo>
                <a:lnTo>
                  <a:pt x="381000" y="124792"/>
                </a:lnTo>
                <a:cubicBezTo>
                  <a:pt x="381000" y="208285"/>
                  <a:pt x="276895" y="305246"/>
                  <a:pt x="222572" y="346695"/>
                </a:cubicBezTo>
                <a:cubicBezTo>
                  <a:pt x="213345" y="353690"/>
                  <a:pt x="202034" y="357188"/>
                  <a:pt x="190500" y="357188"/>
                </a:cubicBezTo>
                <a:cubicBezTo>
                  <a:pt x="178966" y="357188"/>
                  <a:pt x="167580" y="353764"/>
                  <a:pt x="158428" y="346695"/>
                </a:cubicBezTo>
                <a:cubicBezTo>
                  <a:pt x="104105" y="305246"/>
                  <a:pt x="0" y="208285"/>
                  <a:pt x="0" y="124792"/>
                </a:cubicBezTo>
                <a:lnTo>
                  <a:pt x="0" y="122858"/>
                </a:lnTo>
                <a:cubicBezTo>
                  <a:pt x="0" y="68163"/>
                  <a:pt x="44351" y="23812"/>
                  <a:pt x="99045" y="23812"/>
                </a:cubicBezTo>
                <a:cubicBezTo>
                  <a:pt x="130820" y="23812"/>
                  <a:pt x="160734" y="39067"/>
                  <a:pt x="179338" y="64815"/>
                </a:cubicBezTo>
                <a:close/>
              </a:path>
            </a:pathLst>
          </a:custGeom>
          <a:solidFill>
            <a:srgbClr val="007BFF"/>
          </a:solidFill>
        </p:spPr>
      </p:sp>
      <p:sp>
        <p:nvSpPr>
          <p:cNvPr id="15" name="Text 12"/>
          <p:cNvSpPr/>
          <p:nvPr>
            <p:custDataLst>
              <p:tags r:id="rId12"/>
            </p:custDataLst>
          </p:nvPr>
        </p:nvSpPr>
        <p:spPr>
          <a:xfrm>
            <a:off x="8324850" y="4318000"/>
            <a:ext cx="3467100" cy="355600"/>
          </a:xfrm>
          <a:prstGeom prst="rect">
            <a:avLst/>
          </a:prstGeom>
          <a:noFill/>
        </p:spPr>
        <p:txBody>
          <a:bodyPr wrap="square" lIns="0" tIns="0" rIns="0" bIns="0" rtlCol="0" anchor="ctr"/>
          <a:lstStyle/>
          <a:p>
            <a:pPr algn="ctr">
              <a:lnSpc>
                <a:spcPct val="130000"/>
              </a:lnSpc>
            </a:pPr>
            <a:r>
              <a:rPr lang="en-US" sz="18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关注情绪健康</a:t>
            </a:r>
            <a:endParaRPr lang="en-US" sz="1600" dirty="0"/>
          </a:p>
        </p:txBody>
      </p:sp>
      <p:sp>
        <p:nvSpPr>
          <p:cNvPr id="16" name="Text 13"/>
          <p:cNvSpPr/>
          <p:nvPr>
            <p:custDataLst>
              <p:tags r:id="rId13"/>
            </p:custDataLst>
          </p:nvPr>
        </p:nvSpPr>
        <p:spPr>
          <a:xfrm>
            <a:off x="8337550" y="4775200"/>
            <a:ext cx="3441700" cy="508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学习正面沟通，用</a:t>
            </a:r>
            <a:r>
              <a:rPr lang="en-US" sz="1400" dirty="0">
                <a:solidFill>
                  <a:srgbClr val="333333"/>
                </a:solidFill>
                <a:highlight>
                  <a:srgbClr val="FFC107">
                    <a:alpha val="100000"/>
                  </a:srgbClr>
                </a:highlight>
                <a:latin typeface="Noto Sans SC" panose="020B0200000000000000" pitchFamily="34" charset="-122"/>
                <a:ea typeface="Noto Sans SC" panose="020B0200000000000000" pitchFamily="34" charset="-122"/>
                <a:cs typeface="Noto Sans SC" panose="020B0200000000000000" pitchFamily="34" charset="-120"/>
              </a:rPr>
              <a:t> 精神鼓励 </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培养内在动机。</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09-16:35:25-d3jn7j8s8jdo4os5dj20.jpg"/>
          <p:cNvPicPr>
            <a:picLocks noChangeAspect="1"/>
          </p:cNvPicPr>
          <p:nvPr/>
        </p:nvPicPr>
        <p:blipFill>
          <a:blip r:embed="rId1"/>
          <a:stretch>
            <a:fillRect/>
          </a:stretch>
        </p:blipFill>
        <p:spPr>
          <a:xfrm>
            <a:off x="0" y="0"/>
            <a:ext cx="12192000" cy="6858635"/>
          </a:xfrm>
          <a:prstGeom prst="rect">
            <a:avLst/>
          </a:prstGeom>
        </p:spPr>
      </p:pic>
      <p:sp>
        <p:nvSpPr>
          <p:cNvPr id="3" name="Text 0"/>
          <p:cNvSpPr/>
          <p:nvPr/>
        </p:nvSpPr>
        <p:spPr>
          <a:xfrm>
            <a:off x="2865755" y="981075"/>
            <a:ext cx="7168515" cy="508000"/>
          </a:xfrm>
          <a:prstGeom prst="rect">
            <a:avLst/>
          </a:prstGeom>
          <a:noFill/>
        </p:spPr>
        <p:txBody>
          <a:bodyPr wrap="square" lIns="0" tIns="0" rIns="0" bIns="0" rtlCol="0" anchor="ctr">
            <a:scene3d>
              <a:camera prst="orthographicFront"/>
              <a:lightRig rig="threePt" dir="t"/>
            </a:scene3d>
          </a:bodyPr>
          <a:lstStyle/>
          <a:p>
            <a:pPr algn="ctr">
              <a:lnSpc>
                <a:spcPct val="90000"/>
              </a:lnSpc>
            </a:pPr>
            <a:r>
              <a:rPr lang="en-US" altLang="zh-CN" sz="3600" b="1" dirty="0">
                <a:solidFill>
                  <a:schemeClr val="accent1"/>
                </a:solidFill>
                <a:effectLst>
                  <a:outerShdw blurRad="38100" dist="25400" dir="5400000" algn="ctr" rotWithShape="0">
                    <a:srgbClr val="6E747A">
                      <a:alpha val="43000"/>
                    </a:srgbClr>
                  </a:outerShdw>
                </a:effectLst>
                <a:latin typeface="Noto Sans SC" panose="020B0200000000000000" pitchFamily="34" charset="-122"/>
                <a:ea typeface="Noto Sans SC" panose="020B0200000000000000" pitchFamily="34" charset="-122"/>
                <a:cs typeface="Noto Sans SC" panose="020B0200000000000000" pitchFamily="34" charset="-120"/>
              </a:rPr>
              <a:t>Let differences become the norm</a:t>
            </a:r>
            <a:endParaRPr lang="en-US" altLang="zh-CN" sz="3600" b="1" dirty="0">
              <a:solidFill>
                <a:schemeClr val="accent1"/>
              </a:solidFill>
              <a:effectLst>
                <a:outerShdw blurRad="38100" dist="25400" dir="5400000" algn="ctr" rotWithShape="0">
                  <a:srgbClr val="6E747A">
                    <a:alpha val="43000"/>
                  </a:srgbClr>
                </a:outerShdw>
              </a:effectLst>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 name="Text 1"/>
          <p:cNvSpPr/>
          <p:nvPr/>
        </p:nvSpPr>
        <p:spPr>
          <a:xfrm>
            <a:off x="1162050" y="1724660"/>
            <a:ext cx="9867900" cy="1170940"/>
          </a:xfrm>
          <a:prstGeom prst="rect">
            <a:avLst/>
          </a:prstGeom>
          <a:noFill/>
        </p:spPr>
        <p:txBody>
          <a:bodyPr wrap="square" lIns="0" tIns="0" rIns="0" bIns="0" rtlCol="0" anchor="ctr"/>
          <a:lstStyle/>
          <a:p>
            <a:pPr algn="l">
              <a:lnSpc>
                <a:spcPct val="130000"/>
              </a:lnSpc>
            </a:pPr>
            <a:r>
              <a:rPr lang="en-US" altLang="zh-CN" sz="2400" dirty="0"/>
              <a:t>Xiao Xu's predicament is systematic, but the way out is also clear.</a:t>
            </a:r>
            <a:endParaRPr lang="en-US" altLang="zh-CN" sz="2400" dirty="0"/>
          </a:p>
          <a:p>
            <a:pPr algn="l">
              <a:lnSpc>
                <a:spcPct val="130000"/>
              </a:lnSpc>
            </a:pPr>
            <a:r>
              <a:rPr lang="en-US" altLang="zh-CN" sz="2400" dirty="0"/>
              <a:t>With </a:t>
            </a:r>
            <a:r>
              <a:rPr lang="en-US" altLang="zh-CN" sz="2400" dirty="0">
                <a:highlight>
                  <a:srgbClr val="FFFF00"/>
                </a:highlight>
              </a:rPr>
              <a:t>personalized, multi-collaborative and full-chain support</a:t>
            </a:r>
            <a:r>
              <a:rPr lang="en-US" altLang="zh-CN" sz="2400" dirty="0"/>
              <a:t>, the predicament of the dual problems is bound to be broken through.</a:t>
            </a:r>
            <a:endParaRPr lang="en-US" altLang="zh-CN" sz="2400" dirty="0"/>
          </a:p>
        </p:txBody>
      </p:sp>
      <p:sp>
        <p:nvSpPr>
          <p:cNvPr id="5" name="Shape 2"/>
          <p:cNvSpPr/>
          <p:nvPr/>
        </p:nvSpPr>
        <p:spPr>
          <a:xfrm>
            <a:off x="1998186" y="3302000"/>
            <a:ext cx="3898900" cy="1320800"/>
          </a:xfrm>
          <a:custGeom>
            <a:avLst/>
            <a:gdLst/>
            <a:ahLst/>
            <a:cxnLst/>
            <a:rect l="l" t="t" r="r" b="b"/>
            <a:pathLst>
              <a:path w="3898900" h="1320800">
                <a:moveTo>
                  <a:pt x="101596" y="0"/>
                </a:moveTo>
                <a:lnTo>
                  <a:pt x="3797304" y="0"/>
                </a:lnTo>
                <a:cubicBezTo>
                  <a:pt x="3853414" y="0"/>
                  <a:pt x="3898900" y="45486"/>
                  <a:pt x="3898900" y="101596"/>
                </a:cubicBezTo>
                <a:lnTo>
                  <a:pt x="3898900" y="1219204"/>
                </a:lnTo>
                <a:cubicBezTo>
                  <a:pt x="3898900" y="1275314"/>
                  <a:pt x="3853414" y="1320800"/>
                  <a:pt x="3797304" y="1320800"/>
                </a:cubicBezTo>
                <a:lnTo>
                  <a:pt x="101596" y="1320800"/>
                </a:lnTo>
                <a:cubicBezTo>
                  <a:pt x="45486" y="1320800"/>
                  <a:pt x="0" y="1275314"/>
                  <a:pt x="0" y="1219204"/>
                </a:cubicBezTo>
                <a:lnTo>
                  <a:pt x="0" y="101596"/>
                </a:lnTo>
                <a:cubicBezTo>
                  <a:pt x="0" y="45486"/>
                  <a:pt x="45486" y="0"/>
                  <a:pt x="101596" y="0"/>
                </a:cubicBezTo>
                <a:close/>
              </a:path>
            </a:pathLst>
          </a:custGeom>
          <a:solidFill>
            <a:srgbClr val="007BFF">
              <a:alpha val="10196"/>
            </a:srgbClr>
          </a:solidFill>
        </p:spPr>
      </p:sp>
      <p:sp>
        <p:nvSpPr>
          <p:cNvPr id="6" name="Text 3"/>
          <p:cNvSpPr/>
          <p:nvPr/>
        </p:nvSpPr>
        <p:spPr>
          <a:xfrm>
            <a:off x="2150586" y="3505200"/>
            <a:ext cx="3594100" cy="304800"/>
          </a:xfrm>
          <a:prstGeom prst="rect">
            <a:avLst/>
          </a:prstGeom>
          <a:noFill/>
        </p:spPr>
        <p:txBody>
          <a:bodyPr wrap="square" lIns="0" tIns="0" rIns="0" bIns="0" rtlCol="0" anchor="ctr"/>
          <a:lstStyle/>
          <a:p>
            <a:pPr algn="ctr">
              <a:lnSpc>
                <a:spcPct val="130000"/>
              </a:lnSpc>
            </a:pPr>
            <a:r>
              <a:rPr lang="en-US" sz="1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核心结论</a:t>
            </a:r>
            <a:endParaRPr lang="en-US" sz="1600" dirty="0"/>
          </a:p>
        </p:txBody>
      </p:sp>
      <p:sp>
        <p:nvSpPr>
          <p:cNvPr id="7" name="Text 4"/>
          <p:cNvSpPr/>
          <p:nvPr/>
        </p:nvSpPr>
        <p:spPr>
          <a:xfrm>
            <a:off x="2156936" y="3911600"/>
            <a:ext cx="3581400" cy="508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困境源于</a:t>
            </a:r>
            <a:r>
              <a:rPr lang="en-US" sz="14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制度、教学、技术、文化</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的多重缺失，需系统性解决方案。</a:t>
            </a:r>
            <a:endParaRPr lang="en-US" sz="1600" dirty="0"/>
          </a:p>
        </p:txBody>
      </p:sp>
      <p:sp>
        <p:nvSpPr>
          <p:cNvPr id="8" name="Shape 5"/>
          <p:cNvSpPr/>
          <p:nvPr/>
        </p:nvSpPr>
        <p:spPr>
          <a:xfrm>
            <a:off x="6299200" y="3302000"/>
            <a:ext cx="3898900" cy="1320800"/>
          </a:xfrm>
          <a:custGeom>
            <a:avLst/>
            <a:gdLst/>
            <a:ahLst/>
            <a:cxnLst/>
            <a:rect l="l" t="t" r="r" b="b"/>
            <a:pathLst>
              <a:path w="3898900" h="1320800">
                <a:moveTo>
                  <a:pt x="101596" y="0"/>
                </a:moveTo>
                <a:lnTo>
                  <a:pt x="3797304" y="0"/>
                </a:lnTo>
                <a:cubicBezTo>
                  <a:pt x="3853414" y="0"/>
                  <a:pt x="3898900" y="45486"/>
                  <a:pt x="3898900" y="101596"/>
                </a:cubicBezTo>
                <a:lnTo>
                  <a:pt x="3898900" y="1219204"/>
                </a:lnTo>
                <a:cubicBezTo>
                  <a:pt x="3898900" y="1275314"/>
                  <a:pt x="3853414" y="1320800"/>
                  <a:pt x="3797304" y="1320800"/>
                </a:cubicBezTo>
                <a:lnTo>
                  <a:pt x="101596" y="1320800"/>
                </a:lnTo>
                <a:cubicBezTo>
                  <a:pt x="45486" y="1320800"/>
                  <a:pt x="0" y="1275314"/>
                  <a:pt x="0" y="1219204"/>
                </a:cubicBezTo>
                <a:lnTo>
                  <a:pt x="0" y="101596"/>
                </a:lnTo>
                <a:cubicBezTo>
                  <a:pt x="0" y="45486"/>
                  <a:pt x="45486" y="0"/>
                  <a:pt x="101596" y="0"/>
                </a:cubicBezTo>
                <a:close/>
              </a:path>
            </a:pathLst>
          </a:custGeom>
          <a:solidFill>
            <a:srgbClr val="007BFF">
              <a:alpha val="10196"/>
            </a:srgbClr>
          </a:solidFill>
        </p:spPr>
      </p:sp>
      <p:sp>
        <p:nvSpPr>
          <p:cNvPr id="9" name="Text 6"/>
          <p:cNvSpPr/>
          <p:nvPr/>
        </p:nvSpPr>
        <p:spPr>
          <a:xfrm>
            <a:off x="6451600" y="3505200"/>
            <a:ext cx="3594100" cy="304800"/>
          </a:xfrm>
          <a:prstGeom prst="rect">
            <a:avLst/>
          </a:prstGeom>
          <a:noFill/>
        </p:spPr>
        <p:txBody>
          <a:bodyPr wrap="square" lIns="0" tIns="0" rIns="0" bIns="0" rtlCol="0" anchor="ctr"/>
          <a:lstStyle/>
          <a:p>
            <a:pPr algn="ctr">
              <a:lnSpc>
                <a:spcPct val="130000"/>
              </a:lnSpc>
            </a:pPr>
            <a:r>
              <a:rPr lang="en-US" sz="1600" b="1" dirty="0">
                <a:solidFill>
                  <a:srgbClr val="0056B3"/>
                </a:solidFill>
                <a:latin typeface="Noto Sans SC" panose="020B0200000000000000" pitchFamily="34" charset="-122"/>
                <a:ea typeface="Noto Sans SC" panose="020B0200000000000000" pitchFamily="34" charset="-122"/>
                <a:cs typeface="Noto Sans SC" panose="020B0200000000000000" pitchFamily="34" charset="-120"/>
              </a:rPr>
              <a:t>未来展望</a:t>
            </a:r>
            <a:endParaRPr lang="en-US" sz="1600" dirty="0"/>
          </a:p>
        </p:txBody>
      </p:sp>
      <p:sp>
        <p:nvSpPr>
          <p:cNvPr id="10" name="Text 7"/>
          <p:cNvSpPr/>
          <p:nvPr/>
        </p:nvSpPr>
        <p:spPr>
          <a:xfrm>
            <a:off x="6457950" y="3911600"/>
            <a:ext cx="3581400" cy="508000"/>
          </a:xfrm>
          <a:prstGeom prst="rect">
            <a:avLst/>
          </a:prstGeom>
          <a:noFill/>
        </p:spPr>
        <p:txBody>
          <a:bodyPr wrap="square" lIns="0" tIns="0" rIns="0" bIns="0" rtlCol="0" anchor="ctr"/>
          <a:lstStyle/>
          <a:p>
            <a:pPr algn="ct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当小煦能实现</a:t>
            </a:r>
            <a:r>
              <a:rPr lang="en-US" sz="14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15分钟专注</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与</a:t>
            </a:r>
            <a:r>
              <a:rPr lang="en-US" sz="1400" b="1"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独立洗漱</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，其进步将证明融合教育的价值。</a:t>
            </a:r>
            <a:endParaRPr lang="en-US" sz="1600" dirty="0"/>
          </a:p>
        </p:txBody>
      </p:sp>
      <p:sp>
        <p:nvSpPr>
          <p:cNvPr id="11" name="Text 8"/>
          <p:cNvSpPr/>
          <p:nvPr/>
        </p:nvSpPr>
        <p:spPr>
          <a:xfrm>
            <a:off x="513715" y="6109970"/>
            <a:ext cx="7332980" cy="355600"/>
          </a:xfrm>
          <a:prstGeom prst="rect">
            <a:avLst/>
          </a:prstGeom>
          <a:noFill/>
        </p:spPr>
        <p:txBody>
          <a:bodyPr wrap="square" lIns="0" tIns="0" rIns="0" bIns="0" rtlCol="0" anchor="ctr">
            <a:scene3d>
              <a:camera prst="orthographicFront"/>
              <a:lightRig rig="threePt" dir="t"/>
            </a:scene3d>
          </a:bodyPr>
          <a:lstStyle/>
          <a:p>
            <a:pPr algn="l">
              <a:lnSpc>
                <a:spcPct val="120000"/>
              </a:lnSpc>
            </a:pPr>
            <a:r>
              <a:rPr lang="en-US" altLang="zh-CN" sz="2000" b="1" dirty="0">
                <a:solidFill>
                  <a:schemeClr val="accent1"/>
                </a:solidFill>
                <a:effectLst>
                  <a:outerShdw blurRad="38100" dist="25400" dir="5400000" algn="ctr" rotWithShape="0">
                    <a:srgbClr val="6E747A">
                      <a:alpha val="43000"/>
                    </a:srgbClr>
                  </a:outerShdw>
                </a:effectLst>
                <a:latin typeface="Noto Sans SC" panose="020B0200000000000000" pitchFamily="34" charset="-122"/>
                <a:ea typeface="Noto Sans SC" panose="020B0200000000000000" pitchFamily="34" charset="-122"/>
                <a:cs typeface="Noto Sans SC" panose="020B0200000000000000" pitchFamily="34" charset="-120"/>
              </a:rPr>
              <a:t>Let inclusive education truly ensure that "no one is left behind".</a:t>
            </a:r>
            <a:endParaRPr lang="en-US" altLang="zh-CN" sz="2000" b="1" dirty="0">
              <a:solidFill>
                <a:schemeClr val="accent1"/>
              </a:solidFill>
              <a:effectLst>
                <a:outerShdw blurRad="38100" dist="25400" dir="5400000" algn="ctr" rotWithShape="0">
                  <a:srgbClr val="6E747A">
                    <a:alpha val="43000"/>
                  </a:srgbClr>
                </a:outerShdw>
              </a:effectLst>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12" name="Text 3"/>
          <p:cNvSpPr/>
          <p:nvPr/>
        </p:nvSpPr>
        <p:spPr>
          <a:xfrm>
            <a:off x="3688715" y="4875530"/>
            <a:ext cx="4814570" cy="893445"/>
          </a:xfrm>
          <a:prstGeom prst="rect">
            <a:avLst/>
          </a:prstGeom>
          <a:noFill/>
        </p:spPr>
        <p:txBody>
          <a:bodyPr wrap="square" lIns="45720" tIns="91440" rIns="91440" bIns="45720" rtlCol="0" anchor="b">
            <a:scene3d>
              <a:camera prst="orthographicFront"/>
              <a:lightRig rig="threePt" dir="t"/>
            </a:scene3d>
          </a:bodyPr>
          <a:lstStyle/>
          <a:p>
            <a:pPr>
              <a:lnSpc>
                <a:spcPct val="130000"/>
              </a:lnSpc>
            </a:pPr>
            <a:r>
              <a:rPr lang="en-US" sz="5400" dirty="0">
                <a:ln w="22225">
                  <a:solidFill>
                    <a:schemeClr val="accent2"/>
                  </a:solidFill>
                  <a:prstDash val="solid"/>
                </a:ln>
                <a:solidFill>
                  <a:schemeClr val="accent2">
                    <a:lumMod val="40000"/>
                    <a:lumOff val="60000"/>
                  </a:schemeClr>
                </a:solidFill>
                <a:effectLst/>
                <a:latin typeface="MiSans" pitchFamily="34" charset="0"/>
                <a:ea typeface="MiSans" pitchFamily="34" charset="-122"/>
                <a:cs typeface="MiSans" pitchFamily="34" charset="-120"/>
              </a:rPr>
              <a:t>THANK YOU </a:t>
            </a:r>
            <a:endParaRPr lang="en-US" sz="5400" dirty="0">
              <a:ln w="22225">
                <a:solidFill>
                  <a:schemeClr val="accent2"/>
                </a:solidFill>
                <a:prstDash val="solid"/>
              </a:ln>
              <a:solidFill>
                <a:schemeClr val="accent2">
                  <a:lumMod val="40000"/>
                  <a:lumOff val="60000"/>
                </a:schemeClr>
              </a:solidFill>
              <a:effectLst/>
              <a:latin typeface="MiSans" pitchFamily="34" charset="0"/>
              <a:ea typeface="MiSans" pitchFamily="34" charset="-122"/>
              <a:cs typeface="MiSans" pitchFamily="34" charset="-120"/>
            </a:endParaRPr>
          </a:p>
        </p:txBody>
      </p:sp>
      <p:sp>
        <p:nvSpPr>
          <p:cNvPr id="13" name="Text 8"/>
          <p:cNvSpPr/>
          <p:nvPr/>
        </p:nvSpPr>
        <p:spPr>
          <a:xfrm>
            <a:off x="8449310" y="6109970"/>
            <a:ext cx="3470910" cy="355600"/>
          </a:xfrm>
          <a:prstGeom prst="rect">
            <a:avLst/>
          </a:prstGeom>
          <a:noFill/>
        </p:spPr>
        <p:txBody>
          <a:bodyPr wrap="square" lIns="0" tIns="0" rIns="0" bIns="0" rtlCol="0" anchor="ctr">
            <a:scene3d>
              <a:camera prst="orthographicFront"/>
              <a:lightRig rig="threePt" dir="t"/>
            </a:scene3d>
          </a:bodyPr>
          <a:lstStyle/>
          <a:p>
            <a:pPr algn="ctr">
              <a:lnSpc>
                <a:spcPct val="120000"/>
              </a:lnSpc>
            </a:pPr>
            <a:r>
              <a:rPr lang="zh-CN" altLang="en-US" sz="2000" b="1" dirty="0">
                <a:solidFill>
                  <a:schemeClr val="accent1"/>
                </a:solidFill>
                <a:effectLst>
                  <a:outerShdw blurRad="38100" dist="25400" dir="5400000" algn="ctr" rotWithShape="0">
                    <a:srgbClr val="6E747A">
                      <a:alpha val="43000"/>
                    </a:srgbClr>
                  </a:outerShdw>
                </a:effectLst>
                <a:latin typeface="Noto Sans SC" panose="020B0200000000000000" pitchFamily="34" charset="-122"/>
                <a:ea typeface="Noto Sans SC" panose="020B0200000000000000" pitchFamily="34" charset="-122"/>
                <a:cs typeface="Noto Sans SC" panose="020B0200000000000000" pitchFamily="34" charset="-120"/>
              </a:rPr>
              <a:t>汇报人：葛晶晶</a:t>
            </a:r>
            <a:endParaRPr lang="zh-CN" altLang="en-US" sz="2000" b="1" dirty="0">
              <a:solidFill>
                <a:schemeClr val="accent1"/>
              </a:solidFill>
              <a:effectLst>
                <a:outerShdw blurRad="38100" dist="25400" dir="5400000" algn="ctr" rotWithShape="0">
                  <a:srgbClr val="6E747A">
                    <a:alpha val="43000"/>
                  </a:srgbClr>
                </a:outerShdw>
              </a:effectLst>
              <a:latin typeface="Noto Sans SC" panose="020B0200000000000000" pitchFamily="34" charset="-122"/>
              <a:ea typeface="Noto Sans SC" panose="020B0200000000000000" pitchFamily="34" charset="-122"/>
              <a:cs typeface="Noto Sans SC" panose="020B0200000000000000" pitchFamily="34" charset="-120"/>
            </a:endParaRPr>
          </a:p>
        </p:txBody>
      </p:sp>
    </p:spTree>
  </p:cSld>
  <p:clrMapOvr>
    <a:masterClrMapping/>
  </p:clrMapOvr>
</p:sld>
</file>

<file path=ppt/tags/tag1.xml><?xml version="1.0" encoding="utf-8"?>
<p:tagLst xmlns:p="http://schemas.openxmlformats.org/presentationml/2006/main">
  <p:tag name="KSO_WM_DIAGRAM_VIRTUALLY_FRAME" val="{&quot;height&quot;:361.35,&quot;left&quot;:261,&quot;top&quot;:116.05,&quot;width&quot;:657.8}"/>
</p:tagLst>
</file>

<file path=ppt/tags/tag2.xml><?xml version="1.0" encoding="utf-8"?>
<p:tagLst xmlns:p="http://schemas.openxmlformats.org/presentationml/2006/main">
  <p:tag name="KSO_WM_DIAGRAM_VIRTUALLY_FRAME" val="{&quot;height&quot;:361.35,&quot;left&quot;:261,&quot;top&quot;:116.05,&quot;width&quot;:657.8}"/>
</p:tagLst>
</file>

<file path=ppt/tags/tag3.xml><?xml version="1.0" encoding="utf-8"?>
<p:tagLst xmlns:p="http://schemas.openxmlformats.org/presentationml/2006/main">
  <p:tag name="KSO_WM_DIAGRAM_VIRTUALLY_FRAME" val="{&quot;height&quot;:361.35,&quot;left&quot;:261,&quot;top&quot;:116.05,&quot;width&quot;:657.8}"/>
</p:tagLst>
</file>

<file path=ppt/tags/tag4.xml><?xml version="1.0" encoding="utf-8"?>
<p:tagLst xmlns:p="http://schemas.openxmlformats.org/presentationml/2006/main">
  <p:tag name="KSO_WM_DIAGRAM_VIRTUALLY_FRAME" val="{&quot;height&quot;:361.35,&quot;left&quot;:261,&quot;top&quot;:116.05,&quot;width&quot;:657.8}"/>
</p:tagLst>
</file>

<file path=ppt/tags/tag5.xml><?xml version="1.0" encoding="utf-8"?>
<p:tagLst xmlns:p="http://schemas.openxmlformats.org/presentationml/2006/main">
  <p:tag name="KSO_WM_DIAGRAM_VIRTUALLY_FRAME" val="{&quot;height&quot;:361.35,&quot;left&quot;:261,&quot;top&quot;:116.05,&quot;width&quot;:657.8}"/>
</p:tagLst>
</file>

<file path=ppt/tags/tag6.xml><?xml version="1.0" encoding="utf-8"?>
<p:tagLst xmlns:p="http://schemas.openxmlformats.org/presentationml/2006/main">
  <p:tag name="KSO_WM_DIAGRAM_VIRTUALLY_FRAME" val="{&quot;height&quot;:361.35,&quot;left&quot;:261,&quot;top&quot;:116.05,&quot;width&quot;:657.8}"/>
</p:tagLst>
</file>

<file path=ppt/tags/tag7.xml><?xml version="1.0" encoding="utf-8"?>
<p:tagLst xmlns:p="http://schemas.openxmlformats.org/presentationml/2006/main">
  <p:tag name="KSO_WM_DIAGRAM_VIRTUALLY_FRAME" val="{&quot;height&quot;:361.35,&quot;left&quot;:261,&quot;top&quot;:116.05,&quot;width&quot;:657.8}"/>
</p:tagLst>
</file>

<file path=ppt/tags/tag8.xml><?xml version="1.0" encoding="utf-8"?>
<p:tagLst xmlns:p="http://schemas.openxmlformats.org/presentationml/2006/main">
  <p:tag name="KSO_WM_DIAGRAM_VIRTUALLY_FRAME" val="{&quot;height&quot;:361.35,&quot;left&quot;:261,&quot;top&quot;:116.05,&quot;width&quot;:657.8}"/>
</p:tagLst>
</file>

<file path=ppt/tags/tag9.xml><?xml version="1.0" encoding="utf-8"?>
<p:tagLst xmlns:p="http://schemas.openxmlformats.org/presentationml/2006/main">
  <p:tag name="KSO_WM_DIAGRAM_VIRTUALLY_FRAME" val="{&quot;height&quot;:361.35,&quot;left&quot;:261,&quot;top&quot;:116.05,&quot;width&quot;:657.8}"/>
</p:tagLst>
</file>

<file path=ppt/tags/tag10.xml><?xml version="1.0" encoding="utf-8"?>
<p:tagLst xmlns:p="http://schemas.openxmlformats.org/presentationml/2006/main">
  <p:tag name="KSO_WM_DIAGRAM_VIRTUALLY_FRAME" val="{&quot;height&quot;:361.35,&quot;left&quot;:261,&quot;top&quot;:116.05,&quot;width&quot;:657.8}"/>
</p:tagLst>
</file>

<file path=ppt/tags/tag11.xml><?xml version="1.0" encoding="utf-8"?>
<p:tagLst xmlns:p="http://schemas.openxmlformats.org/presentationml/2006/main">
  <p:tag name="KSO_WM_DIAGRAM_VIRTUALLY_FRAME" val="{&quot;height&quot;:361.35,&quot;left&quot;:261,&quot;top&quot;:116.05,&quot;width&quot;:657.8}"/>
</p:tagLst>
</file>

<file path=ppt/tags/tag12.xml><?xml version="1.0" encoding="utf-8"?>
<p:tagLst xmlns:p="http://schemas.openxmlformats.org/presentationml/2006/main">
  <p:tag name="KSO_WM_DIAGRAM_VIRTUALLY_FRAME" val="{&quot;height&quot;:361.35,&quot;left&quot;:261,&quot;top&quot;:116.05,&quot;width&quot;:657.8}"/>
</p:tagLst>
</file>

<file path=ppt/tags/tag13.xml><?xml version="1.0" encoding="utf-8"?>
<p:tagLst xmlns:p="http://schemas.openxmlformats.org/presentationml/2006/main">
  <p:tag name="KSO_WM_DIAGRAM_VIRTUALLY_FRAME" val="{&quot;height&quot;:361.35,&quot;left&quot;:261,&quot;top&quot;:116.05,&quot;width&quot;:657.8}"/>
</p:tagLst>
</file>

<file path=ppt/tags/tag14.xml><?xml version="1.0" encoding="utf-8"?>
<p:tagLst xmlns:p="http://schemas.openxmlformats.org/presentationml/2006/main">
  <p:tag name="KSO_WM_DIAGRAM_VIRTUALLY_FRAME" val="{&quot;height&quot;:361.35,&quot;left&quot;:261,&quot;top&quot;:116.05,&quot;width&quot;:657.8}"/>
</p:tagLst>
</file>

<file path=ppt/tags/tag15.xml><?xml version="1.0" encoding="utf-8"?>
<p:tagLst xmlns:p="http://schemas.openxmlformats.org/presentationml/2006/main">
  <p:tag name="KSO_WM_DIAGRAM_VIRTUALLY_FRAME" val="{&quot;height&quot;:384,&quot;left&quot;:20,&quot;top&quot;:136,&quot;width&quot;:920}"/>
</p:tagLst>
</file>

<file path=ppt/tags/tag16.xml><?xml version="1.0" encoding="utf-8"?>
<p:tagLst xmlns:p="http://schemas.openxmlformats.org/presentationml/2006/main">
  <p:tag name="KSO_WM_DIAGRAM_VIRTUALLY_FRAME" val="{&quot;height&quot;:384,&quot;left&quot;:20,&quot;top&quot;:136,&quot;width&quot;:920}"/>
</p:tagLst>
</file>

<file path=ppt/tags/tag17.xml><?xml version="1.0" encoding="utf-8"?>
<p:tagLst xmlns:p="http://schemas.openxmlformats.org/presentationml/2006/main">
  <p:tag name="KSO_WM_DIAGRAM_VIRTUALLY_FRAME" val="{&quot;height&quot;:384,&quot;left&quot;:20,&quot;top&quot;:136,&quot;width&quot;:920}"/>
</p:tagLst>
</file>

<file path=ppt/tags/tag18.xml><?xml version="1.0" encoding="utf-8"?>
<p:tagLst xmlns:p="http://schemas.openxmlformats.org/presentationml/2006/main">
  <p:tag name="KSO_WM_DIAGRAM_VIRTUALLY_FRAME" val="{&quot;height&quot;:384,&quot;left&quot;:20,&quot;top&quot;:136,&quot;width&quot;:920}"/>
</p:tagLst>
</file>

<file path=ppt/tags/tag19.xml><?xml version="1.0" encoding="utf-8"?>
<p:tagLst xmlns:p="http://schemas.openxmlformats.org/presentationml/2006/main">
  <p:tag name="KSO_WM_DIAGRAM_VIRTUALLY_FRAME" val="{&quot;height&quot;:384,&quot;left&quot;:20,&quot;top&quot;:136,&quot;width&quot;:920}"/>
</p:tagLst>
</file>

<file path=ppt/tags/tag20.xml><?xml version="1.0" encoding="utf-8"?>
<p:tagLst xmlns:p="http://schemas.openxmlformats.org/presentationml/2006/main">
  <p:tag name="KSO_WM_DIAGRAM_VIRTUALLY_FRAME" val="{&quot;height&quot;:384,&quot;left&quot;:20,&quot;top&quot;:136,&quot;width&quot;:920}"/>
</p:tagLst>
</file>

<file path=ppt/tags/tag21.xml><?xml version="1.0" encoding="utf-8"?>
<p:tagLst xmlns:p="http://schemas.openxmlformats.org/presentationml/2006/main">
  <p:tag name="KSO_WM_DIAGRAM_VIRTUALLY_FRAME" val="{&quot;height&quot;:384,&quot;left&quot;:20,&quot;top&quot;:136,&quot;width&quot;:920}"/>
</p:tagLst>
</file>

<file path=ppt/tags/tag22.xml><?xml version="1.0" encoding="utf-8"?>
<p:tagLst xmlns:p="http://schemas.openxmlformats.org/presentationml/2006/main">
  <p:tag name="KSO_WM_DIAGRAM_VIRTUALLY_FRAME" val="{&quot;height&quot;:384,&quot;left&quot;:20,&quot;top&quot;:136,&quot;width&quot;:920}"/>
</p:tagLst>
</file>

<file path=ppt/tags/tag23.xml><?xml version="1.0" encoding="utf-8"?>
<p:tagLst xmlns:p="http://schemas.openxmlformats.org/presentationml/2006/main">
  <p:tag name="KSO_WM_DIAGRAM_VIRTUALLY_FRAME" val="{&quot;height&quot;:384,&quot;left&quot;:20,&quot;top&quot;:136,&quot;width&quot;:920}"/>
</p:tagLst>
</file>

<file path=ppt/tags/tag24.xml><?xml version="1.0" encoding="utf-8"?>
<p:tagLst xmlns:p="http://schemas.openxmlformats.org/presentationml/2006/main">
  <p:tag name="KSO_WM_DIAGRAM_VIRTUALLY_FRAME" val="{&quot;height&quot;:384,&quot;left&quot;:20,&quot;top&quot;:136,&quot;width&quot;:920}"/>
</p:tagLst>
</file>

<file path=ppt/tags/tag25.xml><?xml version="1.0" encoding="utf-8"?>
<p:tagLst xmlns:p="http://schemas.openxmlformats.org/presentationml/2006/main">
  <p:tag name="KSO_WM_DIAGRAM_VIRTUALLY_FRAME" val="{&quot;height&quot;:384,&quot;left&quot;:20,&quot;top&quot;:136,&quot;width&quot;:920}"/>
</p:tagLst>
</file>

<file path=ppt/tags/tag26.xml><?xml version="1.0" encoding="utf-8"?>
<p:tagLst xmlns:p="http://schemas.openxmlformats.org/presentationml/2006/main">
  <p:tag name="KSO_WM_DIAGRAM_VIRTUALLY_FRAME" val="{&quot;height&quot;:224,&quot;left&quot;:483.3625196850394,&quot;top&quot;:238,&quot;width&quot;:464.4374803149606}"/>
</p:tagLst>
</file>

<file path=ppt/tags/tag27.xml><?xml version="1.0" encoding="utf-8"?>
<p:tagLst xmlns:p="http://schemas.openxmlformats.org/presentationml/2006/main">
  <p:tag name="KSO_WM_DIAGRAM_VIRTUALLY_FRAME" val="{&quot;height&quot;:224,&quot;left&quot;:483.3625196850394,&quot;top&quot;:238,&quot;width&quot;:464.4374803149606}"/>
</p:tagLst>
</file>

<file path=ppt/tags/tag28.xml><?xml version="1.0" encoding="utf-8"?>
<p:tagLst xmlns:p="http://schemas.openxmlformats.org/presentationml/2006/main">
  <p:tag name="KSO_WM_DIAGRAM_VIRTUALLY_FRAME" val="{&quot;height&quot;:224,&quot;left&quot;:483.3625196850394,&quot;top&quot;:238,&quot;width&quot;:464.4374803149606}"/>
</p:tagLst>
</file>

<file path=ppt/tags/tag29.xml><?xml version="1.0" encoding="utf-8"?>
<p:tagLst xmlns:p="http://schemas.openxmlformats.org/presentationml/2006/main">
  <p:tag name="KSO_WM_DIAGRAM_VIRTUALLY_FRAME" val="{&quot;height&quot;:224,&quot;left&quot;:483.3625196850394,&quot;top&quot;:238,&quot;width&quot;:464.4374803149606}"/>
</p:tagLst>
</file>

<file path=ppt/tags/tag30.xml><?xml version="1.0" encoding="utf-8"?>
<p:tagLst xmlns:p="http://schemas.openxmlformats.org/presentationml/2006/main">
  <p:tag name="KSO_WM_DIAGRAM_VIRTUALLY_FRAME" val="{&quot;height&quot;:224,&quot;left&quot;:483.3625196850394,&quot;top&quot;:238,&quot;width&quot;:464.4374803149606}"/>
</p:tagLst>
</file>

<file path=ppt/tags/tag31.xml><?xml version="1.0" encoding="utf-8"?>
<p:tagLst xmlns:p="http://schemas.openxmlformats.org/presentationml/2006/main">
  <p:tag name="KSO_WM_DIAGRAM_VIRTUALLY_FRAME" val="{&quot;height&quot;:224,&quot;left&quot;:483.3625196850394,&quot;top&quot;:238,&quot;width&quot;:464.4374803149606}"/>
</p:tagLst>
</file>

<file path=ppt/tags/tag32.xml><?xml version="1.0" encoding="utf-8"?>
<p:tagLst xmlns:p="http://schemas.openxmlformats.org/presentationml/2006/main">
  <p:tag name="KSO_WM_DIAGRAM_VIRTUALLY_FRAME" val="{&quot;height&quot;:224,&quot;left&quot;:483.3625196850394,&quot;top&quot;:238,&quot;width&quot;:464.4374803149606}"/>
</p:tagLst>
</file>

<file path=ppt/tags/tag33.xml><?xml version="1.0" encoding="utf-8"?>
<p:tagLst xmlns:p="http://schemas.openxmlformats.org/presentationml/2006/main">
  <p:tag name="KSO_WM_DIAGRAM_VIRTUALLY_FRAME" val="{&quot;height&quot;:224,&quot;left&quot;:483.3625196850394,&quot;top&quot;:238,&quot;width&quot;:464.4374803149606}"/>
</p:tagLst>
</file>

<file path=ppt/tags/tag34.xml><?xml version="1.0" encoding="utf-8"?>
<p:tagLst xmlns:p="http://schemas.openxmlformats.org/presentationml/2006/main">
  <p:tag name="KSO_WM_DIAGRAM_VIRTUALLY_FRAME" val="{&quot;height&quot;:224,&quot;left&quot;:483.3625196850394,&quot;top&quot;:238,&quot;width&quot;:464.4374803149606}"/>
</p:tagLst>
</file>

<file path=ppt/tags/tag35.xml><?xml version="1.0" encoding="utf-8"?>
<p:tagLst xmlns:p="http://schemas.openxmlformats.org/presentationml/2006/main">
  <p:tag name="KSO_WM_DIAGRAM_VIRTUALLY_FRAME" val="{&quot;height&quot;:245,&quot;left&quot;:180,&quot;top&quot;:213.95,&quot;width&quot;:603.5}"/>
</p:tagLst>
</file>

<file path=ppt/tags/tag36.xml><?xml version="1.0" encoding="utf-8"?>
<p:tagLst xmlns:p="http://schemas.openxmlformats.org/presentationml/2006/main">
  <p:tag name="KSO_WM_DIAGRAM_VIRTUALLY_FRAME" val="{&quot;height&quot;:245,&quot;left&quot;:180,&quot;top&quot;:213.95,&quot;width&quot;:603.5}"/>
</p:tagLst>
</file>

<file path=ppt/tags/tag37.xml><?xml version="1.0" encoding="utf-8"?>
<p:tagLst xmlns:p="http://schemas.openxmlformats.org/presentationml/2006/main">
  <p:tag name="KSO_WM_DIAGRAM_VIRTUALLY_FRAME" val="{&quot;height&quot;:245,&quot;left&quot;:180,&quot;top&quot;:213.95,&quot;width&quot;:603.5}"/>
</p:tagLst>
</file>

<file path=ppt/tags/tag38.xml><?xml version="1.0" encoding="utf-8"?>
<p:tagLst xmlns:p="http://schemas.openxmlformats.org/presentationml/2006/main">
  <p:tag name="KSO_WM_DIAGRAM_VIRTUALLY_FRAME" val="{&quot;height&quot;:245,&quot;left&quot;:180,&quot;top&quot;:213.95,&quot;width&quot;:603.5}"/>
</p:tagLst>
</file>

<file path=ppt/tags/tag39.xml><?xml version="1.0" encoding="utf-8"?>
<p:tagLst xmlns:p="http://schemas.openxmlformats.org/presentationml/2006/main">
  <p:tag name="KSO_WM_DIAGRAM_VIRTUALLY_FRAME" val="{&quot;height&quot;:245,&quot;left&quot;:180,&quot;top&quot;:213.95,&quot;width&quot;:603.5}"/>
</p:tagLst>
</file>

<file path=ppt/tags/tag40.xml><?xml version="1.0" encoding="utf-8"?>
<p:tagLst xmlns:p="http://schemas.openxmlformats.org/presentationml/2006/main">
  <p:tag name="KSO_WM_DIAGRAM_VIRTUALLY_FRAME" val="{&quot;height&quot;:245,&quot;left&quot;:180,&quot;top&quot;:213.95,&quot;width&quot;:603.5}"/>
</p:tagLst>
</file>

<file path=ppt/tags/tag41.xml><?xml version="1.0" encoding="utf-8"?>
<p:tagLst xmlns:p="http://schemas.openxmlformats.org/presentationml/2006/main">
  <p:tag name="KSO_WM_DIAGRAM_VIRTUALLY_FRAME" val="{&quot;height&quot;:245,&quot;left&quot;:180,&quot;top&quot;:213.95,&quot;width&quot;:603.5}"/>
</p:tagLst>
</file>

<file path=ppt/tags/tag42.xml><?xml version="1.0" encoding="utf-8"?>
<p:tagLst xmlns:p="http://schemas.openxmlformats.org/presentationml/2006/main">
  <p:tag name="KSO_WM_DIAGRAM_VIRTUALLY_FRAME" val="{&quot;height&quot;:245,&quot;left&quot;:180,&quot;top&quot;:213.95,&quot;width&quot;:603.5}"/>
</p:tagLst>
</file>

<file path=ppt/tags/tag43.xml><?xml version="1.0" encoding="utf-8"?>
<p:tagLst xmlns:p="http://schemas.openxmlformats.org/presentationml/2006/main">
  <p:tag name="KSO_WM_DIAGRAM_VIRTUALLY_FRAME" val="{&quot;height&quot;:245,&quot;left&quot;:180,&quot;top&quot;:213.95,&quot;width&quot;:603.5}"/>
</p:tagLst>
</file>

<file path=ppt/tags/tag44.xml><?xml version="1.0" encoding="utf-8"?>
<p:tagLst xmlns:p="http://schemas.openxmlformats.org/presentationml/2006/main">
  <p:tag name="KSO_WM_DIAGRAM_VIRTUALLY_FRAME" val="{&quot;height&quot;:245,&quot;left&quot;:180,&quot;top&quot;:213.95,&quot;width&quot;:603.5}"/>
</p:tagLst>
</file>

<file path=ppt/tags/tag45.xml><?xml version="1.0" encoding="utf-8"?>
<p:tagLst xmlns:p="http://schemas.openxmlformats.org/presentationml/2006/main">
  <p:tag name="KSO_WM_DIAGRAM_VIRTUALLY_FRAME" val="{&quot;height&quot;:245,&quot;left&quot;:180,&quot;top&quot;:213.95,&quot;width&quot;:603.5}"/>
</p:tagLst>
</file>

<file path=ppt/tags/tag46.xml><?xml version="1.0" encoding="utf-8"?>
<p:tagLst xmlns:p="http://schemas.openxmlformats.org/presentationml/2006/main">
  <p:tag name="KSO_WM_DIAGRAM_VIRTUALLY_FRAME" val="{&quot;height&quot;:245,&quot;left&quot;:180,&quot;top&quot;:213.95,&quot;width&quot;:603.5}"/>
</p:tagLst>
</file>

<file path=ppt/tags/tag47.xml><?xml version="1.0" encoding="utf-8"?>
<p:tagLst xmlns:p="http://schemas.openxmlformats.org/presentationml/2006/main">
  <p:tag name="KSO_WM_DIAGRAM_VIRTUALLY_FRAME" val="{&quot;height&quot;:245,&quot;left&quot;:180,&quot;top&quot;:213.95,&quot;width&quot;:603.5}"/>
</p:tagLst>
</file>

<file path=ppt/tags/tag48.xml><?xml version="1.0" encoding="utf-8"?>
<p:tagLst xmlns:p="http://schemas.openxmlformats.org/presentationml/2006/main">
  <p:tag name="KSO_WM_DIAGRAM_VIRTUALLY_FRAME" val="{&quot;height&quot;:245,&quot;left&quot;:180,&quot;top&quot;:213.95,&quot;width&quot;:603.5}"/>
</p:tagLst>
</file>

<file path=ppt/tags/tag49.xml><?xml version="1.0" encoding="utf-8"?>
<p:tagLst xmlns:p="http://schemas.openxmlformats.org/presentationml/2006/main">
  <p:tag name="KSO_WM_DIAGRAM_VIRTUALLY_FRAME" val="{&quot;height&quot;:245,&quot;left&quot;:180,&quot;top&quot;:213.95,&quot;width&quot;:603.5}"/>
</p:tagLst>
</file>

<file path=ppt/tags/tag50.xml><?xml version="1.0" encoding="utf-8"?>
<p:tagLst xmlns:p="http://schemas.openxmlformats.org/presentationml/2006/main">
  <p:tag name="KSO_WM_DIAGRAM_VIRTUALLY_FRAME" val="{&quot;height&quot;:245,&quot;left&quot;:180,&quot;top&quot;:213.95,&quot;width&quot;:603.5}"/>
</p:tagLst>
</file>

<file path=ppt/tags/tag51.xml><?xml version="1.0" encoding="utf-8"?>
<p:tagLst xmlns:p="http://schemas.openxmlformats.org/presentationml/2006/main">
  <p:tag name="KSO_WM_DIAGRAM_VIRTUALLY_FRAME" val="{&quot;height&quot;:245,&quot;left&quot;:180,&quot;top&quot;:213.95,&quot;width&quot;:603.5}"/>
</p:tagLst>
</file>

<file path=ppt/tags/tag52.xml><?xml version="1.0" encoding="utf-8"?>
<p:tagLst xmlns:p="http://schemas.openxmlformats.org/presentationml/2006/main">
  <p:tag name="KSO_WM_DIAGRAM_VIRTUALLY_FRAME" val="{&quot;height&quot;:208,&quot;left&quot;:20,&quot;top&quot;:246,&quot;width&quot;:428}"/>
</p:tagLst>
</file>

<file path=ppt/tags/tag53.xml><?xml version="1.0" encoding="utf-8"?>
<p:tagLst xmlns:p="http://schemas.openxmlformats.org/presentationml/2006/main">
  <p:tag name="KSO_WM_DIAGRAM_VIRTUALLY_FRAME" val="{&quot;height&quot;:208,&quot;left&quot;:20,&quot;top&quot;:246,&quot;width&quot;:428}"/>
</p:tagLst>
</file>

<file path=ppt/tags/tag54.xml><?xml version="1.0" encoding="utf-8"?>
<p:tagLst xmlns:p="http://schemas.openxmlformats.org/presentationml/2006/main">
  <p:tag name="KSO_WM_DIAGRAM_VIRTUALLY_FRAME" val="{&quot;height&quot;:208,&quot;left&quot;:20,&quot;top&quot;:246,&quot;width&quot;:428}"/>
</p:tagLst>
</file>

<file path=ppt/tags/tag55.xml><?xml version="1.0" encoding="utf-8"?>
<p:tagLst xmlns:p="http://schemas.openxmlformats.org/presentationml/2006/main">
  <p:tag name="KSO_WM_DIAGRAM_VIRTUALLY_FRAME" val="{&quot;height&quot;:208,&quot;left&quot;:20,&quot;top&quot;:246,&quot;width&quot;:428}"/>
</p:tagLst>
</file>

<file path=ppt/tags/tag56.xml><?xml version="1.0" encoding="utf-8"?>
<p:tagLst xmlns:p="http://schemas.openxmlformats.org/presentationml/2006/main">
  <p:tag name="KSO_WM_DIAGRAM_VIRTUALLY_FRAME" val="{&quot;height&quot;:208,&quot;left&quot;:20,&quot;top&quot;:246,&quot;width&quot;:428}"/>
</p:tagLst>
</file>

<file path=ppt/tags/tag57.xml><?xml version="1.0" encoding="utf-8"?>
<p:tagLst xmlns:p="http://schemas.openxmlformats.org/presentationml/2006/main">
  <p:tag name="KSO_WM_DIAGRAM_VIRTUALLY_FRAME" val="{&quot;height&quot;:208,&quot;left&quot;:20,&quot;top&quot;:246,&quot;width&quot;:428}"/>
</p:tagLst>
</file>

<file path=ppt/tags/tag58.xml><?xml version="1.0" encoding="utf-8"?>
<p:tagLst xmlns:p="http://schemas.openxmlformats.org/presentationml/2006/main">
  <p:tag name="KSO_WM_DIAGRAM_VIRTUALLY_FRAME" val="{&quot;height&quot;:164,&quot;left&quot;:532,&quot;top&quot;:250,&quot;width&quot;:372}"/>
</p:tagLst>
</file>

<file path=ppt/tags/tag59.xml><?xml version="1.0" encoding="utf-8"?>
<p:tagLst xmlns:p="http://schemas.openxmlformats.org/presentationml/2006/main">
  <p:tag name="KSO_WM_DIAGRAM_VIRTUALLY_FRAME" val="{&quot;height&quot;:164,&quot;left&quot;:532,&quot;top&quot;:250,&quot;width&quot;:372}"/>
</p:tagLst>
</file>

<file path=ppt/tags/tag60.xml><?xml version="1.0" encoding="utf-8"?>
<p:tagLst xmlns:p="http://schemas.openxmlformats.org/presentationml/2006/main">
  <p:tag name="KSO_WM_DIAGRAM_VIRTUALLY_FRAME" val="{&quot;height&quot;:164,&quot;left&quot;:532,&quot;top&quot;:250,&quot;width&quot;:372}"/>
</p:tagLst>
</file>

<file path=ppt/tags/tag61.xml><?xml version="1.0" encoding="utf-8"?>
<p:tagLst xmlns:p="http://schemas.openxmlformats.org/presentationml/2006/main">
  <p:tag name="KSO_WM_DIAGRAM_VIRTUALLY_FRAME" val="{&quot;height&quot;:164,&quot;left&quot;:532,&quot;top&quot;:250,&quot;width&quot;:372}"/>
</p:tagLst>
</file>

<file path=ppt/tags/tag62.xml><?xml version="1.0" encoding="utf-8"?>
<p:tagLst xmlns:p="http://schemas.openxmlformats.org/presentationml/2006/main">
  <p:tag name="KSO_WM_DIAGRAM_VIRTUALLY_FRAME" val="{&quot;height&quot;:164,&quot;left&quot;:532,&quot;top&quot;:250,&quot;width&quot;:372}"/>
</p:tagLst>
</file>

<file path=ppt/tags/tag63.xml><?xml version="1.0" encoding="utf-8"?>
<p:tagLst xmlns:p="http://schemas.openxmlformats.org/presentationml/2006/main">
  <p:tag name="KSO_WM_DIAGRAM_VIRTUALLY_FRAME" val="{&quot;height&quot;:164,&quot;left&quot;:532,&quot;top&quot;:250,&quot;width&quot;:372}"/>
</p:tagLst>
</file>

<file path=ppt/tags/tag64.xml><?xml version="1.0" encoding="utf-8"?>
<p:tagLst xmlns:p="http://schemas.openxmlformats.org/presentationml/2006/main">
  <p:tag name="KSO_WM_DIAGRAM_VIRTUALLY_FRAME" val="{&quot;height&quot;:152,&quot;left&quot;:31.5,&quot;top&quot;:264,&quot;width&quot;:897}"/>
</p:tagLst>
</file>

<file path=ppt/tags/tag65.xml><?xml version="1.0" encoding="utf-8"?>
<p:tagLst xmlns:p="http://schemas.openxmlformats.org/presentationml/2006/main">
  <p:tag name="KSO_WM_DIAGRAM_VIRTUALLY_FRAME" val="{&quot;height&quot;:152,&quot;left&quot;:31.5,&quot;top&quot;:264,&quot;width&quot;:897}"/>
</p:tagLst>
</file>

<file path=ppt/tags/tag66.xml><?xml version="1.0" encoding="utf-8"?>
<p:tagLst xmlns:p="http://schemas.openxmlformats.org/presentationml/2006/main">
  <p:tag name="KSO_WM_DIAGRAM_VIRTUALLY_FRAME" val="{&quot;height&quot;:152,&quot;left&quot;:31.5,&quot;top&quot;:264,&quot;width&quot;:897}"/>
</p:tagLst>
</file>

<file path=ppt/tags/tag67.xml><?xml version="1.0" encoding="utf-8"?>
<p:tagLst xmlns:p="http://schemas.openxmlformats.org/presentationml/2006/main">
  <p:tag name="KSO_WM_DIAGRAM_VIRTUALLY_FRAME" val="{&quot;height&quot;:152,&quot;left&quot;:31.5,&quot;top&quot;:264,&quot;width&quot;:897}"/>
</p:tagLst>
</file>

<file path=ppt/tags/tag68.xml><?xml version="1.0" encoding="utf-8"?>
<p:tagLst xmlns:p="http://schemas.openxmlformats.org/presentationml/2006/main">
  <p:tag name="KSO_WM_DIAGRAM_VIRTUALLY_FRAME" val="{&quot;height&quot;:152,&quot;left&quot;:31.5,&quot;top&quot;:264,&quot;width&quot;:897}"/>
</p:tagLst>
</file>

<file path=ppt/tags/tag69.xml><?xml version="1.0" encoding="utf-8"?>
<p:tagLst xmlns:p="http://schemas.openxmlformats.org/presentationml/2006/main">
  <p:tag name="KSO_WM_DIAGRAM_VIRTUALLY_FRAME" val="{&quot;height&quot;:152,&quot;left&quot;:31.5,&quot;top&quot;:264,&quot;width&quot;:897}"/>
</p:tagLst>
</file>

<file path=ppt/tags/tag70.xml><?xml version="1.0" encoding="utf-8"?>
<p:tagLst xmlns:p="http://schemas.openxmlformats.org/presentationml/2006/main">
  <p:tag name="KSO_WM_DIAGRAM_VIRTUALLY_FRAME" val="{&quot;height&quot;:152,&quot;left&quot;:31.5,&quot;top&quot;:264,&quot;width&quot;:897}"/>
</p:tagLst>
</file>

<file path=ppt/tags/tag71.xml><?xml version="1.0" encoding="utf-8"?>
<p:tagLst xmlns:p="http://schemas.openxmlformats.org/presentationml/2006/main">
  <p:tag name="KSO_WM_DIAGRAM_VIRTUALLY_FRAME" val="{&quot;height&quot;:152,&quot;left&quot;:31.5,&quot;top&quot;:264,&quot;width&quot;:897}"/>
</p:tagLst>
</file>

<file path=ppt/tags/tag72.xml><?xml version="1.0" encoding="utf-8"?>
<p:tagLst xmlns:p="http://schemas.openxmlformats.org/presentationml/2006/main">
  <p:tag name="KSO_WM_DIAGRAM_VIRTUALLY_FRAME" val="{&quot;height&quot;:152,&quot;left&quot;:31.5,&quot;top&quot;:264,&quot;width&quot;:897}"/>
</p:tagLst>
</file>

<file path=ppt/tags/tag73.xml><?xml version="1.0" encoding="utf-8"?>
<p:tagLst xmlns:p="http://schemas.openxmlformats.org/presentationml/2006/main">
  <p:tag name="KSO_WM_DIAGRAM_VIRTUALLY_FRAME" val="{&quot;height&quot;:152,&quot;left&quot;:31.5,&quot;top&quot;:264,&quot;width&quot;:897}"/>
</p:tagLst>
</file>

<file path=ppt/tags/tag74.xml><?xml version="1.0" encoding="utf-8"?>
<p:tagLst xmlns:p="http://schemas.openxmlformats.org/presentationml/2006/main">
  <p:tag name="KSO_WM_DIAGRAM_VIRTUALLY_FRAME" val="{&quot;height&quot;:152,&quot;left&quot;:31.5,&quot;top&quot;:264,&quot;width&quot;:897}"/>
</p:tagLst>
</file>

<file path=ppt/tags/tag75.xml><?xml version="1.0" encoding="utf-8"?>
<p:tagLst xmlns:p="http://schemas.openxmlformats.org/presentationml/2006/main">
  <p:tag name="KSO_WM_DIAGRAM_VIRTUALLY_FRAME" val="{&quot;height&quot;:152,&quot;left&quot;:31.5,&quot;top&quot;:264,&quot;width&quot;:897}"/>
</p:tagLst>
</file>

<file path=ppt/theme/theme1.xml><?xml version="1.0" encoding="utf-8"?>
<a:theme xmlns:a="http://schemas.openxmlformats.org/drawingml/2006/main" name="Custom Theme">
  <a:themeElements>
    <a:clrScheme name="Custom">
      <a:dk1>
        <a:srgbClr val="000000"/>
      </a:dk1>
      <a:lt1>
        <a:srgbClr val="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Theme">
  <a:themeElements>
    <a:clrScheme name="Custom">
      <a:dk1>
        <a:srgbClr val="000000"/>
      </a:dk1>
      <a:lt1>
        <a:srgbClr val="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Custom">
      <a:dk1>
        <a:srgbClr val="000000"/>
      </a:dk1>
      <a:lt1>
        <a:srgbClr val="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16218</Words>
  <Application>WPS 演示</Application>
  <PresentationFormat>On-screen Show (16:9)</PresentationFormat>
  <Paragraphs>393</Paragraphs>
  <Slides>32</Slides>
  <Notes>25</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32</vt:i4>
      </vt:variant>
    </vt:vector>
  </HeadingPairs>
  <TitlesOfParts>
    <vt:vector size="47" baseType="lpstr">
      <vt:lpstr>Arial</vt:lpstr>
      <vt:lpstr>宋体</vt:lpstr>
      <vt:lpstr>Wingdings</vt:lpstr>
      <vt:lpstr>MiSans</vt:lpstr>
      <vt:lpstr>MiSans Semibold</vt:lpstr>
      <vt:lpstr>MiSans</vt:lpstr>
      <vt:lpstr>MiSans</vt:lpstr>
      <vt:lpstr>微软雅黑</vt:lpstr>
      <vt:lpstr>Noto Sans SC</vt:lpstr>
      <vt:lpstr>Noto Sans SC</vt:lpstr>
      <vt:lpstr>Calibri</vt:lpstr>
      <vt:lpstr>Arial Unicode MS</vt:lpstr>
      <vt:lpstr>等线</vt:lpstr>
      <vt:lpstr>Custom Theme</vt:lpstr>
      <vt:lpstr>1_Custom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ADHD+感统失调融合教育突围</dc:title>
  <dc:creator>Kimi</dc:creator>
  <dc:subject>ADHD+感统失调融合教育突围</dc:subject>
  <cp:lastModifiedBy>汤姆</cp:lastModifiedBy>
  <cp:revision>32</cp:revision>
  <dcterms:created xsi:type="dcterms:W3CDTF">2025-11-29T08:38:00Z</dcterms:created>
  <dcterms:modified xsi:type="dcterms:W3CDTF">2025-11-29T14:20:12Z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{"Label":"ADHD+感统失调融合教育突围","ContentProducer":"001191110108MACG2KBH8F10000","ProduceID":"d4laoobfosllp9er6e7g","ReservedCode1":"","ContentPropagator":"001191110108MACG2KBH8F20000","PropagateID":"d4laoobfosllp9er6e7g","ReservedCode2":""}</vt:lpwstr>
  </property>
  <property fmtid="{D5CDD505-2E9C-101B-9397-08002B2CF9AE}" pid="3" name="ICV">
    <vt:lpwstr>08275CD8B50B4EEFB5C33FD83C797BD5_12</vt:lpwstr>
  </property>
  <property fmtid="{D5CDD505-2E9C-101B-9397-08002B2CF9AE}" pid="4" name="KSOProductBuildVer">
    <vt:lpwstr>2052-12.1.0.23542</vt:lpwstr>
  </property>
</Properties>
</file>